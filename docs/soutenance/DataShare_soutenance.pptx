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Lisa. Je suis Ethan Legros, référent technique senior sur DataShare. Je vous présente le prototype livré pour la démo investisseurs : contexte, choix techniques, architecture, démonstration, documentation, pilotage de l'IA. 15 minutes, puis vos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DataShare cible des freelances et petites entreprises. Besoin : envoyer un fichier par un lien temporaire, sans compte côté destinataire. Commande : MVP en 4 semaines pour des investisseurs, maquettes Figma à respecter. Mon rôle : architecture, développement, qualité, supervision d'un copilote 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MVP couvre six user stories ; j'ai aussi livré les quatre fonctionnalités avancées : upload anonyme, tags, mot de passe, expiration. Dix sur dix. La US08 tags a été développée avec le copilote IA sous supervision — j'y reviens en fin de présentation.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Dans la liste imposée j'ai retenu ASP.NET Core 9, Vue 3 avec TypeScript, PostgreSQL 16, le stockage local et Docker Compose. ASP.NET pour Identity et EF Core : je ne réécris ni le hachage ni les requêtes SQL. Vue 3 pour le typage et la légèreté. PostgreSQL pour le relationnel et le text[] des tags. Stockage local abstrait par une interface : S3 possible plus tard. Docker pour une démo fiable.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conteneurs : nginx sert la SPA et proxifie /api vers l'API en même origine ; l'API ASP.NET Core est stateless avec JWT ; PostgreSQL ne stocke que les métadonnées, les fichiers sont sur disque sous un nom GUID. Le pipeline : métriques, routage, CORS, authentification, autorisation, contrôleurs. Les migrations s'appliquent au démarrage.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entités. AppUser est l'utilisateur Identity : je ne réécris pas le hachage. FileItem porte les métadonnées : nom d'origine, nom stocké en GUID, taille, type, token de partage unique, expiration, mot de passe haché optionnel, tags en text[]. OwnerId nullable pour l'upload anonyme. Le fichier lui-même est sur disque, pas en 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Dix endpoints. Deux publics pour l'auth, quatre privés sous JWT pour mes fichiers, trois publics pour l'upload anonyme et les liens de partage, plus la santé. Le contrat est écrit en OpenAPI 3 dans le repo, validé, et Swagger l'expose en développement. Point important : un fichier d'un autre utilisateur répond 404, pas 403, pour ne pas révéler son existence.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Authentification JWT et PBKDF2 via Identity, clé de signature contrôlée au démarrage. Isolation : l'identité vient du token et chaque requête filtre sur le propriétaire ; un fichier d'un autre utilisateur donne 404. Liens : token aléatoire distinct de l'id, mot de passe haché. Fichiers renommés en GUID, exécutables refusés, 1 Go, purge. Validation double, EF Core paramétré, CORS restreint. Pas de secret dans Git. Ce qui n'est pas là est assumé : HTTPS sur le proxy, rate limiting, en roadmap.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bascule sur l'application. Compte, connexion, upload avec expiration + mot de passe + tags, Mon espace avec filtre, puis le destinataire en fenêtre privée. Ensuite les erreurs : mauvais mot de passe, .exe refusé, lien inconnu. Suppression : le lien meurt. Enfin les logs structurés dans docker compose logs. Quatre minutes, chrono.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 tests backend, 83 % de couverture du code métier hors migrations — le seuil demandé était 70. Trois niveaux : unitaires sur la purge, intégration HTTP sur tous les endpoints avec une base en mémoire et un faux stockage, end-to-end Cypress sur la vraie stack. Le plan de tests liste chaque US avec ses critères d'acceptation.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k6 : 20 utilisateurs pendant 30 secondes, P95 à 125 ms, zéro erreur. Front : 57 Ko de JS gzip, Lighthouse 96 en performance ; l'accessibilité est à 76 à cause des contrastes de la charte, remonté à l'UX. Et l'observabilité : chaque requête produit une ligne JSON avec durée et volume, plus les événements métier — exploitable par grep ou un collecteur.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README permet de lancer la stack en une commande. La documentation technique PDF reprend architecture, choix, modèle, API, sécurité, qualité, installation et IA. Le contrat OpenAPI est validé. Les quatre fichiers de suivi qualité sont à jour, et MAINTENANCE.md décrit comment mettre à jour, avec quelle fréquence et quels risques — avec un cas réel de vulnérabilité traité.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J'ai confié la US08 à l'IA avec un prompt borné : front uniquement, pas de lib, style existant, règles de normalisation. Elle a livré en un quart d'heure. En relecture j'ai trouvé des manques : aucun message d'erreur, validation incomplète — corrigés dans un commit séparé, tracé dans Git. Bilan : l'IA accélère, mais elle ne propose ni tests ni UX d'erreur. La supervision est indispensable.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Quatre ou cinq difficultés concrètes : l'upload anonyme qui a demandé de rendre le propriétaire optionnel ; une CVE et des avis npm traités avec analyse du risque ; une mise à jour d'axios cassant le type-check, détectée par le build ; l'isolation entre utilisateurs qu'il a fallu rendre testable ; et l'accessibilité liée à la charte, remontée à l'UX.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Bilan : dix user stories, une application conteneurisée, testée, sécurisée et documentée, avec un cas réel de vulnérabilité traité. Prochaines itérations : HTTPS et rate limiting, S3, accessibilité avec l'UX, antivirus, collecte des logs. Merci, je suis prêt pour vos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slideLayout" Target="../slideLayouts/slideLayout1.xml"/><Relationship Id="rId1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84048"/>
            <a:ext cx="3657600" cy="457200"/>
          </a:xfrm>
          <a:prstGeom prst="rect">
            <a:avLst/>
          </a:prstGeom>
          <a:noFill/>
          <a:ln/>
        </p:spPr>
        <p:txBody>
          <a:bodyPr wrap="square" lIns="0" tIns="0" rIns="0" bIns="0" rtlCol="0" anchor="ctr"/>
          <a:lstStyle/>
          <a:p>
            <a:pPr indent="0" marL="0">
              <a:buNone/>
            </a:pPr>
            <a:r>
              <a:rPr lang="en-US" sz="2200" b="1" dirty="0">
                <a:solidFill>
                  <a:srgbClr val="2C2C2C"/>
                </a:solidFill>
                <a:latin typeface="Calibri" pitchFamily="34" charset="0"/>
                <a:ea typeface="Calibri" pitchFamily="34" charset="-122"/>
                <a:cs typeface="Calibri" pitchFamily="34" charset="-120"/>
              </a:rPr>
              <a:t>DataShare</a:t>
            </a:r>
            <a:endParaRPr lang="en-US" sz="2200" dirty="0"/>
          </a:p>
        </p:txBody>
      </p:sp>
      <p:sp>
        <p:nvSpPr>
          <p:cNvPr id="3" name="Shape 1"/>
          <p:cNvSpPr/>
          <p:nvPr/>
        </p:nvSpPr>
        <p:spPr>
          <a:xfrm>
            <a:off x="1463040" y="1234440"/>
            <a:ext cx="6217920" cy="2697480"/>
          </a:xfrm>
          <a:prstGeom prst="roundRect">
            <a:avLst>
              <a:gd name="adj" fmla="val 5424"/>
            </a:avLst>
          </a:prstGeom>
          <a:solidFill>
            <a:srgbClr val="FFFFFF"/>
          </a:solidFill>
          <a:ln w="12700">
            <a:solidFill>
              <a:srgbClr val="FFFFFF"/>
            </a:solidFill>
            <a:prstDash val="solid"/>
          </a:ln>
          <a:effectLst>
            <a:outerShdw sx="100000" sy="100000" kx="0" ky="0" algn="bl" rotWithShape="0" blurRad="76200" dist="25400" dir="5400000">
              <a:srgbClr val="000000">
                <a:alpha val="18000"/>
              </a:srgbClr>
            </a:outerShdw>
          </a:effectLst>
        </p:spPr>
      </p:sp>
      <p:sp>
        <p:nvSpPr>
          <p:cNvPr id="4" name="Text 2"/>
          <p:cNvSpPr txBox="1"/>
          <p:nvPr/>
        </p:nvSpPr>
        <p:spPr>
          <a:xfrm>
            <a:off x="1737360" y="1463040"/>
            <a:ext cx="5669280" cy="685800"/>
          </a:xfrm>
          <a:prstGeom prst="rect">
            <a:avLst/>
          </a:prstGeom>
          <a:noFill/>
          <a:ln/>
        </p:spPr>
        <p:txBody>
          <a:bodyPr wrap="square" lIns="0" tIns="0" rIns="0" bIns="0" rtlCol="0" anchor="ctr"/>
          <a:lstStyle/>
          <a:p>
            <a:pPr algn="ctr" indent="0" marL="0">
              <a:buNone/>
            </a:pPr>
            <a:r>
              <a:rPr lang="en-US" sz="3200" b="1" dirty="0">
                <a:solidFill>
                  <a:srgbClr val="2C2C2C"/>
                </a:solidFill>
                <a:latin typeface="Calibri" pitchFamily="34" charset="0"/>
                <a:ea typeface="Calibri" pitchFamily="34" charset="-122"/>
                <a:cs typeface="Calibri" pitchFamily="34" charset="-120"/>
              </a:rPr>
              <a:t>Plateforme de transfert sécurisé de fichiers</a:t>
            </a:r>
            <a:endParaRPr lang="en-US" sz="3200" dirty="0"/>
          </a:p>
        </p:txBody>
      </p:sp>
      <p:sp>
        <p:nvSpPr>
          <p:cNvPr id="5" name="Text 3"/>
          <p:cNvSpPr txBox="1"/>
          <p:nvPr/>
        </p:nvSpPr>
        <p:spPr>
          <a:xfrm>
            <a:off x="1737360" y="2212848"/>
            <a:ext cx="5669280" cy="365760"/>
          </a:xfrm>
          <a:prstGeom prst="rect">
            <a:avLst/>
          </a:prstGeom>
          <a:noFill/>
          <a:ln/>
        </p:spPr>
        <p:txBody>
          <a:bodyPr wrap="square" lIns="0" tIns="0" rIns="0" bIns="0" rtlCol="0" anchor="ctr"/>
          <a:lstStyle/>
          <a:p>
            <a:pPr algn="ctr" indent="0" marL="0">
              <a:buNone/>
            </a:pPr>
            <a:r>
              <a:rPr lang="en-US" sz="1400" dirty="0">
                <a:solidFill>
                  <a:srgbClr val="6B6B6B"/>
                </a:solidFill>
                <a:latin typeface="Calibri" pitchFamily="34" charset="0"/>
                <a:ea typeface="Calibri" pitchFamily="34" charset="-122"/>
                <a:cs typeface="Calibri" pitchFamily="34" charset="-120"/>
              </a:rPr>
              <a:t>Prototype MVP · authentification, téléversement, liens de partage temporaires</a:t>
            </a:r>
            <a:endParaRPr lang="en-US" sz="1400" dirty="0"/>
          </a:p>
        </p:txBody>
      </p:sp>
      <p:sp>
        <p:nvSpPr>
          <p:cNvPr id="6" name="Shape 4"/>
          <p:cNvSpPr/>
          <p:nvPr/>
        </p:nvSpPr>
        <p:spPr>
          <a:xfrm>
            <a:off x="2651760" y="2788920"/>
            <a:ext cx="3840480" cy="457200"/>
          </a:xfrm>
          <a:prstGeom prst="roundRect">
            <a:avLst>
              <a:gd name="adj" fmla="val 16000"/>
            </a:avLst>
          </a:prstGeom>
          <a:solidFill>
            <a:srgbClr val="FFEEE0"/>
          </a:solidFill>
          <a:ln w="9525">
            <a:solidFill>
              <a:srgbClr val="E8B48F"/>
            </a:solidFill>
            <a:prstDash val="solid"/>
          </a:ln>
        </p:spPr>
      </p:sp>
      <p:sp>
        <p:nvSpPr>
          <p:cNvPr id="7" name="Text 5"/>
          <p:cNvSpPr txBox="1"/>
          <p:nvPr/>
        </p:nvSpPr>
        <p:spPr>
          <a:xfrm>
            <a:off x="2651760" y="2788920"/>
            <a:ext cx="3840480" cy="457200"/>
          </a:xfrm>
          <a:prstGeom prst="rect">
            <a:avLst/>
          </a:prstGeom>
          <a:noFill/>
          <a:ln/>
        </p:spPr>
        <p:txBody>
          <a:bodyPr wrap="square" lIns="0" tIns="0" rIns="0" bIns="0" rtlCol="0" anchor="ctr"/>
          <a:lstStyle/>
          <a:p>
            <a:pPr algn="ctr" indent="0" marL="0">
              <a:buNone/>
            </a:pPr>
            <a:r>
              <a:rPr lang="en-US" sz="1300" b="1" dirty="0">
                <a:solidFill>
                  <a:srgbClr val="BA681F"/>
                </a:solidFill>
                <a:latin typeface="Calibri" pitchFamily="34" charset="0"/>
                <a:ea typeface="Calibri" pitchFamily="34" charset="-122"/>
                <a:cs typeface="Calibri" pitchFamily="34" charset="-120"/>
              </a:rPr>
              <a:t>Soutenance Projet 4 — Parcours Architecte logiciel</a:t>
            </a:r>
            <a:endParaRPr lang="en-US" sz="1300" dirty="0"/>
          </a:p>
        </p:txBody>
      </p:sp>
      <p:sp>
        <p:nvSpPr>
          <p:cNvPr id="8" name="Text 6"/>
          <p:cNvSpPr txBox="1"/>
          <p:nvPr/>
        </p:nvSpPr>
        <p:spPr>
          <a:xfrm>
            <a:off x="1737360" y="3383280"/>
            <a:ext cx="5669280" cy="274320"/>
          </a:xfrm>
          <a:prstGeom prst="rect">
            <a:avLst/>
          </a:prstGeom>
          <a:noFill/>
          <a:ln/>
        </p:spPr>
        <p:txBody>
          <a:bodyPr wrap="square" lIns="0" tIns="0" rIns="0" bIns="0" rtlCol="0" anchor="ctr"/>
          <a:lstStyle/>
          <a:p>
            <a:pPr algn="ctr" indent="0" marL="0">
              <a:buNone/>
            </a:pPr>
            <a:r>
              <a:rPr lang="en-US" sz="1300" dirty="0">
                <a:solidFill>
                  <a:srgbClr val="1E1E1E"/>
                </a:solidFill>
                <a:latin typeface="Calibri" pitchFamily="34" charset="0"/>
                <a:ea typeface="Calibri" pitchFamily="34" charset="-122"/>
                <a:cs typeface="Calibri" pitchFamily="34" charset="-120"/>
              </a:rPr>
              <a:t>Ethan Legros — Référent technique senior, DataShare</a:t>
            </a:r>
            <a:endParaRPr lang="en-US" sz="1300" dirty="0"/>
          </a:p>
        </p:txBody>
      </p:sp>
      <p:sp>
        <p:nvSpPr>
          <p:cNvPr id="9" name="Text 7"/>
          <p:cNvSpPr txBox="1"/>
          <p:nvPr/>
        </p:nvSpPr>
        <p:spPr>
          <a:xfrm>
            <a:off x="1737360" y="3639312"/>
            <a:ext cx="5669280" cy="256032"/>
          </a:xfrm>
          <a:prstGeom prst="rect">
            <a:avLst/>
          </a:prstGeom>
          <a:noFill/>
          <a:ln/>
        </p:spPr>
        <p:txBody>
          <a:bodyPr wrap="square" lIns="0" tIns="0" rIns="0" bIns="0" rtlCol="0" anchor="ctr"/>
          <a:lstStyle/>
          <a:p>
            <a:pPr algn="ctr" indent="0" marL="0">
              <a:buNone/>
            </a:pPr>
            <a:r>
              <a:rPr lang="en-US" sz="1100" dirty="0">
                <a:solidFill>
                  <a:srgbClr val="6B6B6B"/>
                </a:solidFill>
                <a:latin typeface="Calibri" pitchFamily="34" charset="0"/>
                <a:ea typeface="Calibri" pitchFamily="34" charset="-122"/>
                <a:cs typeface="Calibri" pitchFamily="34" charset="-120"/>
              </a:rPr>
              <a:t>Septembre 2026</a:t>
            </a:r>
            <a:endParaRPr lang="en-US" sz="1100" dirty="0"/>
          </a:p>
        </p:txBody>
      </p:sp>
      <p:sp>
        <p:nvSpPr>
          <p:cNvPr id="10" name="Text 8"/>
          <p:cNvSpPr txBox="1"/>
          <p:nvPr/>
        </p:nvSpPr>
        <p:spPr>
          <a:xfrm>
            <a:off x="548640" y="4663440"/>
            <a:ext cx="3657600" cy="274320"/>
          </a:xfrm>
          <a:prstGeom prst="rect">
            <a:avLst/>
          </a:prstGeom>
          <a:noFill/>
          <a:ln/>
        </p:spPr>
        <p:txBody>
          <a:bodyPr wrap="square" lIns="0" tIns="0" rIns="0" bIns="0" rtlCol="0" anchor="ctr"/>
          <a:lstStyle/>
          <a:p>
            <a:pPr indent="0" marL="0">
              <a:buNone/>
            </a:pPr>
            <a:r>
              <a:rPr lang="en-US" sz="900" dirty="0">
                <a:solidFill>
                  <a:srgbClr val="2C2C2C"/>
                </a:solidFill>
                <a:latin typeface="Calibri" pitchFamily="34" charset="0"/>
                <a:ea typeface="Calibri" pitchFamily="34" charset="-122"/>
                <a:cs typeface="Calibri" pitchFamily="34" charset="-120"/>
              </a:rPr>
              <a:t>Copyright DataShare© 2025</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3000" b="1" dirty="0">
                <a:solidFill>
                  <a:srgbClr val="2C2C2C"/>
                </a:solidFill>
                <a:latin typeface="Calibri" pitchFamily="34" charset="0"/>
                <a:ea typeface="Calibri" pitchFamily="34" charset="-122"/>
                <a:cs typeface="Calibri" pitchFamily="34" charset="-120"/>
              </a:rPr>
              <a:t>Contexte et mission</a:t>
            </a:r>
            <a:endParaRPr lang="en-US" sz="3000" dirty="0"/>
          </a:p>
        </p:txBody>
      </p:sp>
      <p:sp>
        <p:nvSpPr>
          <p:cNvPr id="3" name="Text 1"/>
          <p:cNvSpPr txBox="1"/>
          <p:nvPr/>
        </p:nvSpPr>
        <p:spPr>
          <a:xfrm>
            <a:off x="457200" y="804672"/>
            <a:ext cx="8229600" cy="292608"/>
          </a:xfrm>
          <a:prstGeom prst="rect">
            <a:avLst/>
          </a:prstGeom>
          <a:noFill/>
          <a:ln/>
        </p:spPr>
        <p:txBody>
          <a:bodyPr wrap="square" lIns="0" tIns="0" rIns="0" bIns="0" rtlCol="0" anchor="ctr"/>
          <a:lstStyle/>
          <a:p>
            <a:pPr indent="0" marL="0">
              <a:buNone/>
            </a:pPr>
            <a:r>
              <a:rPr lang="en-US" sz="1300" dirty="0">
                <a:solidFill>
                  <a:srgbClr val="6B6B6B"/>
                </a:solidFill>
                <a:latin typeface="Calibri" pitchFamily="34" charset="0"/>
                <a:ea typeface="Calibri" pitchFamily="34" charset="-122"/>
                <a:cs typeface="Calibri" pitchFamily="34" charset="-120"/>
              </a:rPr>
              <a:t>Ce que DataShare attendait du prototype</a:t>
            </a:r>
            <a:endParaRPr lang="en-US" sz="1300" dirty="0"/>
          </a:p>
        </p:txBody>
      </p:sp>
      <p:sp>
        <p:nvSpPr>
          <p:cNvPr id="4" name="Shape 2"/>
          <p:cNvSpPr/>
          <p:nvPr/>
        </p:nvSpPr>
        <p:spPr>
          <a:xfrm>
            <a:off x="457200" y="1252728"/>
            <a:ext cx="384048" cy="384048"/>
          </a:xfrm>
          <a:prstGeom prst="ellipse">
            <a:avLst/>
          </a:prstGeom>
          <a:solidFill>
            <a:srgbClr val="DE6262"/>
          </a:solidFill>
          <a:ln w="12700">
            <a:solidFill>
              <a:srgbClr val="DE6262"/>
            </a:solidFill>
            <a:prstDash val="solid"/>
          </a:ln>
        </p:spPr>
      </p:sp>
      <p:pic>
        <p:nvPicPr>
          <p:cNvPr id="5" name="Image 0" descr="preencoded.png">    </p:cNvPr>
          <p:cNvPicPr>
            <a:picLocks noChangeAspect="1"/>
          </p:cNvPicPr>
          <p:nvPr/>
        </p:nvPicPr>
        <p:blipFill>
          <a:blip r:embed="rId1"/>
          <a:stretch>
            <a:fillRect/>
          </a:stretch>
        </p:blipFill>
        <p:spPr>
          <a:xfrm>
            <a:off x="549372" y="1344900"/>
            <a:ext cx="199705" cy="199705"/>
          </a:xfrm>
          <a:prstGeom prst="rect">
            <a:avLst/>
          </a:prstGeom>
        </p:spPr>
      </p:pic>
      <p:sp>
        <p:nvSpPr>
          <p:cNvPr id="6" name="Text 3"/>
          <p:cNvSpPr txBox="1"/>
          <p:nvPr/>
        </p:nvSpPr>
        <p:spPr>
          <a:xfrm>
            <a:off x="987552" y="1207008"/>
            <a:ext cx="3840480" cy="256032"/>
          </a:xfrm>
          <a:prstGeom prst="rect">
            <a:avLst/>
          </a:prstGeom>
          <a:noFill/>
          <a:ln/>
        </p:spPr>
        <p:txBody>
          <a:bodyPr wrap="square" lIns="0" tIns="0" rIns="0" bIns="0" rtlCol="0" anchor="ctr"/>
          <a:lstStyle/>
          <a:p>
            <a:pPr indent="0" marL="0">
              <a:buNone/>
            </a:pPr>
            <a:r>
              <a:rPr lang="en-US" sz="1400" b="1" dirty="0">
                <a:solidFill>
                  <a:srgbClr val="2C2C2C"/>
                </a:solidFill>
                <a:latin typeface="Calibri" pitchFamily="34" charset="0"/>
                <a:ea typeface="Calibri" pitchFamily="34" charset="-122"/>
                <a:cs typeface="Calibri" pitchFamily="34" charset="-120"/>
              </a:rPr>
              <a:t>Le produit</a:t>
            </a:r>
            <a:endParaRPr lang="en-US" sz="1400" dirty="0"/>
          </a:p>
        </p:txBody>
      </p:sp>
      <p:sp>
        <p:nvSpPr>
          <p:cNvPr id="7" name="Text 4"/>
          <p:cNvSpPr txBox="1"/>
          <p:nvPr/>
        </p:nvSpPr>
        <p:spPr>
          <a:xfrm>
            <a:off x="987552" y="1463040"/>
            <a:ext cx="4023360" cy="457200"/>
          </a:xfrm>
          <a:prstGeom prst="rect">
            <a:avLst/>
          </a:prstGeom>
          <a:noFill/>
          <a:ln/>
        </p:spPr>
        <p:txBody>
          <a:bodyPr wrap="square" lIns="0" tIns="0" rIns="0" bIns="0" rtlCol="0" anchor="t"/>
          <a:lstStyle/>
          <a:p>
            <a:pPr indent="0" marL="0">
              <a:buNone/>
            </a:pPr>
            <a:r>
              <a:rPr lang="en-US" sz="1100" dirty="0">
                <a:solidFill>
                  <a:srgbClr val="1E1E1E"/>
                </a:solidFill>
                <a:latin typeface="Calibri" pitchFamily="34" charset="0"/>
                <a:ea typeface="Calibri" pitchFamily="34" charset="-122"/>
                <a:cs typeface="Calibri" pitchFamily="34" charset="-120"/>
              </a:rPr>
              <a:t>DataShare, jeune entreprise numérique. Cible : freelances et petites entreprises qui envoient des fichiers à des clients.</a:t>
            </a:r>
            <a:endParaRPr lang="en-US" sz="1100" dirty="0"/>
          </a:p>
        </p:txBody>
      </p:sp>
      <p:sp>
        <p:nvSpPr>
          <p:cNvPr id="8" name="Shape 5"/>
          <p:cNvSpPr/>
          <p:nvPr/>
        </p:nvSpPr>
        <p:spPr>
          <a:xfrm>
            <a:off x="457200" y="2011680"/>
            <a:ext cx="384048" cy="384048"/>
          </a:xfrm>
          <a:prstGeom prst="ellipse">
            <a:avLst/>
          </a:prstGeom>
          <a:solidFill>
            <a:srgbClr val="DE6262"/>
          </a:solidFill>
          <a:ln w="12700">
            <a:solidFill>
              <a:srgbClr val="DE6262"/>
            </a:solidFill>
            <a:prstDash val="solid"/>
          </a:ln>
        </p:spPr>
      </p:sp>
      <p:pic>
        <p:nvPicPr>
          <p:cNvPr id="9" name="Image 1" descr="preencoded.png">    </p:cNvPr>
          <p:cNvPicPr>
            <a:picLocks noChangeAspect="1"/>
          </p:cNvPicPr>
          <p:nvPr/>
        </p:nvPicPr>
        <p:blipFill>
          <a:blip r:embed="rId2"/>
          <a:stretch>
            <a:fillRect/>
          </a:stretch>
        </p:blipFill>
        <p:spPr>
          <a:xfrm>
            <a:off x="549372" y="2103852"/>
            <a:ext cx="199705" cy="199705"/>
          </a:xfrm>
          <a:prstGeom prst="rect">
            <a:avLst/>
          </a:prstGeom>
        </p:spPr>
      </p:pic>
      <p:sp>
        <p:nvSpPr>
          <p:cNvPr id="10" name="Text 6"/>
          <p:cNvSpPr txBox="1"/>
          <p:nvPr/>
        </p:nvSpPr>
        <p:spPr>
          <a:xfrm>
            <a:off x="987552" y="1965960"/>
            <a:ext cx="3840480" cy="256032"/>
          </a:xfrm>
          <a:prstGeom prst="rect">
            <a:avLst/>
          </a:prstGeom>
          <a:noFill/>
          <a:ln/>
        </p:spPr>
        <p:txBody>
          <a:bodyPr wrap="square" lIns="0" tIns="0" rIns="0" bIns="0" rtlCol="0" anchor="ctr"/>
          <a:lstStyle/>
          <a:p>
            <a:pPr indent="0" marL="0">
              <a:buNone/>
            </a:pPr>
            <a:r>
              <a:rPr lang="en-US" sz="1400" b="1" dirty="0">
                <a:solidFill>
                  <a:srgbClr val="2C2C2C"/>
                </a:solidFill>
                <a:latin typeface="Calibri" pitchFamily="34" charset="0"/>
                <a:ea typeface="Calibri" pitchFamily="34" charset="-122"/>
                <a:cs typeface="Calibri" pitchFamily="34" charset="-120"/>
              </a:rPr>
              <a:t>Le besoin</a:t>
            </a:r>
            <a:endParaRPr lang="en-US" sz="1400" dirty="0"/>
          </a:p>
        </p:txBody>
      </p:sp>
      <p:sp>
        <p:nvSpPr>
          <p:cNvPr id="11" name="Text 7"/>
          <p:cNvSpPr txBox="1"/>
          <p:nvPr/>
        </p:nvSpPr>
        <p:spPr>
          <a:xfrm>
            <a:off x="987552" y="2221992"/>
            <a:ext cx="4023360" cy="457200"/>
          </a:xfrm>
          <a:prstGeom prst="rect">
            <a:avLst/>
          </a:prstGeom>
          <a:noFill/>
          <a:ln/>
        </p:spPr>
        <p:txBody>
          <a:bodyPr wrap="square" lIns="0" tIns="0" rIns="0" bIns="0" rtlCol="0" anchor="t"/>
          <a:lstStyle/>
          <a:p>
            <a:pPr indent="0" marL="0">
              <a:buNone/>
            </a:pPr>
            <a:r>
              <a:rPr lang="en-US" sz="1100" dirty="0">
                <a:solidFill>
                  <a:srgbClr val="1E1E1E"/>
                </a:solidFill>
                <a:latin typeface="Calibri" pitchFamily="34" charset="0"/>
                <a:ea typeface="Calibri" pitchFamily="34" charset="-122"/>
                <a:cs typeface="Calibri" pitchFamily="34" charset="-120"/>
              </a:rPr>
              <a:t>Transférer un fichier via un lien de téléchargement temporaire — sans imposer de compte au destinataire.</a:t>
            </a:r>
            <a:endParaRPr lang="en-US" sz="1100" dirty="0"/>
          </a:p>
        </p:txBody>
      </p:sp>
      <p:sp>
        <p:nvSpPr>
          <p:cNvPr id="12" name="Shape 8"/>
          <p:cNvSpPr/>
          <p:nvPr/>
        </p:nvSpPr>
        <p:spPr>
          <a:xfrm>
            <a:off x="457200" y="2770632"/>
            <a:ext cx="384048" cy="384048"/>
          </a:xfrm>
          <a:prstGeom prst="ellipse">
            <a:avLst/>
          </a:prstGeom>
          <a:solidFill>
            <a:srgbClr val="DE6262"/>
          </a:solidFill>
          <a:ln w="12700">
            <a:solidFill>
              <a:srgbClr val="DE6262"/>
            </a:solidFill>
            <a:prstDash val="solid"/>
          </a:ln>
        </p:spPr>
      </p:sp>
      <p:pic>
        <p:nvPicPr>
          <p:cNvPr id="13" name="Image 2" descr="preencoded.png">    </p:cNvPr>
          <p:cNvPicPr>
            <a:picLocks noChangeAspect="1"/>
          </p:cNvPicPr>
          <p:nvPr/>
        </p:nvPicPr>
        <p:blipFill>
          <a:blip r:embed="rId3"/>
          <a:stretch>
            <a:fillRect/>
          </a:stretch>
        </p:blipFill>
        <p:spPr>
          <a:xfrm>
            <a:off x="549372" y="2862804"/>
            <a:ext cx="199705" cy="199705"/>
          </a:xfrm>
          <a:prstGeom prst="rect">
            <a:avLst/>
          </a:prstGeom>
        </p:spPr>
      </p:pic>
      <p:sp>
        <p:nvSpPr>
          <p:cNvPr id="14" name="Text 9"/>
          <p:cNvSpPr txBox="1"/>
          <p:nvPr/>
        </p:nvSpPr>
        <p:spPr>
          <a:xfrm>
            <a:off x="987552" y="2724912"/>
            <a:ext cx="3840480" cy="256032"/>
          </a:xfrm>
          <a:prstGeom prst="rect">
            <a:avLst/>
          </a:prstGeom>
          <a:noFill/>
          <a:ln/>
        </p:spPr>
        <p:txBody>
          <a:bodyPr wrap="square" lIns="0" tIns="0" rIns="0" bIns="0" rtlCol="0" anchor="ctr"/>
          <a:lstStyle/>
          <a:p>
            <a:pPr indent="0" marL="0">
              <a:buNone/>
            </a:pPr>
            <a:r>
              <a:rPr lang="en-US" sz="1400" b="1" dirty="0">
                <a:solidFill>
                  <a:srgbClr val="2C2C2C"/>
                </a:solidFill>
                <a:latin typeface="Calibri" pitchFamily="34" charset="0"/>
                <a:ea typeface="Calibri" pitchFamily="34" charset="-122"/>
                <a:cs typeface="Calibri" pitchFamily="34" charset="-120"/>
              </a:rPr>
              <a:t>La commande</a:t>
            </a:r>
            <a:endParaRPr lang="en-US" sz="1400" dirty="0"/>
          </a:p>
        </p:txBody>
      </p:sp>
      <p:sp>
        <p:nvSpPr>
          <p:cNvPr id="15" name="Text 10"/>
          <p:cNvSpPr txBox="1"/>
          <p:nvPr/>
        </p:nvSpPr>
        <p:spPr>
          <a:xfrm>
            <a:off x="987552" y="2980944"/>
            <a:ext cx="4023360" cy="457200"/>
          </a:xfrm>
          <a:prstGeom prst="rect">
            <a:avLst/>
          </a:prstGeom>
          <a:noFill/>
          <a:ln/>
        </p:spPr>
        <p:txBody>
          <a:bodyPr wrap="square" lIns="0" tIns="0" rIns="0" bIns="0" rtlCol="0" anchor="t"/>
          <a:lstStyle/>
          <a:p>
            <a:pPr indent="0" marL="0">
              <a:buNone/>
            </a:pPr>
            <a:r>
              <a:rPr lang="en-US" sz="1100" dirty="0">
                <a:solidFill>
                  <a:srgbClr val="1E1E1E"/>
                </a:solidFill>
                <a:latin typeface="Calibri" pitchFamily="34" charset="0"/>
                <a:ea typeface="Calibri" pitchFamily="34" charset="-122"/>
                <a:cs typeface="Calibri" pitchFamily="34" charset="-120"/>
              </a:rPr>
              <a:t>Un MVP fonctionnel en 4 semaines, présenté à des investisseurs, conforme aux maquettes Figma de l'UX designer.</a:t>
            </a:r>
            <a:endParaRPr lang="en-US" sz="1100" dirty="0"/>
          </a:p>
        </p:txBody>
      </p:sp>
      <p:sp>
        <p:nvSpPr>
          <p:cNvPr id="16" name="Shape 11"/>
          <p:cNvSpPr/>
          <p:nvPr/>
        </p:nvSpPr>
        <p:spPr>
          <a:xfrm>
            <a:off x="457200" y="3529584"/>
            <a:ext cx="384048" cy="384048"/>
          </a:xfrm>
          <a:prstGeom prst="ellipse">
            <a:avLst/>
          </a:prstGeom>
          <a:solidFill>
            <a:srgbClr val="DE6262"/>
          </a:solidFill>
          <a:ln w="12700">
            <a:solidFill>
              <a:srgbClr val="DE6262"/>
            </a:solidFill>
            <a:prstDash val="solid"/>
          </a:ln>
        </p:spPr>
      </p:sp>
      <p:pic>
        <p:nvPicPr>
          <p:cNvPr id="17" name="Image 3" descr="preencoded.png">    </p:cNvPr>
          <p:cNvPicPr>
            <a:picLocks noChangeAspect="1"/>
          </p:cNvPicPr>
          <p:nvPr/>
        </p:nvPicPr>
        <p:blipFill>
          <a:blip r:embed="rId4"/>
          <a:stretch>
            <a:fillRect/>
          </a:stretch>
        </p:blipFill>
        <p:spPr>
          <a:xfrm>
            <a:off x="549372" y="3621756"/>
            <a:ext cx="199705" cy="199705"/>
          </a:xfrm>
          <a:prstGeom prst="rect">
            <a:avLst/>
          </a:prstGeom>
        </p:spPr>
      </p:pic>
      <p:sp>
        <p:nvSpPr>
          <p:cNvPr id="18" name="Text 12"/>
          <p:cNvSpPr txBox="1"/>
          <p:nvPr/>
        </p:nvSpPr>
        <p:spPr>
          <a:xfrm>
            <a:off x="987552" y="3483864"/>
            <a:ext cx="3840480" cy="256032"/>
          </a:xfrm>
          <a:prstGeom prst="rect">
            <a:avLst/>
          </a:prstGeom>
          <a:noFill/>
          <a:ln/>
        </p:spPr>
        <p:txBody>
          <a:bodyPr wrap="square" lIns="0" tIns="0" rIns="0" bIns="0" rtlCol="0" anchor="ctr"/>
          <a:lstStyle/>
          <a:p>
            <a:pPr indent="0" marL="0">
              <a:buNone/>
            </a:pPr>
            <a:r>
              <a:rPr lang="en-US" sz="1400" b="1" dirty="0">
                <a:solidFill>
                  <a:srgbClr val="2C2C2C"/>
                </a:solidFill>
                <a:latin typeface="Calibri" pitchFamily="34" charset="0"/>
                <a:ea typeface="Calibri" pitchFamily="34" charset="-122"/>
                <a:cs typeface="Calibri" pitchFamily="34" charset="-120"/>
              </a:rPr>
              <a:t>Mon rôle</a:t>
            </a:r>
            <a:endParaRPr lang="en-US" sz="1400" dirty="0"/>
          </a:p>
        </p:txBody>
      </p:sp>
      <p:sp>
        <p:nvSpPr>
          <p:cNvPr id="19" name="Text 13"/>
          <p:cNvSpPr txBox="1"/>
          <p:nvPr/>
        </p:nvSpPr>
        <p:spPr>
          <a:xfrm>
            <a:off x="987552" y="3739896"/>
            <a:ext cx="4023360" cy="457200"/>
          </a:xfrm>
          <a:prstGeom prst="rect">
            <a:avLst/>
          </a:prstGeom>
          <a:noFill/>
          <a:ln/>
        </p:spPr>
        <p:txBody>
          <a:bodyPr wrap="square" lIns="0" tIns="0" rIns="0" bIns="0" rtlCol="0" anchor="t"/>
          <a:lstStyle/>
          <a:p>
            <a:pPr indent="0" marL="0">
              <a:buNone/>
            </a:pPr>
            <a:r>
              <a:rPr lang="en-US" sz="1100" dirty="0">
                <a:solidFill>
                  <a:srgbClr val="1E1E1E"/>
                </a:solidFill>
                <a:latin typeface="Calibri" pitchFamily="34" charset="0"/>
                <a:ea typeface="Calibri" pitchFamily="34" charset="-122"/>
                <a:cs typeface="Calibri" pitchFamily="34" charset="-120"/>
              </a:rPr>
              <a:t>Référent technique senior : architecture, modèle de données, développement, qualité, supervision d'un copilote IA.</a:t>
            </a:r>
            <a:endParaRPr lang="en-US" sz="1100" dirty="0"/>
          </a:p>
        </p:txBody>
      </p:sp>
      <p:sp>
        <p:nvSpPr>
          <p:cNvPr id="20" name="Shape 14"/>
          <p:cNvSpPr/>
          <p:nvPr/>
        </p:nvSpPr>
        <p:spPr>
          <a:xfrm>
            <a:off x="5257800" y="1234440"/>
            <a:ext cx="3520440" cy="2788920"/>
          </a:xfrm>
          <a:prstGeom prst="roundRect">
            <a:avLst>
              <a:gd name="adj" fmla="val 3279"/>
            </a:avLst>
          </a:prstGeom>
          <a:solidFill>
            <a:srgbClr val="FFFFFF"/>
          </a:solidFill>
          <a:ln w="9525">
            <a:solidFill>
              <a:srgbClr val="E6E0DB"/>
            </a:solidFill>
            <a:prstDash val="solid"/>
          </a:ln>
          <a:effectLst>
            <a:outerShdw sx="100000" sy="100000" kx="0" ky="0" algn="bl" rotWithShape="0" blurRad="76200" dist="25400" dir="5400000">
              <a:srgbClr val="000000">
                <a:alpha val="18000"/>
              </a:srgbClr>
            </a:outerShdw>
          </a:effectLst>
        </p:spPr>
      </p:sp>
      <p:pic>
        <p:nvPicPr>
          <p:cNvPr id="21" name="Image 4" descr="/tmp/claude-0/-home-claude/d78ed772-074e-53f4-9eac-5137bea30025/scratchpad/deck/assets/home.png">    </p:cNvPr>
          <p:cNvPicPr>
            <a:picLocks noChangeAspect="1"/>
          </p:cNvPicPr>
          <p:nvPr/>
        </p:nvPicPr>
        <p:blipFill>
          <a:blip r:embed="rId5"/>
          <a:stretch>
            <a:fillRect/>
          </a:stretch>
        </p:blipFill>
        <p:spPr>
          <a:xfrm>
            <a:off x="5367528" y="1344168"/>
            <a:ext cx="3300984" cy="1993392"/>
          </a:xfrm>
          <a:prstGeom prst="rect">
            <a:avLst/>
          </a:prstGeom>
        </p:spPr>
      </p:pic>
      <p:sp>
        <p:nvSpPr>
          <p:cNvPr id="22" name="Text 15"/>
          <p:cNvSpPr txBox="1"/>
          <p:nvPr/>
        </p:nvSpPr>
        <p:spPr>
          <a:xfrm>
            <a:off x="5367528" y="3401568"/>
            <a:ext cx="3300984" cy="502920"/>
          </a:xfrm>
          <a:prstGeom prst="rect">
            <a:avLst/>
          </a:prstGeom>
          <a:noFill/>
          <a:ln/>
        </p:spPr>
        <p:txBody>
          <a:bodyPr wrap="square" lIns="0" tIns="0" rIns="0" bIns="0" rtlCol="0" anchor="ctr"/>
          <a:lstStyle/>
          <a:p>
            <a:pPr algn="ctr" indent="0" marL="0">
              <a:buNone/>
            </a:pPr>
            <a:r>
              <a:rPr lang="en-US" sz="1050" i="1" dirty="0">
                <a:solidFill>
                  <a:srgbClr val="6B6B6B"/>
                </a:solidFill>
                <a:latin typeface="Calibri" pitchFamily="34" charset="0"/>
                <a:ea typeface="Calibri" pitchFamily="34" charset="-122"/>
                <a:cs typeface="Calibri" pitchFamily="34" charset="-120"/>
              </a:rPr>
              <a:t>Page d'accueil livrée — upload en un clic, avec ou sans compte</a:t>
            </a:r>
            <a:endParaRPr lang="en-US" sz="1050" dirty="0"/>
          </a:p>
        </p:txBody>
      </p:sp>
      <p:sp>
        <p:nvSpPr>
          <p:cNvPr id="23" name="Text 16"/>
          <p:cNvSpPr txBox="1"/>
          <p:nvPr/>
        </p:nvSpPr>
        <p:spPr>
          <a:xfrm>
            <a:off x="457200" y="4315968"/>
            <a:ext cx="8321040" cy="411480"/>
          </a:xfrm>
          <a:prstGeom prst="rect">
            <a:avLst/>
          </a:prstGeom>
          <a:solidFill>
            <a:srgbClr val="FFF4EE"/>
          </a:solidFill>
          <a:ln/>
        </p:spPr>
        <p:txBody>
          <a:bodyPr wrap="square" lIns="0" tIns="0" rIns="0" bIns="0" rtlCol="0" anchor="ctr"/>
          <a:lstStyle/>
          <a:p>
            <a:pPr indent="0" marL="0">
              <a:buNone/>
            </a:pPr>
            <a:r>
              <a:rPr lang="en-US" sz="1050" b="1" dirty="0">
                <a:solidFill>
                  <a:srgbClr val="1E1E1E"/>
                </a:solidFill>
                <a:latin typeface="Calibri" pitchFamily="34" charset="0"/>
                <a:ea typeface="Calibri" pitchFamily="34" charset="-122"/>
                <a:cs typeface="Calibri" pitchFamily="34" charset="-120"/>
              </a:rPr>
              <a:t>Contraintes : </a:t>
            </a:r>
            <a:pPr indent="0" marL="0">
              <a:buNone/>
            </a:pPr>
            <a:r>
              <a:rPr lang="en-US" sz="1050" dirty="0">
                <a:solidFill>
                  <a:srgbClr val="1E1E1E"/>
                </a:solidFill>
                <a:latin typeface="Calibri" pitchFamily="34" charset="0"/>
                <a:ea typeface="Calibri" pitchFamily="34" charset="-122"/>
                <a:cs typeface="Calibri" pitchFamily="34" charset="-120"/>
              </a:rPr>
              <a:t>stack à choisir parmi les options imposées · maquettes Figma à respecter · IA générative autorisée sur une seule user story, tracée dans Git</a:t>
            </a:r>
            <a:endParaRPr lang="en-US" sz="1050" dirty="0"/>
          </a:p>
        </p:txBody>
      </p:sp>
      <p:sp>
        <p:nvSpPr>
          <p:cNvPr id="24" name="Text 17"/>
          <p:cNvSpPr txBox="1"/>
          <p:nvPr/>
        </p:nvSpPr>
        <p:spPr>
          <a:xfrm>
            <a:off x="457200" y="4818888"/>
            <a:ext cx="4572000" cy="228600"/>
          </a:xfrm>
          <a:prstGeom prst="rect">
            <a:avLst/>
          </a:prstGeom>
          <a:noFill/>
          <a:ln/>
        </p:spPr>
        <p:txBody>
          <a:bodyPr wrap="square" lIns="0" tIns="0" rIns="0" bIns="0" rtlCol="0" anchor="ctr"/>
          <a:lstStyle/>
          <a:p>
            <a:pPr indent="0" marL="0">
              <a:buNone/>
            </a:pPr>
            <a:r>
              <a:rPr lang="en-US" sz="900" dirty="0">
                <a:solidFill>
                  <a:srgbClr val="A0A0A0"/>
                </a:solidFill>
                <a:latin typeface="Calibri" pitchFamily="34" charset="0"/>
                <a:ea typeface="Calibri" pitchFamily="34" charset="-122"/>
                <a:cs typeface="Calibri" pitchFamily="34" charset="-120"/>
              </a:rPr>
              <a:t>DataShare — Soutenance Projet 4</a:t>
            </a:r>
            <a:endParaRPr lang="en-US" sz="900" dirty="0"/>
          </a:p>
        </p:txBody>
      </p:sp>
      <p:sp>
        <p:nvSpPr>
          <p:cNvPr id="25" name="Text 18"/>
          <p:cNvSpPr txBox="1"/>
          <p:nvPr/>
        </p:nvSpPr>
        <p:spPr>
          <a:xfrm>
            <a:off x="8229600" y="4818888"/>
            <a:ext cx="457200" cy="228600"/>
          </a:xfrm>
          <a:prstGeom prst="rect">
            <a:avLst/>
          </a:prstGeom>
          <a:noFill/>
          <a:ln/>
        </p:spPr>
        <p:txBody>
          <a:bodyPr wrap="square" lIns="0" tIns="0" rIns="0" bIns="0" rtlCol="0" anchor="ctr"/>
          <a:lstStyle/>
          <a:p>
            <a:pPr algn="r" indent="0" marL="0">
              <a:buNone/>
            </a:pPr>
            <a:r>
              <a:rPr lang="en-US" sz="900" dirty="0">
                <a:solidFill>
                  <a:srgbClr val="A0A0A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3000" b="1" dirty="0">
                <a:solidFill>
                  <a:srgbClr val="2C2C2C"/>
                </a:solidFill>
                <a:latin typeface="Calibri" pitchFamily="34" charset="0"/>
                <a:ea typeface="Calibri" pitchFamily="34" charset="-122"/>
                <a:cs typeface="Calibri" pitchFamily="34" charset="-120"/>
              </a:rPr>
              <a:t>Périmètre fonctionnel : 10 user stories livrées</a:t>
            </a:r>
            <a:endParaRPr lang="en-US" sz="3000" dirty="0"/>
          </a:p>
        </p:txBody>
      </p:sp>
      <p:sp>
        <p:nvSpPr>
          <p:cNvPr id="3" name="Text 1"/>
          <p:cNvSpPr txBox="1"/>
          <p:nvPr/>
        </p:nvSpPr>
        <p:spPr>
          <a:xfrm>
            <a:off x="457200" y="804672"/>
            <a:ext cx="8229600" cy="292608"/>
          </a:xfrm>
          <a:prstGeom prst="rect">
            <a:avLst/>
          </a:prstGeom>
          <a:noFill/>
          <a:ln/>
        </p:spPr>
        <p:txBody>
          <a:bodyPr wrap="square" lIns="0" tIns="0" rIns="0" bIns="0" rtlCol="0" anchor="ctr"/>
          <a:lstStyle/>
          <a:p>
            <a:pPr indent="0" marL="0">
              <a:buNone/>
            </a:pPr>
            <a:r>
              <a:rPr lang="en-US" sz="1300" dirty="0">
                <a:solidFill>
                  <a:srgbClr val="6B6B6B"/>
                </a:solidFill>
                <a:latin typeface="Calibri" pitchFamily="34" charset="0"/>
                <a:ea typeface="Calibri" pitchFamily="34" charset="-122"/>
                <a:cs typeface="Calibri" pitchFamily="34" charset="-120"/>
              </a:rPr>
              <a:t>6 user stories du MVP obligatoire + les 4 fonctionnalités avancées optionnelles</a:t>
            </a:r>
            <a:endParaRPr lang="en-US" sz="1300" dirty="0"/>
          </a:p>
        </p:txBody>
      </p:sp>
      <p:sp>
        <p:nvSpPr>
          <p:cNvPr id="4" name="Text 2"/>
          <p:cNvSpPr txBox="1"/>
          <p:nvPr/>
        </p:nvSpPr>
        <p:spPr>
          <a:xfrm>
            <a:off x="457200" y="1207008"/>
            <a:ext cx="3931920" cy="292608"/>
          </a:xfrm>
          <a:prstGeom prst="rect">
            <a:avLst/>
          </a:prstGeom>
          <a:noFill/>
          <a:ln/>
        </p:spPr>
        <p:txBody>
          <a:bodyPr wrap="square" lIns="0" tIns="0" rIns="0" bIns="0" rtlCol="0" anchor="ctr"/>
          <a:lstStyle/>
          <a:p>
            <a:pPr indent="0" marL="0">
              <a:buNone/>
            </a:pPr>
            <a:r>
              <a:rPr lang="en-US" sz="1300" b="1" dirty="0">
                <a:solidFill>
                  <a:srgbClr val="DE6262"/>
                </a:solidFill>
                <a:latin typeface="Calibri" pitchFamily="34" charset="0"/>
                <a:ea typeface="Calibri" pitchFamily="34" charset="-122"/>
                <a:cs typeface="Calibri" pitchFamily="34" charset="-120"/>
              </a:rPr>
              <a:t>MVP obligatoire</a:t>
            </a:r>
            <a:endParaRPr lang="en-US" sz="1300" dirty="0"/>
          </a:p>
        </p:txBody>
      </p:sp>
      <p:sp>
        <p:nvSpPr>
          <p:cNvPr id="5" name="Shape 3"/>
          <p:cNvSpPr/>
          <p:nvPr/>
        </p:nvSpPr>
        <p:spPr>
          <a:xfrm>
            <a:off x="457200" y="1554480"/>
            <a:ext cx="3931920" cy="457200"/>
          </a:xfrm>
          <a:prstGeom prst="roundRect">
            <a:avLst>
              <a:gd name="adj" fmla="val 16000"/>
            </a:avLst>
          </a:prstGeom>
          <a:solidFill>
            <a:srgbClr val="FFF4EE"/>
          </a:solidFill>
          <a:ln w="6350">
            <a:solidFill>
              <a:srgbClr val="FFF4EE"/>
            </a:solidFill>
            <a:prstDash val="solid"/>
          </a:ln>
        </p:spPr>
      </p:sp>
      <p:sp>
        <p:nvSpPr>
          <p:cNvPr id="6" name="Shape 4"/>
          <p:cNvSpPr/>
          <p:nvPr/>
        </p:nvSpPr>
        <p:spPr>
          <a:xfrm>
            <a:off x="548640" y="1609344"/>
            <a:ext cx="347472" cy="347472"/>
          </a:xfrm>
          <a:prstGeom prst="ellipse">
            <a:avLst/>
          </a:prstGeom>
          <a:solidFill>
            <a:srgbClr val="DE6262"/>
          </a:solidFill>
          <a:ln w="12700">
            <a:solidFill>
              <a:srgbClr val="DE6262"/>
            </a:solidFill>
            <a:prstDash val="solid"/>
          </a:ln>
        </p:spPr>
      </p:sp>
      <p:pic>
        <p:nvPicPr>
          <p:cNvPr id="7" name="Image 0" descr="preencoded.png">    </p:cNvPr>
          <p:cNvPicPr>
            <a:picLocks noChangeAspect="1"/>
          </p:cNvPicPr>
          <p:nvPr/>
        </p:nvPicPr>
        <p:blipFill>
          <a:blip r:embed="rId1"/>
          <a:stretch>
            <a:fillRect/>
          </a:stretch>
        </p:blipFill>
        <p:spPr>
          <a:xfrm>
            <a:off x="632033" y="1692737"/>
            <a:ext cx="180685" cy="180685"/>
          </a:xfrm>
          <a:prstGeom prst="rect">
            <a:avLst/>
          </a:prstGeom>
        </p:spPr>
      </p:pic>
      <p:sp>
        <p:nvSpPr>
          <p:cNvPr id="8" name="Text 5"/>
          <p:cNvSpPr txBox="1"/>
          <p:nvPr/>
        </p:nvSpPr>
        <p:spPr>
          <a:xfrm>
            <a:off x="1005840" y="1554480"/>
            <a:ext cx="3337560" cy="457200"/>
          </a:xfrm>
          <a:prstGeom prst="rect">
            <a:avLst/>
          </a:prstGeom>
          <a:noFill/>
          <a:ln/>
        </p:spPr>
        <p:txBody>
          <a:bodyPr wrap="square" lIns="0" tIns="0" rIns="0" bIns="0" rtlCol="0" anchor="ctr"/>
          <a:lstStyle/>
          <a:p>
            <a:pPr indent="0" marL="0">
              <a:buNone/>
            </a:pPr>
            <a:r>
              <a:rPr lang="en-US" sz="1150" b="1" dirty="0">
                <a:solidFill>
                  <a:srgbClr val="DE6262"/>
                </a:solidFill>
                <a:latin typeface="Calibri" pitchFamily="34" charset="0"/>
                <a:ea typeface="Calibri" pitchFamily="34" charset="-122"/>
                <a:cs typeface="Calibri" pitchFamily="34" charset="-120"/>
              </a:rPr>
              <a:t>US01  </a:t>
            </a:r>
            <a:pPr indent="0" marL="0">
              <a:buNone/>
            </a:pPr>
            <a:r>
              <a:rPr lang="en-US" sz="1150" dirty="0">
                <a:solidFill>
                  <a:srgbClr val="1E1E1E"/>
                </a:solidFill>
                <a:latin typeface="Calibri" pitchFamily="34" charset="0"/>
                <a:ea typeface="Calibri" pitchFamily="34" charset="-122"/>
                <a:cs typeface="Calibri" pitchFamily="34" charset="-120"/>
              </a:rPr>
              <a:t>Téléverser un fichier (compte), 1 Go max</a:t>
            </a:r>
            <a:endParaRPr lang="en-US" sz="1150" dirty="0"/>
          </a:p>
        </p:txBody>
      </p:sp>
      <p:sp>
        <p:nvSpPr>
          <p:cNvPr id="9" name="Shape 6"/>
          <p:cNvSpPr/>
          <p:nvPr/>
        </p:nvSpPr>
        <p:spPr>
          <a:xfrm>
            <a:off x="457200" y="2084832"/>
            <a:ext cx="3931920" cy="457200"/>
          </a:xfrm>
          <a:prstGeom prst="roundRect">
            <a:avLst>
              <a:gd name="adj" fmla="val 16000"/>
            </a:avLst>
          </a:prstGeom>
          <a:solidFill>
            <a:srgbClr val="FFF4EE"/>
          </a:solidFill>
          <a:ln w="6350">
            <a:solidFill>
              <a:srgbClr val="FFF4EE"/>
            </a:solidFill>
            <a:prstDash val="solid"/>
          </a:ln>
        </p:spPr>
      </p:sp>
      <p:sp>
        <p:nvSpPr>
          <p:cNvPr id="10" name="Shape 7"/>
          <p:cNvSpPr/>
          <p:nvPr/>
        </p:nvSpPr>
        <p:spPr>
          <a:xfrm>
            <a:off x="548640" y="2139696"/>
            <a:ext cx="347472" cy="347472"/>
          </a:xfrm>
          <a:prstGeom prst="ellipse">
            <a:avLst/>
          </a:prstGeom>
          <a:solidFill>
            <a:srgbClr val="DE6262"/>
          </a:solidFill>
          <a:ln w="12700">
            <a:solidFill>
              <a:srgbClr val="DE6262"/>
            </a:solidFill>
            <a:prstDash val="solid"/>
          </a:ln>
        </p:spPr>
      </p:sp>
      <p:pic>
        <p:nvPicPr>
          <p:cNvPr id="11" name="Image 1" descr="preencoded.png">    </p:cNvPr>
          <p:cNvPicPr>
            <a:picLocks noChangeAspect="1"/>
          </p:cNvPicPr>
          <p:nvPr/>
        </p:nvPicPr>
        <p:blipFill>
          <a:blip r:embed="rId2"/>
          <a:stretch>
            <a:fillRect/>
          </a:stretch>
        </p:blipFill>
        <p:spPr>
          <a:xfrm>
            <a:off x="632033" y="2223089"/>
            <a:ext cx="180685" cy="180685"/>
          </a:xfrm>
          <a:prstGeom prst="rect">
            <a:avLst/>
          </a:prstGeom>
        </p:spPr>
      </p:pic>
      <p:sp>
        <p:nvSpPr>
          <p:cNvPr id="12" name="Text 8"/>
          <p:cNvSpPr txBox="1"/>
          <p:nvPr/>
        </p:nvSpPr>
        <p:spPr>
          <a:xfrm>
            <a:off x="1005840" y="2084832"/>
            <a:ext cx="3337560" cy="457200"/>
          </a:xfrm>
          <a:prstGeom prst="rect">
            <a:avLst/>
          </a:prstGeom>
          <a:noFill/>
          <a:ln/>
        </p:spPr>
        <p:txBody>
          <a:bodyPr wrap="square" lIns="0" tIns="0" rIns="0" bIns="0" rtlCol="0" anchor="ctr"/>
          <a:lstStyle/>
          <a:p>
            <a:pPr indent="0" marL="0">
              <a:buNone/>
            </a:pPr>
            <a:r>
              <a:rPr lang="en-US" sz="1150" b="1" dirty="0">
                <a:solidFill>
                  <a:srgbClr val="DE6262"/>
                </a:solidFill>
                <a:latin typeface="Calibri" pitchFamily="34" charset="0"/>
                <a:ea typeface="Calibri" pitchFamily="34" charset="-122"/>
                <a:cs typeface="Calibri" pitchFamily="34" charset="-120"/>
              </a:rPr>
              <a:t>US02  </a:t>
            </a:r>
            <a:pPr indent="0" marL="0">
              <a:buNone/>
            </a:pPr>
            <a:r>
              <a:rPr lang="en-US" sz="1150" dirty="0">
                <a:solidFill>
                  <a:srgbClr val="1E1E1E"/>
                </a:solidFill>
                <a:latin typeface="Calibri" pitchFamily="34" charset="0"/>
                <a:ea typeface="Calibri" pitchFamily="34" charset="-122"/>
                <a:cs typeface="Calibri" pitchFamily="34" charset="-120"/>
              </a:rPr>
              <a:t>Télécharger via un lien unique, sans compte</a:t>
            </a:r>
            <a:endParaRPr lang="en-US" sz="1150" dirty="0"/>
          </a:p>
        </p:txBody>
      </p:sp>
      <p:sp>
        <p:nvSpPr>
          <p:cNvPr id="13" name="Shape 9"/>
          <p:cNvSpPr/>
          <p:nvPr/>
        </p:nvSpPr>
        <p:spPr>
          <a:xfrm>
            <a:off x="457200" y="2615184"/>
            <a:ext cx="3931920" cy="457200"/>
          </a:xfrm>
          <a:prstGeom prst="roundRect">
            <a:avLst>
              <a:gd name="adj" fmla="val 16000"/>
            </a:avLst>
          </a:prstGeom>
          <a:solidFill>
            <a:srgbClr val="FFF4EE"/>
          </a:solidFill>
          <a:ln w="6350">
            <a:solidFill>
              <a:srgbClr val="FFF4EE"/>
            </a:solidFill>
            <a:prstDash val="solid"/>
          </a:ln>
        </p:spPr>
      </p:sp>
      <p:sp>
        <p:nvSpPr>
          <p:cNvPr id="14" name="Shape 10"/>
          <p:cNvSpPr/>
          <p:nvPr/>
        </p:nvSpPr>
        <p:spPr>
          <a:xfrm>
            <a:off x="548640" y="2670048"/>
            <a:ext cx="347472" cy="347472"/>
          </a:xfrm>
          <a:prstGeom prst="ellipse">
            <a:avLst/>
          </a:prstGeom>
          <a:solidFill>
            <a:srgbClr val="DE6262"/>
          </a:solidFill>
          <a:ln w="12700">
            <a:solidFill>
              <a:srgbClr val="DE6262"/>
            </a:solidFill>
            <a:prstDash val="solid"/>
          </a:ln>
        </p:spPr>
      </p:sp>
      <p:pic>
        <p:nvPicPr>
          <p:cNvPr id="15" name="Image 2" descr="preencoded.png">    </p:cNvPr>
          <p:cNvPicPr>
            <a:picLocks noChangeAspect="1"/>
          </p:cNvPicPr>
          <p:nvPr/>
        </p:nvPicPr>
        <p:blipFill>
          <a:blip r:embed="rId3"/>
          <a:stretch>
            <a:fillRect/>
          </a:stretch>
        </p:blipFill>
        <p:spPr>
          <a:xfrm>
            <a:off x="632033" y="2753441"/>
            <a:ext cx="180685" cy="180685"/>
          </a:xfrm>
          <a:prstGeom prst="rect">
            <a:avLst/>
          </a:prstGeom>
        </p:spPr>
      </p:pic>
      <p:sp>
        <p:nvSpPr>
          <p:cNvPr id="16" name="Text 11"/>
          <p:cNvSpPr txBox="1"/>
          <p:nvPr/>
        </p:nvSpPr>
        <p:spPr>
          <a:xfrm>
            <a:off x="1005840" y="2615184"/>
            <a:ext cx="3337560" cy="457200"/>
          </a:xfrm>
          <a:prstGeom prst="rect">
            <a:avLst/>
          </a:prstGeom>
          <a:noFill/>
          <a:ln/>
        </p:spPr>
        <p:txBody>
          <a:bodyPr wrap="square" lIns="0" tIns="0" rIns="0" bIns="0" rtlCol="0" anchor="ctr"/>
          <a:lstStyle/>
          <a:p>
            <a:pPr indent="0" marL="0">
              <a:buNone/>
            </a:pPr>
            <a:r>
              <a:rPr lang="en-US" sz="1150" b="1" dirty="0">
                <a:solidFill>
                  <a:srgbClr val="DE6262"/>
                </a:solidFill>
                <a:latin typeface="Calibri" pitchFamily="34" charset="0"/>
                <a:ea typeface="Calibri" pitchFamily="34" charset="-122"/>
                <a:cs typeface="Calibri" pitchFamily="34" charset="-120"/>
              </a:rPr>
              <a:t>US03  </a:t>
            </a:r>
            <a:pPr indent="0" marL="0">
              <a:buNone/>
            </a:pPr>
            <a:r>
              <a:rPr lang="en-US" sz="1150" dirty="0">
                <a:solidFill>
                  <a:srgbClr val="1E1E1E"/>
                </a:solidFill>
                <a:latin typeface="Calibri" pitchFamily="34" charset="0"/>
                <a:ea typeface="Calibri" pitchFamily="34" charset="-122"/>
                <a:cs typeface="Calibri" pitchFamily="34" charset="-120"/>
              </a:rPr>
              <a:t>Créer un compte</a:t>
            </a:r>
            <a:endParaRPr lang="en-US" sz="1150" dirty="0"/>
          </a:p>
        </p:txBody>
      </p:sp>
      <p:sp>
        <p:nvSpPr>
          <p:cNvPr id="17" name="Shape 12"/>
          <p:cNvSpPr/>
          <p:nvPr/>
        </p:nvSpPr>
        <p:spPr>
          <a:xfrm>
            <a:off x="457200" y="3145536"/>
            <a:ext cx="3931920" cy="457200"/>
          </a:xfrm>
          <a:prstGeom prst="roundRect">
            <a:avLst>
              <a:gd name="adj" fmla="val 16000"/>
            </a:avLst>
          </a:prstGeom>
          <a:solidFill>
            <a:srgbClr val="FFF4EE"/>
          </a:solidFill>
          <a:ln w="6350">
            <a:solidFill>
              <a:srgbClr val="FFF4EE"/>
            </a:solidFill>
            <a:prstDash val="solid"/>
          </a:ln>
        </p:spPr>
      </p:sp>
      <p:sp>
        <p:nvSpPr>
          <p:cNvPr id="18" name="Shape 13"/>
          <p:cNvSpPr/>
          <p:nvPr/>
        </p:nvSpPr>
        <p:spPr>
          <a:xfrm>
            <a:off x="548640" y="3200400"/>
            <a:ext cx="347472" cy="347472"/>
          </a:xfrm>
          <a:prstGeom prst="ellipse">
            <a:avLst/>
          </a:prstGeom>
          <a:solidFill>
            <a:srgbClr val="DE6262"/>
          </a:solidFill>
          <a:ln w="12700">
            <a:solidFill>
              <a:srgbClr val="DE6262"/>
            </a:solidFill>
            <a:prstDash val="solid"/>
          </a:ln>
        </p:spPr>
      </p:sp>
      <p:pic>
        <p:nvPicPr>
          <p:cNvPr id="19" name="Image 3" descr="preencoded.png">    </p:cNvPr>
          <p:cNvPicPr>
            <a:picLocks noChangeAspect="1"/>
          </p:cNvPicPr>
          <p:nvPr/>
        </p:nvPicPr>
        <p:blipFill>
          <a:blip r:embed="rId4"/>
          <a:stretch>
            <a:fillRect/>
          </a:stretch>
        </p:blipFill>
        <p:spPr>
          <a:xfrm>
            <a:off x="632033" y="3283793"/>
            <a:ext cx="180685" cy="180685"/>
          </a:xfrm>
          <a:prstGeom prst="rect">
            <a:avLst/>
          </a:prstGeom>
        </p:spPr>
      </p:pic>
      <p:sp>
        <p:nvSpPr>
          <p:cNvPr id="20" name="Text 14"/>
          <p:cNvSpPr txBox="1"/>
          <p:nvPr/>
        </p:nvSpPr>
        <p:spPr>
          <a:xfrm>
            <a:off x="1005840" y="3145536"/>
            <a:ext cx="3337560" cy="457200"/>
          </a:xfrm>
          <a:prstGeom prst="rect">
            <a:avLst/>
          </a:prstGeom>
          <a:noFill/>
          <a:ln/>
        </p:spPr>
        <p:txBody>
          <a:bodyPr wrap="square" lIns="0" tIns="0" rIns="0" bIns="0" rtlCol="0" anchor="ctr"/>
          <a:lstStyle/>
          <a:p>
            <a:pPr indent="0" marL="0">
              <a:buNone/>
            </a:pPr>
            <a:r>
              <a:rPr lang="en-US" sz="1150" b="1" dirty="0">
                <a:solidFill>
                  <a:srgbClr val="DE6262"/>
                </a:solidFill>
                <a:latin typeface="Calibri" pitchFamily="34" charset="0"/>
                <a:ea typeface="Calibri" pitchFamily="34" charset="-122"/>
                <a:cs typeface="Calibri" pitchFamily="34" charset="-120"/>
              </a:rPr>
              <a:t>US04  </a:t>
            </a:r>
            <a:pPr indent="0" marL="0">
              <a:buNone/>
            </a:pPr>
            <a:r>
              <a:rPr lang="en-US" sz="1150" dirty="0">
                <a:solidFill>
                  <a:srgbClr val="1E1E1E"/>
                </a:solidFill>
                <a:latin typeface="Calibri" pitchFamily="34" charset="0"/>
                <a:ea typeface="Calibri" pitchFamily="34" charset="-122"/>
                <a:cs typeface="Calibri" pitchFamily="34" charset="-120"/>
              </a:rPr>
              <a:t>Se connecter — JWT</a:t>
            </a:r>
            <a:endParaRPr lang="en-US" sz="1150" dirty="0"/>
          </a:p>
        </p:txBody>
      </p:sp>
      <p:sp>
        <p:nvSpPr>
          <p:cNvPr id="21" name="Shape 15"/>
          <p:cNvSpPr/>
          <p:nvPr/>
        </p:nvSpPr>
        <p:spPr>
          <a:xfrm>
            <a:off x="457200" y="3675888"/>
            <a:ext cx="3931920" cy="457200"/>
          </a:xfrm>
          <a:prstGeom prst="roundRect">
            <a:avLst>
              <a:gd name="adj" fmla="val 16000"/>
            </a:avLst>
          </a:prstGeom>
          <a:solidFill>
            <a:srgbClr val="FFF4EE"/>
          </a:solidFill>
          <a:ln w="6350">
            <a:solidFill>
              <a:srgbClr val="FFF4EE"/>
            </a:solidFill>
            <a:prstDash val="solid"/>
          </a:ln>
        </p:spPr>
      </p:sp>
      <p:sp>
        <p:nvSpPr>
          <p:cNvPr id="22" name="Shape 16"/>
          <p:cNvSpPr/>
          <p:nvPr/>
        </p:nvSpPr>
        <p:spPr>
          <a:xfrm>
            <a:off x="548640" y="3730752"/>
            <a:ext cx="347472" cy="347472"/>
          </a:xfrm>
          <a:prstGeom prst="ellipse">
            <a:avLst/>
          </a:prstGeom>
          <a:solidFill>
            <a:srgbClr val="DE6262"/>
          </a:solidFill>
          <a:ln w="12700">
            <a:solidFill>
              <a:srgbClr val="DE6262"/>
            </a:solidFill>
            <a:prstDash val="solid"/>
          </a:ln>
        </p:spPr>
      </p:sp>
      <p:pic>
        <p:nvPicPr>
          <p:cNvPr id="23" name="Image 4" descr="preencoded.png">    </p:cNvPr>
          <p:cNvPicPr>
            <a:picLocks noChangeAspect="1"/>
          </p:cNvPicPr>
          <p:nvPr/>
        </p:nvPicPr>
        <p:blipFill>
          <a:blip r:embed="rId5"/>
          <a:stretch>
            <a:fillRect/>
          </a:stretch>
        </p:blipFill>
        <p:spPr>
          <a:xfrm>
            <a:off x="632033" y="3814145"/>
            <a:ext cx="180685" cy="180685"/>
          </a:xfrm>
          <a:prstGeom prst="rect">
            <a:avLst/>
          </a:prstGeom>
        </p:spPr>
      </p:pic>
      <p:sp>
        <p:nvSpPr>
          <p:cNvPr id="24" name="Text 17"/>
          <p:cNvSpPr txBox="1"/>
          <p:nvPr/>
        </p:nvSpPr>
        <p:spPr>
          <a:xfrm>
            <a:off x="1005840" y="3675888"/>
            <a:ext cx="3337560" cy="457200"/>
          </a:xfrm>
          <a:prstGeom prst="rect">
            <a:avLst/>
          </a:prstGeom>
          <a:noFill/>
          <a:ln/>
        </p:spPr>
        <p:txBody>
          <a:bodyPr wrap="square" lIns="0" tIns="0" rIns="0" bIns="0" rtlCol="0" anchor="ctr"/>
          <a:lstStyle/>
          <a:p>
            <a:pPr indent="0" marL="0">
              <a:buNone/>
            </a:pPr>
            <a:r>
              <a:rPr lang="en-US" sz="1150" b="1" dirty="0">
                <a:solidFill>
                  <a:srgbClr val="DE6262"/>
                </a:solidFill>
                <a:latin typeface="Calibri" pitchFamily="34" charset="0"/>
                <a:ea typeface="Calibri" pitchFamily="34" charset="-122"/>
                <a:cs typeface="Calibri" pitchFamily="34" charset="-120"/>
              </a:rPr>
              <a:t>US05  </a:t>
            </a:r>
            <a:pPr indent="0" marL="0">
              <a:buNone/>
            </a:pPr>
            <a:r>
              <a:rPr lang="en-US" sz="1150" dirty="0">
                <a:solidFill>
                  <a:srgbClr val="1E1E1E"/>
                </a:solidFill>
                <a:latin typeface="Calibri" pitchFamily="34" charset="0"/>
                <a:ea typeface="Calibri" pitchFamily="34" charset="-122"/>
                <a:cs typeface="Calibri" pitchFamily="34" charset="-120"/>
              </a:rPr>
              <a:t>Historique de mes fichiers : actifs / expirés</a:t>
            </a:r>
            <a:endParaRPr lang="en-US" sz="1150" dirty="0"/>
          </a:p>
        </p:txBody>
      </p:sp>
      <p:sp>
        <p:nvSpPr>
          <p:cNvPr id="25" name="Shape 18"/>
          <p:cNvSpPr/>
          <p:nvPr/>
        </p:nvSpPr>
        <p:spPr>
          <a:xfrm>
            <a:off x="457200" y="4206240"/>
            <a:ext cx="3931920" cy="457200"/>
          </a:xfrm>
          <a:prstGeom prst="roundRect">
            <a:avLst>
              <a:gd name="adj" fmla="val 16000"/>
            </a:avLst>
          </a:prstGeom>
          <a:solidFill>
            <a:srgbClr val="FFF4EE"/>
          </a:solidFill>
          <a:ln w="6350">
            <a:solidFill>
              <a:srgbClr val="FFF4EE"/>
            </a:solidFill>
            <a:prstDash val="solid"/>
          </a:ln>
        </p:spPr>
      </p:sp>
      <p:sp>
        <p:nvSpPr>
          <p:cNvPr id="26" name="Shape 19"/>
          <p:cNvSpPr/>
          <p:nvPr/>
        </p:nvSpPr>
        <p:spPr>
          <a:xfrm>
            <a:off x="548640" y="4261104"/>
            <a:ext cx="347472" cy="347472"/>
          </a:xfrm>
          <a:prstGeom prst="ellipse">
            <a:avLst/>
          </a:prstGeom>
          <a:solidFill>
            <a:srgbClr val="DE6262"/>
          </a:solidFill>
          <a:ln w="12700">
            <a:solidFill>
              <a:srgbClr val="DE6262"/>
            </a:solidFill>
            <a:prstDash val="solid"/>
          </a:ln>
        </p:spPr>
      </p:sp>
      <p:pic>
        <p:nvPicPr>
          <p:cNvPr id="27" name="Image 5" descr="preencoded.png">    </p:cNvPr>
          <p:cNvPicPr>
            <a:picLocks noChangeAspect="1"/>
          </p:cNvPicPr>
          <p:nvPr/>
        </p:nvPicPr>
        <p:blipFill>
          <a:blip r:embed="rId6"/>
          <a:stretch>
            <a:fillRect/>
          </a:stretch>
        </p:blipFill>
        <p:spPr>
          <a:xfrm>
            <a:off x="632033" y="4344497"/>
            <a:ext cx="180685" cy="180685"/>
          </a:xfrm>
          <a:prstGeom prst="rect">
            <a:avLst/>
          </a:prstGeom>
        </p:spPr>
      </p:pic>
      <p:sp>
        <p:nvSpPr>
          <p:cNvPr id="28" name="Text 20"/>
          <p:cNvSpPr txBox="1"/>
          <p:nvPr/>
        </p:nvSpPr>
        <p:spPr>
          <a:xfrm>
            <a:off x="1005840" y="4206240"/>
            <a:ext cx="3337560" cy="457200"/>
          </a:xfrm>
          <a:prstGeom prst="rect">
            <a:avLst/>
          </a:prstGeom>
          <a:noFill/>
          <a:ln/>
        </p:spPr>
        <p:txBody>
          <a:bodyPr wrap="square" lIns="0" tIns="0" rIns="0" bIns="0" rtlCol="0" anchor="ctr"/>
          <a:lstStyle/>
          <a:p>
            <a:pPr indent="0" marL="0">
              <a:buNone/>
            </a:pPr>
            <a:r>
              <a:rPr lang="en-US" sz="1150" b="1" dirty="0">
                <a:solidFill>
                  <a:srgbClr val="DE6262"/>
                </a:solidFill>
                <a:latin typeface="Calibri" pitchFamily="34" charset="0"/>
                <a:ea typeface="Calibri" pitchFamily="34" charset="-122"/>
                <a:cs typeface="Calibri" pitchFamily="34" charset="-120"/>
              </a:rPr>
              <a:t>US06  </a:t>
            </a:r>
            <a:pPr indent="0" marL="0">
              <a:buNone/>
            </a:pPr>
            <a:r>
              <a:rPr lang="en-US" sz="1150" dirty="0">
                <a:solidFill>
                  <a:srgbClr val="1E1E1E"/>
                </a:solidFill>
                <a:latin typeface="Calibri" pitchFamily="34" charset="0"/>
                <a:ea typeface="Calibri" pitchFamily="34" charset="-122"/>
                <a:cs typeface="Calibri" pitchFamily="34" charset="-120"/>
              </a:rPr>
              <a:t>Supprimer un fichier → lien invalidé</a:t>
            </a:r>
            <a:endParaRPr lang="en-US" sz="1150" dirty="0"/>
          </a:p>
        </p:txBody>
      </p:sp>
      <p:sp>
        <p:nvSpPr>
          <p:cNvPr id="29" name="Text 21"/>
          <p:cNvSpPr txBox="1"/>
          <p:nvPr/>
        </p:nvSpPr>
        <p:spPr>
          <a:xfrm>
            <a:off x="4754880" y="1207008"/>
            <a:ext cx="3931920" cy="292608"/>
          </a:xfrm>
          <a:prstGeom prst="rect">
            <a:avLst/>
          </a:prstGeom>
          <a:noFill/>
          <a:ln/>
        </p:spPr>
        <p:txBody>
          <a:bodyPr wrap="square" lIns="0" tIns="0" rIns="0" bIns="0" rtlCol="0" anchor="ctr"/>
          <a:lstStyle/>
          <a:p>
            <a:pPr indent="0" marL="0">
              <a:buNone/>
            </a:pPr>
            <a:r>
              <a:rPr lang="en-US" sz="1300" b="1" dirty="0">
                <a:solidFill>
                  <a:srgbClr val="3A5A8C"/>
                </a:solidFill>
                <a:latin typeface="Calibri" pitchFamily="34" charset="0"/>
                <a:ea typeface="Calibri" pitchFamily="34" charset="-122"/>
                <a:cs typeface="Calibri" pitchFamily="34" charset="-120"/>
              </a:rPr>
              <a:t>Fonctionnalités avancées (optionnelles) — toutes livrées</a:t>
            </a:r>
            <a:endParaRPr lang="en-US" sz="1300" dirty="0"/>
          </a:p>
        </p:txBody>
      </p:sp>
      <p:sp>
        <p:nvSpPr>
          <p:cNvPr id="30" name="Shape 22"/>
          <p:cNvSpPr/>
          <p:nvPr/>
        </p:nvSpPr>
        <p:spPr>
          <a:xfrm>
            <a:off x="4754880" y="1554480"/>
            <a:ext cx="3931920" cy="457200"/>
          </a:xfrm>
          <a:prstGeom prst="roundRect">
            <a:avLst>
              <a:gd name="adj" fmla="val 16000"/>
            </a:avLst>
          </a:prstGeom>
          <a:solidFill>
            <a:srgbClr val="F1F5F9"/>
          </a:solidFill>
          <a:ln w="6350">
            <a:solidFill>
              <a:srgbClr val="FFF4EE"/>
            </a:solidFill>
            <a:prstDash val="solid"/>
          </a:ln>
        </p:spPr>
      </p:sp>
      <p:sp>
        <p:nvSpPr>
          <p:cNvPr id="31" name="Shape 23"/>
          <p:cNvSpPr/>
          <p:nvPr/>
        </p:nvSpPr>
        <p:spPr>
          <a:xfrm>
            <a:off x="4846320" y="1609344"/>
            <a:ext cx="347472" cy="347472"/>
          </a:xfrm>
          <a:prstGeom prst="ellipse">
            <a:avLst/>
          </a:prstGeom>
          <a:solidFill>
            <a:srgbClr val="3A5A8C"/>
          </a:solidFill>
          <a:ln w="12700">
            <a:solidFill>
              <a:srgbClr val="3A5A8C"/>
            </a:solidFill>
            <a:prstDash val="solid"/>
          </a:ln>
        </p:spPr>
      </p:sp>
      <p:pic>
        <p:nvPicPr>
          <p:cNvPr id="32" name="Image 6" descr="preencoded.png">    </p:cNvPr>
          <p:cNvPicPr>
            <a:picLocks noChangeAspect="1"/>
          </p:cNvPicPr>
          <p:nvPr/>
        </p:nvPicPr>
        <p:blipFill>
          <a:blip r:embed="rId7"/>
          <a:stretch>
            <a:fillRect/>
          </a:stretch>
        </p:blipFill>
        <p:spPr>
          <a:xfrm>
            <a:off x="4929713" y="1692737"/>
            <a:ext cx="180685" cy="180685"/>
          </a:xfrm>
          <a:prstGeom prst="rect">
            <a:avLst/>
          </a:prstGeom>
        </p:spPr>
      </p:pic>
      <p:sp>
        <p:nvSpPr>
          <p:cNvPr id="33" name="Text 24"/>
          <p:cNvSpPr txBox="1"/>
          <p:nvPr/>
        </p:nvSpPr>
        <p:spPr>
          <a:xfrm>
            <a:off x="5303520" y="1554480"/>
            <a:ext cx="3337560" cy="457200"/>
          </a:xfrm>
          <a:prstGeom prst="rect">
            <a:avLst/>
          </a:prstGeom>
          <a:noFill/>
          <a:ln/>
        </p:spPr>
        <p:txBody>
          <a:bodyPr wrap="square" lIns="0" tIns="0" rIns="0" bIns="0" rtlCol="0" anchor="ctr"/>
          <a:lstStyle/>
          <a:p>
            <a:pPr indent="0" marL="0">
              <a:buNone/>
            </a:pPr>
            <a:r>
              <a:rPr lang="en-US" sz="1150" b="1" dirty="0">
                <a:solidFill>
                  <a:srgbClr val="3A5A8C"/>
                </a:solidFill>
                <a:latin typeface="Calibri" pitchFamily="34" charset="0"/>
                <a:ea typeface="Calibri" pitchFamily="34" charset="-122"/>
                <a:cs typeface="Calibri" pitchFamily="34" charset="-120"/>
              </a:rPr>
              <a:t>US07  </a:t>
            </a:r>
            <a:pPr indent="0" marL="0">
              <a:buNone/>
            </a:pPr>
            <a:r>
              <a:rPr lang="en-US" sz="1150" dirty="0">
                <a:solidFill>
                  <a:srgbClr val="1E1E1E"/>
                </a:solidFill>
                <a:latin typeface="Calibri" pitchFamily="34" charset="0"/>
                <a:ea typeface="Calibri" pitchFamily="34" charset="-122"/>
                <a:cs typeface="Calibri" pitchFamily="34" charset="-120"/>
              </a:rPr>
              <a:t>Upload anonyme, sans compte</a:t>
            </a:r>
            <a:endParaRPr lang="en-US" sz="1150" dirty="0"/>
          </a:p>
        </p:txBody>
      </p:sp>
      <p:sp>
        <p:nvSpPr>
          <p:cNvPr id="34" name="Shape 25"/>
          <p:cNvSpPr/>
          <p:nvPr/>
        </p:nvSpPr>
        <p:spPr>
          <a:xfrm>
            <a:off x="4754880" y="2084832"/>
            <a:ext cx="3931920" cy="457200"/>
          </a:xfrm>
          <a:prstGeom prst="roundRect">
            <a:avLst>
              <a:gd name="adj" fmla="val 16000"/>
            </a:avLst>
          </a:prstGeom>
          <a:solidFill>
            <a:srgbClr val="F1F5F9"/>
          </a:solidFill>
          <a:ln w="6350">
            <a:solidFill>
              <a:srgbClr val="FFF4EE"/>
            </a:solidFill>
            <a:prstDash val="solid"/>
          </a:ln>
        </p:spPr>
      </p:sp>
      <p:sp>
        <p:nvSpPr>
          <p:cNvPr id="35" name="Shape 26"/>
          <p:cNvSpPr/>
          <p:nvPr/>
        </p:nvSpPr>
        <p:spPr>
          <a:xfrm>
            <a:off x="4846320" y="2139696"/>
            <a:ext cx="347472" cy="347472"/>
          </a:xfrm>
          <a:prstGeom prst="ellipse">
            <a:avLst/>
          </a:prstGeom>
          <a:solidFill>
            <a:srgbClr val="3A5A8C"/>
          </a:solidFill>
          <a:ln w="12700">
            <a:solidFill>
              <a:srgbClr val="3A5A8C"/>
            </a:solidFill>
            <a:prstDash val="solid"/>
          </a:ln>
        </p:spPr>
      </p:sp>
      <p:pic>
        <p:nvPicPr>
          <p:cNvPr id="36" name="Image 7" descr="preencoded.png">    </p:cNvPr>
          <p:cNvPicPr>
            <a:picLocks noChangeAspect="1"/>
          </p:cNvPicPr>
          <p:nvPr/>
        </p:nvPicPr>
        <p:blipFill>
          <a:blip r:embed="rId8"/>
          <a:stretch>
            <a:fillRect/>
          </a:stretch>
        </p:blipFill>
        <p:spPr>
          <a:xfrm>
            <a:off x="4929713" y="2223089"/>
            <a:ext cx="180685" cy="180685"/>
          </a:xfrm>
          <a:prstGeom prst="rect">
            <a:avLst/>
          </a:prstGeom>
        </p:spPr>
      </p:pic>
      <p:sp>
        <p:nvSpPr>
          <p:cNvPr id="37" name="Text 27"/>
          <p:cNvSpPr txBox="1"/>
          <p:nvPr/>
        </p:nvSpPr>
        <p:spPr>
          <a:xfrm>
            <a:off x="5303520" y="2084832"/>
            <a:ext cx="3337560" cy="457200"/>
          </a:xfrm>
          <a:prstGeom prst="rect">
            <a:avLst/>
          </a:prstGeom>
          <a:noFill/>
          <a:ln/>
        </p:spPr>
        <p:txBody>
          <a:bodyPr wrap="square" lIns="0" tIns="0" rIns="0" bIns="0" rtlCol="0" anchor="ctr"/>
          <a:lstStyle/>
          <a:p>
            <a:pPr indent="0" marL="0">
              <a:buNone/>
            </a:pPr>
            <a:r>
              <a:rPr lang="en-US" sz="1150" b="1" dirty="0">
                <a:solidFill>
                  <a:srgbClr val="3A5A8C"/>
                </a:solidFill>
                <a:latin typeface="Calibri" pitchFamily="34" charset="0"/>
                <a:ea typeface="Calibri" pitchFamily="34" charset="-122"/>
                <a:cs typeface="Calibri" pitchFamily="34" charset="-120"/>
              </a:rPr>
              <a:t>US08  </a:t>
            </a:r>
            <a:pPr indent="0" marL="0">
              <a:buNone/>
            </a:pPr>
            <a:r>
              <a:rPr lang="en-US" sz="1150" dirty="0">
                <a:solidFill>
                  <a:srgbClr val="1E1E1E"/>
                </a:solidFill>
                <a:latin typeface="Calibri" pitchFamily="34" charset="0"/>
                <a:ea typeface="Calibri" pitchFamily="34" charset="-122"/>
                <a:cs typeface="Calibri" pitchFamily="34" charset="-120"/>
              </a:rPr>
              <a:t>Tags à l'upload + filtre — copilote IA supervisé</a:t>
            </a:r>
            <a:endParaRPr lang="en-US" sz="1150" dirty="0"/>
          </a:p>
        </p:txBody>
      </p:sp>
      <p:sp>
        <p:nvSpPr>
          <p:cNvPr id="38" name="Shape 28"/>
          <p:cNvSpPr/>
          <p:nvPr/>
        </p:nvSpPr>
        <p:spPr>
          <a:xfrm>
            <a:off x="4754880" y="2615184"/>
            <a:ext cx="3931920" cy="457200"/>
          </a:xfrm>
          <a:prstGeom prst="roundRect">
            <a:avLst>
              <a:gd name="adj" fmla="val 16000"/>
            </a:avLst>
          </a:prstGeom>
          <a:solidFill>
            <a:srgbClr val="F1F5F9"/>
          </a:solidFill>
          <a:ln w="6350">
            <a:solidFill>
              <a:srgbClr val="FFF4EE"/>
            </a:solidFill>
            <a:prstDash val="solid"/>
          </a:ln>
        </p:spPr>
      </p:sp>
      <p:sp>
        <p:nvSpPr>
          <p:cNvPr id="39" name="Shape 29"/>
          <p:cNvSpPr/>
          <p:nvPr/>
        </p:nvSpPr>
        <p:spPr>
          <a:xfrm>
            <a:off x="4846320" y="2670048"/>
            <a:ext cx="347472" cy="347472"/>
          </a:xfrm>
          <a:prstGeom prst="ellipse">
            <a:avLst/>
          </a:prstGeom>
          <a:solidFill>
            <a:srgbClr val="3A5A8C"/>
          </a:solidFill>
          <a:ln w="12700">
            <a:solidFill>
              <a:srgbClr val="3A5A8C"/>
            </a:solidFill>
            <a:prstDash val="solid"/>
          </a:ln>
        </p:spPr>
      </p:sp>
      <p:pic>
        <p:nvPicPr>
          <p:cNvPr id="40" name="Image 8" descr="preencoded.png">    </p:cNvPr>
          <p:cNvPicPr>
            <a:picLocks noChangeAspect="1"/>
          </p:cNvPicPr>
          <p:nvPr/>
        </p:nvPicPr>
        <p:blipFill>
          <a:blip r:embed="rId9"/>
          <a:stretch>
            <a:fillRect/>
          </a:stretch>
        </p:blipFill>
        <p:spPr>
          <a:xfrm>
            <a:off x="4929713" y="2753441"/>
            <a:ext cx="180685" cy="180685"/>
          </a:xfrm>
          <a:prstGeom prst="rect">
            <a:avLst/>
          </a:prstGeom>
        </p:spPr>
      </p:pic>
      <p:sp>
        <p:nvSpPr>
          <p:cNvPr id="41" name="Text 30"/>
          <p:cNvSpPr txBox="1"/>
          <p:nvPr/>
        </p:nvSpPr>
        <p:spPr>
          <a:xfrm>
            <a:off x="5303520" y="2615184"/>
            <a:ext cx="3337560" cy="457200"/>
          </a:xfrm>
          <a:prstGeom prst="rect">
            <a:avLst/>
          </a:prstGeom>
          <a:noFill/>
          <a:ln/>
        </p:spPr>
        <p:txBody>
          <a:bodyPr wrap="square" lIns="0" tIns="0" rIns="0" bIns="0" rtlCol="0" anchor="ctr"/>
          <a:lstStyle/>
          <a:p>
            <a:pPr indent="0" marL="0">
              <a:buNone/>
            </a:pPr>
            <a:r>
              <a:rPr lang="en-US" sz="1150" b="1" dirty="0">
                <a:solidFill>
                  <a:srgbClr val="3A5A8C"/>
                </a:solidFill>
                <a:latin typeface="Calibri" pitchFamily="34" charset="0"/>
                <a:ea typeface="Calibri" pitchFamily="34" charset="-122"/>
                <a:cs typeface="Calibri" pitchFamily="34" charset="-120"/>
              </a:rPr>
              <a:t>US09  </a:t>
            </a:r>
            <a:pPr indent="0" marL="0">
              <a:buNone/>
            </a:pPr>
            <a:r>
              <a:rPr lang="en-US" sz="1150" dirty="0">
                <a:solidFill>
                  <a:srgbClr val="1E1E1E"/>
                </a:solidFill>
                <a:latin typeface="Calibri" pitchFamily="34" charset="0"/>
                <a:ea typeface="Calibri" pitchFamily="34" charset="-122"/>
                <a:cs typeface="Calibri" pitchFamily="34" charset="-120"/>
              </a:rPr>
              <a:t>Mot de passe sur le fichier (haché)</a:t>
            </a:r>
            <a:endParaRPr lang="en-US" sz="1150" dirty="0"/>
          </a:p>
        </p:txBody>
      </p:sp>
      <p:sp>
        <p:nvSpPr>
          <p:cNvPr id="42" name="Shape 31"/>
          <p:cNvSpPr/>
          <p:nvPr/>
        </p:nvSpPr>
        <p:spPr>
          <a:xfrm>
            <a:off x="4754880" y="3145536"/>
            <a:ext cx="3931920" cy="457200"/>
          </a:xfrm>
          <a:prstGeom prst="roundRect">
            <a:avLst>
              <a:gd name="adj" fmla="val 16000"/>
            </a:avLst>
          </a:prstGeom>
          <a:solidFill>
            <a:srgbClr val="F1F5F9"/>
          </a:solidFill>
          <a:ln w="6350">
            <a:solidFill>
              <a:srgbClr val="FFF4EE"/>
            </a:solidFill>
            <a:prstDash val="solid"/>
          </a:ln>
        </p:spPr>
      </p:sp>
      <p:sp>
        <p:nvSpPr>
          <p:cNvPr id="43" name="Shape 32"/>
          <p:cNvSpPr/>
          <p:nvPr/>
        </p:nvSpPr>
        <p:spPr>
          <a:xfrm>
            <a:off x="4846320" y="3200400"/>
            <a:ext cx="347472" cy="347472"/>
          </a:xfrm>
          <a:prstGeom prst="ellipse">
            <a:avLst/>
          </a:prstGeom>
          <a:solidFill>
            <a:srgbClr val="3A5A8C"/>
          </a:solidFill>
          <a:ln w="12700">
            <a:solidFill>
              <a:srgbClr val="3A5A8C"/>
            </a:solidFill>
            <a:prstDash val="solid"/>
          </a:ln>
        </p:spPr>
      </p:sp>
      <p:pic>
        <p:nvPicPr>
          <p:cNvPr id="44" name="Image 9" descr="preencoded.png">    </p:cNvPr>
          <p:cNvPicPr>
            <a:picLocks noChangeAspect="1"/>
          </p:cNvPicPr>
          <p:nvPr/>
        </p:nvPicPr>
        <p:blipFill>
          <a:blip r:embed="rId10"/>
          <a:stretch>
            <a:fillRect/>
          </a:stretch>
        </p:blipFill>
        <p:spPr>
          <a:xfrm>
            <a:off x="4929713" y="3283793"/>
            <a:ext cx="180685" cy="180685"/>
          </a:xfrm>
          <a:prstGeom prst="rect">
            <a:avLst/>
          </a:prstGeom>
        </p:spPr>
      </p:pic>
      <p:sp>
        <p:nvSpPr>
          <p:cNvPr id="45" name="Text 33"/>
          <p:cNvSpPr txBox="1"/>
          <p:nvPr/>
        </p:nvSpPr>
        <p:spPr>
          <a:xfrm>
            <a:off x="5303520" y="3145536"/>
            <a:ext cx="3337560" cy="457200"/>
          </a:xfrm>
          <a:prstGeom prst="rect">
            <a:avLst/>
          </a:prstGeom>
          <a:noFill/>
          <a:ln/>
        </p:spPr>
        <p:txBody>
          <a:bodyPr wrap="square" lIns="0" tIns="0" rIns="0" bIns="0" rtlCol="0" anchor="ctr"/>
          <a:lstStyle/>
          <a:p>
            <a:pPr indent="0" marL="0">
              <a:buNone/>
            </a:pPr>
            <a:r>
              <a:rPr lang="en-US" sz="1150" b="1" dirty="0">
                <a:solidFill>
                  <a:srgbClr val="3A5A8C"/>
                </a:solidFill>
                <a:latin typeface="Calibri" pitchFamily="34" charset="0"/>
                <a:ea typeface="Calibri" pitchFamily="34" charset="-122"/>
                <a:cs typeface="Calibri" pitchFamily="34" charset="-120"/>
              </a:rPr>
              <a:t>US10  </a:t>
            </a:r>
            <a:pPr indent="0" marL="0">
              <a:buNone/>
            </a:pPr>
            <a:r>
              <a:rPr lang="en-US" sz="1150" dirty="0">
                <a:solidFill>
                  <a:srgbClr val="1E1E1E"/>
                </a:solidFill>
                <a:latin typeface="Calibri" pitchFamily="34" charset="0"/>
                <a:ea typeface="Calibri" pitchFamily="34" charset="-122"/>
                <a:cs typeface="Calibri" pitchFamily="34" charset="-120"/>
              </a:rPr>
              <a:t>Expiration 1–7 jours, purge automatique</a:t>
            </a:r>
            <a:endParaRPr lang="en-US" sz="1150" dirty="0"/>
          </a:p>
        </p:txBody>
      </p:sp>
      <p:sp>
        <p:nvSpPr>
          <p:cNvPr id="46" name="Text 34"/>
          <p:cNvSpPr txBox="1"/>
          <p:nvPr/>
        </p:nvSpPr>
        <p:spPr>
          <a:xfrm>
            <a:off x="4754880" y="3794760"/>
            <a:ext cx="3931920" cy="731520"/>
          </a:xfrm>
          <a:prstGeom prst="rect">
            <a:avLst/>
          </a:prstGeom>
          <a:noFill/>
          <a:ln/>
        </p:spPr>
        <p:txBody>
          <a:bodyPr wrap="square" lIns="0" tIns="0" rIns="0" bIns="0" rtlCol="0" anchor="t"/>
          <a:lstStyle/>
          <a:p>
            <a:pPr indent="0" marL="0">
              <a:buNone/>
            </a:pPr>
            <a:r>
              <a:rPr lang="en-US" sz="1100" i="1" dirty="0">
                <a:solidFill>
                  <a:srgbClr val="6B6B6B"/>
                </a:solidFill>
                <a:latin typeface="Calibri" pitchFamily="34" charset="0"/>
                <a:ea typeface="Calibri" pitchFamily="34" charset="-122"/>
                <a:cs typeface="Calibri" pitchFamily="34" charset="-120"/>
              </a:rPr>
              <a:t>Écrans conformes aux maquettes Figma (accueil, connexion, inscription, Mon espace, téléchargement) · responsive mobile</a:t>
            </a:r>
            <a:endParaRPr lang="en-US" sz="1100" dirty="0"/>
          </a:p>
        </p:txBody>
      </p:sp>
      <p:sp>
        <p:nvSpPr>
          <p:cNvPr id="47" name="Text 35"/>
          <p:cNvSpPr txBox="1"/>
          <p:nvPr/>
        </p:nvSpPr>
        <p:spPr>
          <a:xfrm>
            <a:off x="457200" y="4818888"/>
            <a:ext cx="4572000" cy="228600"/>
          </a:xfrm>
          <a:prstGeom prst="rect">
            <a:avLst/>
          </a:prstGeom>
          <a:noFill/>
          <a:ln/>
        </p:spPr>
        <p:txBody>
          <a:bodyPr wrap="square" lIns="0" tIns="0" rIns="0" bIns="0" rtlCol="0" anchor="ctr"/>
          <a:lstStyle/>
          <a:p>
            <a:pPr indent="0" marL="0">
              <a:buNone/>
            </a:pPr>
            <a:r>
              <a:rPr lang="en-US" sz="900" dirty="0">
                <a:solidFill>
                  <a:srgbClr val="A0A0A0"/>
                </a:solidFill>
                <a:latin typeface="Calibri" pitchFamily="34" charset="0"/>
                <a:ea typeface="Calibri" pitchFamily="34" charset="-122"/>
                <a:cs typeface="Calibri" pitchFamily="34" charset="-120"/>
              </a:rPr>
              <a:t>DataShare — Soutenance Projet 4</a:t>
            </a:r>
            <a:endParaRPr lang="en-US" sz="900" dirty="0"/>
          </a:p>
        </p:txBody>
      </p:sp>
      <p:sp>
        <p:nvSpPr>
          <p:cNvPr id="48" name="Text 36"/>
          <p:cNvSpPr txBox="1"/>
          <p:nvPr/>
        </p:nvSpPr>
        <p:spPr>
          <a:xfrm>
            <a:off x="8229600" y="4818888"/>
            <a:ext cx="457200" cy="228600"/>
          </a:xfrm>
          <a:prstGeom prst="rect">
            <a:avLst/>
          </a:prstGeom>
          <a:noFill/>
          <a:ln/>
        </p:spPr>
        <p:txBody>
          <a:bodyPr wrap="square" lIns="0" tIns="0" rIns="0" bIns="0" rtlCol="0" anchor="ctr"/>
          <a:lstStyle/>
          <a:p>
            <a:pPr algn="r" indent="0" marL="0">
              <a:buNone/>
            </a:pPr>
            <a:r>
              <a:rPr lang="en-US" sz="900" dirty="0">
                <a:solidFill>
                  <a:srgbClr val="A0A0A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3000" b="1" dirty="0">
                <a:solidFill>
                  <a:srgbClr val="2C2C2C"/>
                </a:solidFill>
                <a:latin typeface="Calibri" pitchFamily="34" charset="0"/>
                <a:ea typeface="Calibri" pitchFamily="34" charset="-122"/>
                <a:cs typeface="Calibri" pitchFamily="34" charset="-120"/>
              </a:rPr>
              <a:t>Choix techniques et justifications</a:t>
            </a:r>
            <a:endParaRPr lang="en-US" sz="3000" dirty="0"/>
          </a:p>
        </p:txBody>
      </p:sp>
      <p:sp>
        <p:nvSpPr>
          <p:cNvPr id="3" name="Text 1"/>
          <p:cNvSpPr txBox="1"/>
          <p:nvPr/>
        </p:nvSpPr>
        <p:spPr>
          <a:xfrm>
            <a:off x="457200" y="804672"/>
            <a:ext cx="8229600" cy="292608"/>
          </a:xfrm>
          <a:prstGeom prst="rect">
            <a:avLst/>
          </a:prstGeom>
          <a:noFill/>
          <a:ln/>
        </p:spPr>
        <p:txBody>
          <a:bodyPr wrap="square" lIns="0" tIns="0" rIns="0" bIns="0" rtlCol="0" anchor="ctr"/>
          <a:lstStyle/>
          <a:p>
            <a:pPr indent="0" marL="0">
              <a:buNone/>
            </a:pPr>
            <a:r>
              <a:rPr lang="en-US" sz="1300" dirty="0">
                <a:solidFill>
                  <a:srgbClr val="6B6B6B"/>
                </a:solidFill>
                <a:latin typeface="Calibri" pitchFamily="34" charset="0"/>
                <a:ea typeface="Calibri" pitchFamily="34" charset="-122"/>
                <a:cs typeface="Calibri" pitchFamily="34" charset="-120"/>
              </a:rPr>
              <a:t>Choisis parmi les options imposées par les spécifications — critère : livrer un MVP robuste en 4 semaines</a:t>
            </a:r>
            <a:endParaRPr lang="en-US" sz="13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1143000"/>
                <a:gridCol w="1828800"/>
                <a:gridCol w="1325880"/>
                <a:gridCol w="3931920"/>
              </a:tblGrid>
              <a:tr h="29260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Couche</a:t>
                      </a:r>
                      <a:endParaRPr lang="en-US" sz="1050" dirty="0">
                        <a:latin typeface="Calibri" charset="0"/>
                        <a:ea typeface="Calibri" charset="0"/>
                        <a:cs typeface="Calibri" charset="0"/>
                      </a:endParaRPr>
                    </a:p>
                  </a:txBody>
                  <a:tcPr marL="45720" marR="45720" marT="45720" marB="45720" anchor="ctr">
                    <a:lnL w="6350" cap="flat" cmpd="sng" algn="ctr">
                      <a:solidFill>
                        <a:srgbClr val="E6E0DB"/>
                      </a:solidFill>
                      <a:prstDash val="solid"/>
                      <a:round/>
                      <a:headEnd type="none" w="med" len="med"/>
                      <a:tailEnd type="none" w="med" len="med"/>
                    </a:lnL>
                    <a:lnR w="6350" cap="flat" cmpd="sng" algn="ctr">
                      <a:solidFill>
                        <a:srgbClr val="E6E0DB"/>
                      </a:solidFill>
                      <a:prstDash val="solid"/>
                      <a:round/>
                      <a:headEnd type="none" w="med" len="med"/>
                      <a:tailEnd type="none" w="med" len="med"/>
                    </a:lnR>
                    <a:lnT w="6350" cap="flat" cmpd="sng" algn="ctr">
                      <a:solidFill>
                        <a:srgbClr val="E6E0DB"/>
                      </a:solidFill>
                      <a:prstDash val="solid"/>
                      <a:round/>
                      <a:headEnd type="none" w="med" len="med"/>
                      <a:tailEnd type="none" w="med" len="med"/>
                    </a:lnT>
                    <a:lnB w="6350" cap="flat" cmpd="sng" algn="ctr">
                      <a:solidFill>
                        <a:srgbClr val="E6E0DB"/>
                      </a:solidFill>
                      <a:prstDash val="solid"/>
                      <a:round/>
                      <a:headEnd type="none" w="med" len="med"/>
                      <a:tailEnd type="none" w="med" len="med"/>
                    </a:lnB>
                    <a:solidFill>
                      <a:srgbClr val="2C2C2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Choix</a:t>
                      </a:r>
                      <a:endParaRPr lang="en-US" sz="1050" dirty="0">
                        <a:latin typeface="Calibri" charset="0"/>
                        <a:ea typeface="Calibri" charset="0"/>
                        <a:cs typeface="Calibri" charset="0"/>
                      </a:endParaRPr>
                    </a:p>
                  </a:txBody>
                  <a:tcPr marL="45720" marR="45720" marT="45720" marB="45720" anchor="ctr">
                    <a:lnL w="6350" cap="flat" cmpd="sng" algn="ctr">
                      <a:solidFill>
                        <a:srgbClr val="E6E0DB"/>
                      </a:solidFill>
                      <a:prstDash val="solid"/>
                      <a:round/>
                      <a:headEnd type="none" w="med" len="med"/>
                      <a:tailEnd type="none" w="med" len="med"/>
                    </a:lnL>
                    <a:lnR w="6350" cap="flat" cmpd="sng" algn="ctr">
                      <a:solidFill>
                        <a:srgbClr val="E6E0DB"/>
                      </a:solidFill>
                      <a:prstDash val="solid"/>
                      <a:round/>
                      <a:headEnd type="none" w="med" len="med"/>
                      <a:tailEnd type="none" w="med" len="med"/>
                    </a:lnR>
                    <a:lnT w="6350" cap="flat" cmpd="sng" algn="ctr">
                      <a:solidFill>
                        <a:srgbClr val="E6E0DB"/>
                      </a:solidFill>
                      <a:prstDash val="solid"/>
                      <a:round/>
                      <a:headEnd type="none" w="med" len="med"/>
                      <a:tailEnd type="none" w="med" len="med"/>
                    </a:lnT>
                    <a:lnB w="6350" cap="flat" cmpd="sng" algn="ctr">
                      <a:solidFill>
                        <a:srgbClr val="E6E0DB"/>
                      </a:solidFill>
                      <a:prstDash val="solid"/>
                      <a:round/>
                      <a:headEnd type="none" w="med" len="med"/>
                      <a:tailEnd type="none" w="med" len="med"/>
                    </a:lnB>
                    <a:solidFill>
                      <a:srgbClr val="2C2C2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Écarté</a:t>
                      </a:r>
                      <a:endParaRPr lang="en-US" sz="1050" dirty="0">
                        <a:latin typeface="Calibri" charset="0"/>
                        <a:ea typeface="Calibri" charset="0"/>
                        <a:cs typeface="Calibri" charset="0"/>
                      </a:endParaRPr>
                    </a:p>
                  </a:txBody>
                  <a:tcPr marL="45720" marR="45720" marT="45720" marB="45720" anchor="ctr">
                    <a:lnL w="6350" cap="flat" cmpd="sng" algn="ctr">
                      <a:solidFill>
                        <a:srgbClr val="E6E0DB"/>
                      </a:solidFill>
                      <a:prstDash val="solid"/>
                      <a:round/>
                      <a:headEnd type="none" w="med" len="med"/>
                      <a:tailEnd type="none" w="med" len="med"/>
                    </a:lnL>
                    <a:lnR w="6350" cap="flat" cmpd="sng" algn="ctr">
                      <a:solidFill>
                        <a:srgbClr val="E6E0DB"/>
                      </a:solidFill>
                      <a:prstDash val="solid"/>
                      <a:round/>
                      <a:headEnd type="none" w="med" len="med"/>
                      <a:tailEnd type="none" w="med" len="med"/>
                    </a:lnR>
                    <a:lnT w="6350" cap="flat" cmpd="sng" algn="ctr">
                      <a:solidFill>
                        <a:srgbClr val="E6E0DB"/>
                      </a:solidFill>
                      <a:prstDash val="solid"/>
                      <a:round/>
                      <a:headEnd type="none" w="med" len="med"/>
                      <a:tailEnd type="none" w="med" len="med"/>
                    </a:lnT>
                    <a:lnB w="6350" cap="flat" cmpd="sng" algn="ctr">
                      <a:solidFill>
                        <a:srgbClr val="E6E0DB"/>
                      </a:solidFill>
                      <a:prstDash val="solid"/>
                      <a:round/>
                      <a:headEnd type="none" w="med" len="med"/>
                      <a:tailEnd type="none" w="med" len="med"/>
                    </a:lnB>
                    <a:solidFill>
                      <a:srgbClr val="2C2C2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Pourquoi</a:t>
                      </a:r>
                      <a:endParaRPr lang="en-US" sz="1050" dirty="0">
                        <a:latin typeface="Calibri" charset="0"/>
                        <a:ea typeface="Calibri" charset="0"/>
                        <a:cs typeface="Calibri" charset="0"/>
                      </a:endParaRPr>
                    </a:p>
                  </a:txBody>
                  <a:tcPr marL="45720" marR="45720" marT="45720" marB="45720" anchor="ctr">
                    <a:lnL w="6350" cap="flat" cmpd="sng" algn="ctr">
                      <a:solidFill>
                        <a:srgbClr val="E6E0DB"/>
                      </a:solidFill>
                      <a:prstDash val="solid"/>
                      <a:round/>
                      <a:headEnd type="none" w="med" len="med"/>
                      <a:tailEnd type="none" w="med" len="med"/>
                    </a:lnL>
                    <a:lnR w="6350" cap="flat" cmpd="sng" algn="ctr">
                      <a:solidFill>
                        <a:srgbClr val="E6E0DB"/>
                      </a:solidFill>
                      <a:prstDash val="solid"/>
                      <a:round/>
                      <a:headEnd type="none" w="med" len="med"/>
                      <a:tailEnd type="none" w="med" len="med"/>
                    </a:lnR>
                    <a:lnT w="6350" cap="flat" cmpd="sng" algn="ctr">
                      <a:solidFill>
                        <a:srgbClr val="E6E0DB"/>
                      </a:solidFill>
                      <a:prstDash val="solid"/>
                      <a:round/>
                      <a:headEnd type="none" w="med" len="med"/>
                      <a:tailEnd type="none" w="med" len="med"/>
                    </a:lnT>
                    <a:lnB w="6350" cap="flat" cmpd="sng" algn="ctr">
                      <a:solidFill>
                        <a:srgbClr val="E6E0DB"/>
                      </a:solidFill>
                      <a:prstDash val="solid"/>
                      <a:round/>
                      <a:headEnd type="none" w="med" len="med"/>
                      <a:tailEnd type="none" w="med" len="med"/>
                    </a:lnB>
                    <a:solidFill>
                      <a:srgbClr val="2C2C2C"/>
                    </a:solidFill>
                  </a:tcPr>
                </a:tc>
              </a:tr>
              <a:tr h="658368">
                <a:tc>
                  <a:txBody>
                    <a:bodyPr/>
                    <a:lstStyle/>
                    <a:p>
                      <a:pPr indent="0" marL="0">
                        <a:buNone/>
                      </a:pPr>
                      <a:r>
                        <a:rPr lang="en-US" sz="1050" b="1" dirty="0">
                          <a:solidFill>
                            <a:srgbClr val="1E1E1E"/>
                          </a:solidFill>
                          <a:latin typeface="Calibri" pitchFamily="34" charset="0"/>
                          <a:ea typeface="Calibri" pitchFamily="34" charset="-122"/>
                          <a:cs typeface="Calibri" pitchFamily="34" charset="-120"/>
                        </a:rPr>
                        <a:t>Backend</a:t>
                      </a:r>
                      <a:endParaRPr lang="en-US" sz="1050" dirty="0">
                        <a:latin typeface="Calibri" charset="0"/>
                        <a:ea typeface="Calibri" charset="0"/>
                        <a:cs typeface="Calibri" charset="0"/>
                      </a:endParaRPr>
                    </a:p>
                  </a:txBody>
                  <a:tcPr marL="45720" marR="45720" marT="45720" marB="45720" anchor="ctr">
                    <a:lnL w="6350" cap="flat" cmpd="sng" algn="ctr">
                      <a:solidFill>
                        <a:srgbClr val="E6E0DB"/>
                      </a:solidFill>
                      <a:prstDash val="solid"/>
                      <a:round/>
                      <a:headEnd type="none" w="med" len="med"/>
                      <a:tailEnd type="none" w="med" len="med"/>
                    </a:lnL>
                    <a:lnR w="6350" cap="flat" cmpd="sng" algn="ctr">
                      <a:solidFill>
                        <a:srgbClr val="E6E0DB"/>
                      </a:solidFill>
                      <a:prstDash val="solid"/>
                      <a:round/>
                      <a:headEnd type="none" w="med" len="med"/>
                      <a:tailEnd type="none" w="med" len="med"/>
                    </a:lnR>
                    <a:lnT w="6350" cap="flat" cmpd="sng" algn="ctr">
                      <a:solidFill>
                        <a:srgbClr val="E6E0DB"/>
                      </a:solidFill>
                      <a:prstDash val="solid"/>
                      <a:round/>
                      <a:headEnd type="none" w="med" len="med"/>
                      <a:tailEnd type="none" w="med" len="med"/>
                    </a:lnT>
                    <a:lnB w="6350" cap="flat" cmpd="sng" algn="ctr">
                      <a:solidFill>
                        <a:srgbClr val="E6E0DB"/>
                      </a:solidFill>
                      <a:prstDash val="solid"/>
                      <a:round/>
                      <a:headEnd type="none" w="med" len="med"/>
                      <a:tailEnd type="none" w="med" len="med"/>
                    </a:lnB>
                  </a:tcPr>
                </a:tc>
                <a:tc>
                  <a:txBody>
                    <a:bodyPr/>
                    <a:lstStyle/>
                    <a:p>
                      <a:pPr indent="0" marL="0">
                        <a:buNone/>
                      </a:pPr>
                      <a:r>
                        <a:rPr lang="en-US" sz="1050" b="1" dirty="0">
                          <a:solidFill>
                            <a:srgbClr val="DE6262"/>
                          </a:solidFill>
                          <a:latin typeface="Calibri" pitchFamily="34" charset="0"/>
                          <a:ea typeface="Calibri" pitchFamily="34" charset="-122"/>
                          <a:cs typeface="Calibri" pitchFamily="34" charset="-120"/>
                        </a:rPr>
                        <a:t>ASP.NET Core 9 (C#)</a:t>
                      </a:r>
                      <a:endParaRPr lang="en-US" sz="1050" dirty="0">
                        <a:latin typeface="Calibri" charset="0"/>
                        <a:ea typeface="Calibri" charset="0"/>
                        <a:cs typeface="Calibri" charset="0"/>
                      </a:endParaRPr>
                    </a:p>
                  </a:txBody>
                  <a:tcPr marL="45720" marR="45720" marT="45720" marB="45720" anchor="ctr">
                    <a:lnL w="6350" cap="flat" cmpd="sng" algn="ctr">
                      <a:solidFill>
                        <a:srgbClr val="E6E0DB"/>
                      </a:solidFill>
                      <a:prstDash val="solid"/>
                      <a:round/>
                      <a:headEnd type="none" w="med" len="med"/>
                      <a:tailEnd type="none" w="med" len="med"/>
                    </a:lnL>
                    <a:lnR w="6350" cap="flat" cmpd="sng" algn="ctr">
                      <a:solidFill>
                        <a:srgbClr val="E6E0DB"/>
                      </a:solidFill>
                      <a:prstDash val="solid"/>
                      <a:round/>
                      <a:headEnd type="none" w="med" len="med"/>
                      <a:tailEnd type="none" w="med" len="med"/>
                    </a:lnR>
                    <a:lnT w="6350" cap="flat" cmpd="sng" algn="ctr">
                      <a:solidFill>
                        <a:srgbClr val="E6E0DB"/>
                      </a:solidFill>
                      <a:prstDash val="solid"/>
                      <a:round/>
                      <a:headEnd type="none" w="med" len="med"/>
                      <a:tailEnd type="none" w="med" len="med"/>
                    </a:lnT>
                    <a:lnB w="6350" cap="flat" cmpd="sng" algn="ctr">
                      <a:solidFill>
                        <a:srgbClr val="E6E0DB"/>
                      </a:solidFill>
                      <a:prstDash val="solid"/>
                      <a:round/>
                      <a:headEnd type="none" w="med" len="med"/>
                      <a:tailEnd type="none" w="med" len="med"/>
                    </a:lnB>
                  </a:tcPr>
                </a:tc>
                <a:tc>
                  <a:txBody>
                    <a:bodyPr/>
                    <a:lstStyle/>
                    <a:p>
                      <a:pPr indent="0" marL="0">
                        <a:buNone/>
                      </a:pPr>
                      <a:r>
                        <a:rPr lang="en-US" sz="1050" dirty="0">
                          <a:solidFill>
                            <a:srgbClr val="1E1E1E"/>
                          </a:solidFill>
                          <a:latin typeface="Calibri" pitchFamily="34" charset="0"/>
                          <a:ea typeface="Calibri" pitchFamily="34" charset="-122"/>
                          <a:cs typeface="Calibri" pitchFamily="34" charset="-120"/>
                        </a:rPr>
                        <a:t>Spring, NestJS, Symfony</a:t>
                      </a:r>
                      <a:endParaRPr lang="en-US" sz="1050" dirty="0">
                        <a:latin typeface="Calibri" charset="0"/>
                        <a:ea typeface="Calibri" charset="0"/>
                        <a:cs typeface="Calibri" charset="0"/>
                      </a:endParaRPr>
                    </a:p>
                  </a:txBody>
                  <a:tcPr marL="45720" marR="45720" marT="45720" marB="45720" anchor="ctr">
                    <a:lnL w="6350" cap="flat" cmpd="sng" algn="ctr">
                      <a:solidFill>
                        <a:srgbClr val="E6E0DB"/>
                      </a:solidFill>
                      <a:prstDash val="solid"/>
                      <a:round/>
                      <a:headEnd type="none" w="med" len="med"/>
                      <a:tailEnd type="none" w="med" len="med"/>
                    </a:lnL>
                    <a:lnR w="6350" cap="flat" cmpd="sng" algn="ctr">
                      <a:solidFill>
                        <a:srgbClr val="E6E0DB"/>
                      </a:solidFill>
                      <a:prstDash val="solid"/>
                      <a:round/>
                      <a:headEnd type="none" w="med" len="med"/>
                      <a:tailEnd type="none" w="med" len="med"/>
                    </a:lnR>
                    <a:lnT w="6350" cap="flat" cmpd="sng" algn="ctr">
                      <a:solidFill>
                        <a:srgbClr val="E6E0DB"/>
                      </a:solidFill>
                      <a:prstDash val="solid"/>
                      <a:round/>
                      <a:headEnd type="none" w="med" len="med"/>
                      <a:tailEnd type="none" w="med" len="med"/>
                    </a:lnT>
                    <a:lnB w="6350" cap="flat" cmpd="sng" algn="ctr">
                      <a:solidFill>
                        <a:srgbClr val="E6E0DB"/>
                      </a:solidFill>
                      <a:prstDash val="solid"/>
                      <a:round/>
                      <a:headEnd type="none" w="med" len="med"/>
                      <a:tailEnd type="none" w="med" len="med"/>
                    </a:lnB>
                  </a:tcPr>
                </a:tc>
                <a:tc>
                  <a:txBody>
                    <a:bodyPr/>
                    <a:lstStyle/>
                    <a:p>
                      <a:pPr indent="0" marL="0">
                        <a:buNone/>
                      </a:pPr>
                      <a:r>
                        <a:rPr lang="en-US" sz="1050" dirty="0">
                          <a:solidFill>
                            <a:srgbClr val="1E1E1E"/>
                          </a:solidFill>
                          <a:latin typeface="Calibri" pitchFamily="34" charset="0"/>
                          <a:ea typeface="Calibri" pitchFamily="34" charset="-122"/>
                          <a:cs typeface="Calibri" pitchFamily="34" charset="-120"/>
                        </a:rPr>
                        <a:t>Identity intégré (hachage PBKDF2, comptes sans code maison), EF Core (requêtes paramétrées), BackgroundService pour la purge, I/O asynchrones — P95 upload 125 ms sous 20 utilisateurs</a:t>
                      </a:r>
                      <a:endParaRPr lang="en-US" sz="1050" dirty="0">
                        <a:latin typeface="Calibri" charset="0"/>
                        <a:ea typeface="Calibri" charset="0"/>
                        <a:cs typeface="Calibri" charset="0"/>
                      </a:endParaRPr>
                    </a:p>
                  </a:txBody>
                  <a:tcPr marL="45720" marR="45720" marT="45720" marB="45720" anchor="ctr">
                    <a:lnL w="6350" cap="flat" cmpd="sng" algn="ctr">
                      <a:solidFill>
                        <a:srgbClr val="E6E0DB"/>
                      </a:solidFill>
                      <a:prstDash val="solid"/>
                      <a:round/>
                      <a:headEnd type="none" w="med" len="med"/>
                      <a:tailEnd type="none" w="med" len="med"/>
                    </a:lnL>
                    <a:lnR w="6350" cap="flat" cmpd="sng" algn="ctr">
                      <a:solidFill>
                        <a:srgbClr val="E6E0DB"/>
                      </a:solidFill>
                      <a:prstDash val="solid"/>
                      <a:round/>
                      <a:headEnd type="none" w="med" len="med"/>
                      <a:tailEnd type="none" w="med" len="med"/>
                    </a:lnR>
                    <a:lnT w="6350" cap="flat" cmpd="sng" algn="ctr">
                      <a:solidFill>
                        <a:srgbClr val="E6E0DB"/>
                      </a:solidFill>
                      <a:prstDash val="solid"/>
                      <a:round/>
                      <a:headEnd type="none" w="med" len="med"/>
                      <a:tailEnd type="none" w="med" len="med"/>
                    </a:lnT>
                    <a:lnB w="6350" cap="flat" cmpd="sng" algn="ctr">
                      <a:solidFill>
                        <a:srgbClr val="E6E0DB"/>
                      </a:solidFill>
                      <a:prstDash val="solid"/>
                      <a:round/>
                      <a:headEnd type="none" w="med" len="med"/>
                      <a:tailEnd type="none" w="med" len="med"/>
                    </a:lnB>
                  </a:tcPr>
                </a:tc>
              </a:tr>
              <a:tr h="566928">
                <a:tc>
                  <a:txBody>
                    <a:bodyPr/>
                    <a:lstStyle/>
                    <a:p>
                      <a:pPr indent="0" marL="0">
                        <a:buNone/>
                      </a:pPr>
                      <a:r>
                        <a:rPr lang="en-US" sz="1050" b="1" dirty="0">
                          <a:solidFill>
                            <a:srgbClr val="1E1E1E"/>
                          </a:solidFill>
                          <a:latin typeface="Calibri" pitchFamily="34" charset="0"/>
                          <a:ea typeface="Calibri" pitchFamily="34" charset="-122"/>
                          <a:cs typeface="Calibri" pitchFamily="34" charset="-120"/>
                        </a:rPr>
                        <a:t>Frontend</a:t>
                      </a:r>
                      <a:endParaRPr lang="en-US" sz="1050" dirty="0">
                        <a:latin typeface="Calibri" charset="0"/>
                        <a:ea typeface="Calibri" charset="0"/>
                        <a:cs typeface="Calibri" charset="0"/>
                      </a:endParaRPr>
                    </a:p>
                  </a:txBody>
                  <a:tcPr marL="45720" marR="45720" marT="45720" marB="45720" anchor="ctr">
                    <a:lnL w="6350" cap="flat" cmpd="sng" algn="ctr">
                      <a:solidFill>
                        <a:srgbClr val="E6E0DB"/>
                      </a:solidFill>
                      <a:prstDash val="solid"/>
                      <a:round/>
                      <a:headEnd type="none" w="med" len="med"/>
                      <a:tailEnd type="none" w="med" len="med"/>
                    </a:lnL>
                    <a:lnR w="6350" cap="flat" cmpd="sng" algn="ctr">
                      <a:solidFill>
                        <a:srgbClr val="E6E0DB"/>
                      </a:solidFill>
                      <a:prstDash val="solid"/>
                      <a:round/>
                      <a:headEnd type="none" w="med" len="med"/>
                      <a:tailEnd type="none" w="med" len="med"/>
                    </a:lnR>
                    <a:lnT w="6350" cap="flat" cmpd="sng" algn="ctr">
                      <a:solidFill>
                        <a:srgbClr val="E6E0DB"/>
                      </a:solidFill>
                      <a:prstDash val="solid"/>
                      <a:round/>
                      <a:headEnd type="none" w="med" len="med"/>
                      <a:tailEnd type="none" w="med" len="med"/>
                    </a:lnT>
                    <a:lnB w="6350" cap="flat" cmpd="sng" algn="ctr">
                      <a:solidFill>
                        <a:srgbClr val="E6E0DB"/>
                      </a:solidFill>
                      <a:prstDash val="solid"/>
                      <a:round/>
                      <a:headEnd type="none" w="med" len="med"/>
                      <a:tailEnd type="none" w="med" len="med"/>
                    </a:lnB>
                  </a:tcPr>
                </a:tc>
                <a:tc>
                  <a:txBody>
                    <a:bodyPr/>
                    <a:lstStyle/>
                    <a:p>
                      <a:pPr indent="0" marL="0">
                        <a:buNone/>
                      </a:pPr>
                      <a:r>
                        <a:rPr lang="en-US" sz="1050" b="1" dirty="0">
                          <a:solidFill>
                            <a:srgbClr val="DE6262"/>
                          </a:solidFill>
                          <a:latin typeface="Calibri" pitchFamily="34" charset="0"/>
                          <a:ea typeface="Calibri" pitchFamily="34" charset="-122"/>
                          <a:cs typeface="Calibri" pitchFamily="34" charset="-120"/>
                        </a:rPr>
                        <a:t>Vue 3 + TypeScript + Vite</a:t>
                      </a:r>
                      <a:endParaRPr lang="en-US" sz="1050" dirty="0">
                        <a:latin typeface="Calibri" charset="0"/>
                        <a:ea typeface="Calibri" charset="0"/>
                        <a:cs typeface="Calibri" charset="0"/>
                      </a:endParaRPr>
                    </a:p>
                  </a:txBody>
                  <a:tcPr marL="45720" marR="45720" marT="45720" marB="45720" anchor="ctr">
                    <a:lnL w="6350" cap="flat" cmpd="sng" algn="ctr">
                      <a:solidFill>
                        <a:srgbClr val="E6E0DB"/>
                      </a:solidFill>
                      <a:prstDash val="solid"/>
                      <a:round/>
                      <a:headEnd type="none" w="med" len="med"/>
                      <a:tailEnd type="none" w="med" len="med"/>
                    </a:lnL>
                    <a:lnR w="6350" cap="flat" cmpd="sng" algn="ctr">
                      <a:solidFill>
                        <a:srgbClr val="E6E0DB"/>
                      </a:solidFill>
                      <a:prstDash val="solid"/>
                      <a:round/>
                      <a:headEnd type="none" w="med" len="med"/>
                      <a:tailEnd type="none" w="med" len="med"/>
                    </a:lnR>
                    <a:lnT w="6350" cap="flat" cmpd="sng" algn="ctr">
                      <a:solidFill>
                        <a:srgbClr val="E6E0DB"/>
                      </a:solidFill>
                      <a:prstDash val="solid"/>
                      <a:round/>
                      <a:headEnd type="none" w="med" len="med"/>
                      <a:tailEnd type="none" w="med" len="med"/>
                    </a:lnT>
                    <a:lnB w="6350" cap="flat" cmpd="sng" algn="ctr">
                      <a:solidFill>
                        <a:srgbClr val="E6E0DB"/>
                      </a:solidFill>
                      <a:prstDash val="solid"/>
                      <a:round/>
                      <a:headEnd type="none" w="med" len="med"/>
                      <a:tailEnd type="none" w="med" len="med"/>
                    </a:lnB>
                  </a:tcPr>
                </a:tc>
                <a:tc>
                  <a:txBody>
                    <a:bodyPr/>
                    <a:lstStyle/>
                    <a:p>
                      <a:pPr indent="0" marL="0">
                        <a:buNone/>
                      </a:pPr>
                      <a:r>
                        <a:rPr lang="en-US" sz="1050" dirty="0">
                          <a:solidFill>
                            <a:srgbClr val="1E1E1E"/>
                          </a:solidFill>
                          <a:latin typeface="Calibri" pitchFamily="34" charset="0"/>
                          <a:ea typeface="Calibri" pitchFamily="34" charset="-122"/>
                          <a:cs typeface="Calibri" pitchFamily="34" charset="-120"/>
                        </a:rPr>
                        <a:t>Angular, React</a:t>
                      </a:r>
                      <a:endParaRPr lang="en-US" sz="1050" dirty="0">
                        <a:latin typeface="Calibri" charset="0"/>
                        <a:ea typeface="Calibri" charset="0"/>
                        <a:cs typeface="Calibri" charset="0"/>
                      </a:endParaRPr>
                    </a:p>
                  </a:txBody>
                  <a:tcPr marL="45720" marR="45720" marT="45720" marB="45720" anchor="ctr">
                    <a:lnL w="6350" cap="flat" cmpd="sng" algn="ctr">
                      <a:solidFill>
                        <a:srgbClr val="E6E0DB"/>
                      </a:solidFill>
                      <a:prstDash val="solid"/>
                      <a:round/>
                      <a:headEnd type="none" w="med" len="med"/>
                      <a:tailEnd type="none" w="med" len="med"/>
                    </a:lnL>
                    <a:lnR w="6350" cap="flat" cmpd="sng" algn="ctr">
                      <a:solidFill>
                        <a:srgbClr val="E6E0DB"/>
                      </a:solidFill>
                      <a:prstDash val="solid"/>
                      <a:round/>
                      <a:headEnd type="none" w="med" len="med"/>
                      <a:tailEnd type="none" w="med" len="med"/>
                    </a:lnR>
                    <a:lnT w="6350" cap="flat" cmpd="sng" algn="ctr">
                      <a:solidFill>
                        <a:srgbClr val="E6E0DB"/>
                      </a:solidFill>
                      <a:prstDash val="solid"/>
                      <a:round/>
                      <a:headEnd type="none" w="med" len="med"/>
                      <a:tailEnd type="none" w="med" len="med"/>
                    </a:lnT>
                    <a:lnB w="6350" cap="flat" cmpd="sng" algn="ctr">
                      <a:solidFill>
                        <a:srgbClr val="E6E0DB"/>
                      </a:solidFill>
                      <a:prstDash val="solid"/>
                      <a:round/>
                      <a:headEnd type="none" w="med" len="med"/>
                      <a:tailEnd type="none" w="med" len="med"/>
                    </a:lnB>
                  </a:tcPr>
                </a:tc>
                <a:tc>
                  <a:txBody>
                    <a:bodyPr/>
                    <a:lstStyle/>
                    <a:p>
                      <a:pPr indent="0" marL="0">
                        <a:buNone/>
                      </a:pPr>
                      <a:r>
                        <a:rPr lang="en-US" sz="1050" dirty="0">
                          <a:solidFill>
                            <a:srgbClr val="1E1E1E"/>
                          </a:solidFill>
                          <a:latin typeface="Calibri" pitchFamily="34" charset="0"/>
                          <a:ea typeface="Calibri" pitchFamily="34" charset="-122"/>
                          <a:cs typeface="Calibri" pitchFamily="34" charset="-120"/>
                        </a:rPr>
                        <a:t>Typage de bout en bout (vue-tsc), bundle initial 57 Ko gzip, lazy loading des vues, écosystème simple (Pinia, Vue Router, Axios)</a:t>
                      </a:r>
                      <a:endParaRPr lang="en-US" sz="1050" dirty="0">
                        <a:latin typeface="Calibri" charset="0"/>
                        <a:ea typeface="Calibri" charset="0"/>
                        <a:cs typeface="Calibri" charset="0"/>
                      </a:endParaRPr>
                    </a:p>
                  </a:txBody>
                  <a:tcPr marL="45720" marR="45720" marT="45720" marB="45720" anchor="ctr">
                    <a:lnL w="6350" cap="flat" cmpd="sng" algn="ctr">
                      <a:solidFill>
                        <a:srgbClr val="E6E0DB"/>
                      </a:solidFill>
                      <a:prstDash val="solid"/>
                      <a:round/>
                      <a:headEnd type="none" w="med" len="med"/>
                      <a:tailEnd type="none" w="med" len="med"/>
                    </a:lnL>
                    <a:lnR w="6350" cap="flat" cmpd="sng" algn="ctr">
                      <a:solidFill>
                        <a:srgbClr val="E6E0DB"/>
                      </a:solidFill>
                      <a:prstDash val="solid"/>
                      <a:round/>
                      <a:headEnd type="none" w="med" len="med"/>
                      <a:tailEnd type="none" w="med" len="med"/>
                    </a:lnR>
                    <a:lnT w="6350" cap="flat" cmpd="sng" algn="ctr">
                      <a:solidFill>
                        <a:srgbClr val="E6E0DB"/>
                      </a:solidFill>
                      <a:prstDash val="solid"/>
                      <a:round/>
                      <a:headEnd type="none" w="med" len="med"/>
                      <a:tailEnd type="none" w="med" len="med"/>
                    </a:lnT>
                    <a:lnB w="6350" cap="flat" cmpd="sng" algn="ctr">
                      <a:solidFill>
                        <a:srgbClr val="E6E0DB"/>
                      </a:solidFill>
                      <a:prstDash val="solid"/>
                      <a:round/>
                      <a:headEnd type="none" w="med" len="med"/>
                      <a:tailEnd type="none" w="med" len="med"/>
                    </a:lnB>
                  </a:tcPr>
                </a:tc>
              </a:tr>
              <a:tr h="566928">
                <a:tc>
                  <a:txBody>
                    <a:bodyPr/>
                    <a:lstStyle/>
                    <a:p>
                      <a:pPr indent="0" marL="0">
                        <a:buNone/>
                      </a:pPr>
                      <a:r>
                        <a:rPr lang="en-US" sz="1050" b="1" dirty="0">
                          <a:solidFill>
                            <a:srgbClr val="1E1E1E"/>
                          </a:solidFill>
                          <a:latin typeface="Calibri" pitchFamily="34" charset="0"/>
                          <a:ea typeface="Calibri" pitchFamily="34" charset="-122"/>
                          <a:cs typeface="Calibri" pitchFamily="34" charset="-120"/>
                        </a:rPr>
                        <a:t>Base de données</a:t>
                      </a:r>
                      <a:endParaRPr lang="en-US" sz="1050" dirty="0">
                        <a:latin typeface="Calibri" charset="0"/>
                        <a:ea typeface="Calibri" charset="0"/>
                        <a:cs typeface="Calibri" charset="0"/>
                      </a:endParaRPr>
                    </a:p>
                  </a:txBody>
                  <a:tcPr marL="45720" marR="45720" marT="45720" marB="45720" anchor="ctr">
                    <a:lnL w="6350" cap="flat" cmpd="sng" algn="ctr">
                      <a:solidFill>
                        <a:srgbClr val="E6E0DB"/>
                      </a:solidFill>
                      <a:prstDash val="solid"/>
                      <a:round/>
                      <a:headEnd type="none" w="med" len="med"/>
                      <a:tailEnd type="none" w="med" len="med"/>
                    </a:lnL>
                    <a:lnR w="6350" cap="flat" cmpd="sng" algn="ctr">
                      <a:solidFill>
                        <a:srgbClr val="E6E0DB"/>
                      </a:solidFill>
                      <a:prstDash val="solid"/>
                      <a:round/>
                      <a:headEnd type="none" w="med" len="med"/>
                      <a:tailEnd type="none" w="med" len="med"/>
                    </a:lnR>
                    <a:lnT w="6350" cap="flat" cmpd="sng" algn="ctr">
                      <a:solidFill>
                        <a:srgbClr val="E6E0DB"/>
                      </a:solidFill>
                      <a:prstDash val="solid"/>
                      <a:round/>
                      <a:headEnd type="none" w="med" len="med"/>
                      <a:tailEnd type="none" w="med" len="med"/>
                    </a:lnT>
                    <a:lnB w="6350" cap="flat" cmpd="sng" algn="ctr">
                      <a:solidFill>
                        <a:srgbClr val="E6E0DB"/>
                      </a:solidFill>
                      <a:prstDash val="solid"/>
                      <a:round/>
                      <a:headEnd type="none" w="med" len="med"/>
                      <a:tailEnd type="none" w="med" len="med"/>
                    </a:lnB>
                  </a:tcPr>
                </a:tc>
                <a:tc>
                  <a:txBody>
                    <a:bodyPr/>
                    <a:lstStyle/>
                    <a:p>
                      <a:pPr indent="0" marL="0">
                        <a:buNone/>
                      </a:pPr>
                      <a:r>
                        <a:rPr lang="en-US" sz="1050" b="1" dirty="0">
                          <a:solidFill>
                            <a:srgbClr val="DE6262"/>
                          </a:solidFill>
                          <a:latin typeface="Calibri" pitchFamily="34" charset="0"/>
                          <a:ea typeface="Calibri" pitchFamily="34" charset="-122"/>
                          <a:cs typeface="Calibri" pitchFamily="34" charset="-120"/>
                        </a:rPr>
                        <a:t>PostgreSQL 16</a:t>
                      </a:r>
                      <a:endParaRPr lang="en-US" sz="1050" dirty="0">
                        <a:latin typeface="Calibri" charset="0"/>
                        <a:ea typeface="Calibri" charset="0"/>
                        <a:cs typeface="Calibri" charset="0"/>
                      </a:endParaRPr>
                    </a:p>
                  </a:txBody>
                  <a:tcPr marL="45720" marR="45720" marT="45720" marB="45720" anchor="ctr">
                    <a:lnL w="6350" cap="flat" cmpd="sng" algn="ctr">
                      <a:solidFill>
                        <a:srgbClr val="E6E0DB"/>
                      </a:solidFill>
                      <a:prstDash val="solid"/>
                      <a:round/>
                      <a:headEnd type="none" w="med" len="med"/>
                      <a:tailEnd type="none" w="med" len="med"/>
                    </a:lnL>
                    <a:lnR w="6350" cap="flat" cmpd="sng" algn="ctr">
                      <a:solidFill>
                        <a:srgbClr val="E6E0DB"/>
                      </a:solidFill>
                      <a:prstDash val="solid"/>
                      <a:round/>
                      <a:headEnd type="none" w="med" len="med"/>
                      <a:tailEnd type="none" w="med" len="med"/>
                    </a:lnR>
                    <a:lnT w="6350" cap="flat" cmpd="sng" algn="ctr">
                      <a:solidFill>
                        <a:srgbClr val="E6E0DB"/>
                      </a:solidFill>
                      <a:prstDash val="solid"/>
                      <a:round/>
                      <a:headEnd type="none" w="med" len="med"/>
                      <a:tailEnd type="none" w="med" len="med"/>
                    </a:lnT>
                    <a:lnB w="6350" cap="flat" cmpd="sng" algn="ctr">
                      <a:solidFill>
                        <a:srgbClr val="E6E0DB"/>
                      </a:solidFill>
                      <a:prstDash val="solid"/>
                      <a:round/>
                      <a:headEnd type="none" w="med" len="med"/>
                      <a:tailEnd type="none" w="med" len="med"/>
                    </a:lnB>
                  </a:tcPr>
                </a:tc>
                <a:tc>
                  <a:txBody>
                    <a:bodyPr/>
                    <a:lstStyle/>
                    <a:p>
                      <a:pPr indent="0" marL="0">
                        <a:buNone/>
                      </a:pPr>
                      <a:r>
                        <a:rPr lang="en-US" sz="1050" dirty="0">
                          <a:solidFill>
                            <a:srgbClr val="1E1E1E"/>
                          </a:solidFill>
                          <a:latin typeface="Calibri" pitchFamily="34" charset="0"/>
                          <a:ea typeface="Calibri" pitchFamily="34" charset="-122"/>
                          <a:cs typeface="Calibri" pitchFamily="34" charset="-120"/>
                        </a:rPr>
                        <a:t>MongoDB</a:t>
                      </a:r>
                      <a:endParaRPr lang="en-US" sz="1050" dirty="0">
                        <a:latin typeface="Calibri" charset="0"/>
                        <a:ea typeface="Calibri" charset="0"/>
                        <a:cs typeface="Calibri" charset="0"/>
                      </a:endParaRPr>
                    </a:p>
                  </a:txBody>
                  <a:tcPr marL="45720" marR="45720" marT="45720" marB="45720" anchor="ctr">
                    <a:lnL w="6350" cap="flat" cmpd="sng" algn="ctr">
                      <a:solidFill>
                        <a:srgbClr val="E6E0DB"/>
                      </a:solidFill>
                      <a:prstDash val="solid"/>
                      <a:round/>
                      <a:headEnd type="none" w="med" len="med"/>
                      <a:tailEnd type="none" w="med" len="med"/>
                    </a:lnL>
                    <a:lnR w="6350" cap="flat" cmpd="sng" algn="ctr">
                      <a:solidFill>
                        <a:srgbClr val="E6E0DB"/>
                      </a:solidFill>
                      <a:prstDash val="solid"/>
                      <a:round/>
                      <a:headEnd type="none" w="med" len="med"/>
                      <a:tailEnd type="none" w="med" len="med"/>
                    </a:lnR>
                    <a:lnT w="6350" cap="flat" cmpd="sng" algn="ctr">
                      <a:solidFill>
                        <a:srgbClr val="E6E0DB"/>
                      </a:solidFill>
                      <a:prstDash val="solid"/>
                      <a:round/>
                      <a:headEnd type="none" w="med" len="med"/>
                      <a:tailEnd type="none" w="med" len="med"/>
                    </a:lnT>
                    <a:lnB w="6350" cap="flat" cmpd="sng" algn="ctr">
                      <a:solidFill>
                        <a:srgbClr val="E6E0DB"/>
                      </a:solidFill>
                      <a:prstDash val="solid"/>
                      <a:round/>
                      <a:headEnd type="none" w="med" len="med"/>
                      <a:tailEnd type="none" w="med" len="med"/>
                    </a:lnB>
                  </a:tcPr>
                </a:tc>
                <a:tc>
                  <a:txBody>
                    <a:bodyPr/>
                    <a:lstStyle/>
                    <a:p>
                      <a:pPr indent="0" marL="0">
                        <a:buNone/>
                      </a:pPr>
                      <a:r>
                        <a:rPr lang="en-US" sz="1050" dirty="0">
                          <a:solidFill>
                            <a:srgbClr val="1E1E1E"/>
                          </a:solidFill>
                          <a:latin typeface="Calibri" pitchFamily="34" charset="0"/>
                          <a:ea typeface="Calibri" pitchFamily="34" charset="-122"/>
                          <a:cs typeface="Calibri" pitchFamily="34" charset="-120"/>
                        </a:rPr>
                        <a:t>Données relationnelles (utilisateur → fichiers), type natif text[] pour les tags, transactions ACID, migrations EF Core</a:t>
                      </a:r>
                      <a:endParaRPr lang="en-US" sz="1050" dirty="0">
                        <a:latin typeface="Calibri" charset="0"/>
                        <a:ea typeface="Calibri" charset="0"/>
                        <a:cs typeface="Calibri" charset="0"/>
                      </a:endParaRPr>
                    </a:p>
                  </a:txBody>
                  <a:tcPr marL="45720" marR="45720" marT="45720" marB="45720" anchor="ctr">
                    <a:lnL w="6350" cap="flat" cmpd="sng" algn="ctr">
                      <a:solidFill>
                        <a:srgbClr val="E6E0DB"/>
                      </a:solidFill>
                      <a:prstDash val="solid"/>
                      <a:round/>
                      <a:headEnd type="none" w="med" len="med"/>
                      <a:tailEnd type="none" w="med" len="med"/>
                    </a:lnL>
                    <a:lnR w="6350" cap="flat" cmpd="sng" algn="ctr">
                      <a:solidFill>
                        <a:srgbClr val="E6E0DB"/>
                      </a:solidFill>
                      <a:prstDash val="solid"/>
                      <a:round/>
                      <a:headEnd type="none" w="med" len="med"/>
                      <a:tailEnd type="none" w="med" len="med"/>
                    </a:lnR>
                    <a:lnT w="6350" cap="flat" cmpd="sng" algn="ctr">
                      <a:solidFill>
                        <a:srgbClr val="E6E0DB"/>
                      </a:solidFill>
                      <a:prstDash val="solid"/>
                      <a:round/>
                      <a:headEnd type="none" w="med" len="med"/>
                      <a:tailEnd type="none" w="med" len="med"/>
                    </a:lnT>
                    <a:lnB w="6350" cap="flat" cmpd="sng" algn="ctr">
                      <a:solidFill>
                        <a:srgbClr val="E6E0DB"/>
                      </a:solidFill>
                      <a:prstDash val="solid"/>
                      <a:round/>
                      <a:headEnd type="none" w="med" len="med"/>
                      <a:tailEnd type="none" w="med" len="med"/>
                    </a:lnB>
                  </a:tcPr>
                </a:tc>
              </a:tr>
              <a:tr h="566928">
                <a:tc>
                  <a:txBody>
                    <a:bodyPr/>
                    <a:lstStyle/>
                    <a:p>
                      <a:pPr indent="0" marL="0">
                        <a:buNone/>
                      </a:pPr>
                      <a:r>
                        <a:rPr lang="en-US" sz="1050" b="1" dirty="0">
                          <a:solidFill>
                            <a:srgbClr val="1E1E1E"/>
                          </a:solidFill>
                          <a:latin typeface="Calibri" pitchFamily="34" charset="0"/>
                          <a:ea typeface="Calibri" pitchFamily="34" charset="-122"/>
                          <a:cs typeface="Calibri" pitchFamily="34" charset="-120"/>
                        </a:rPr>
                        <a:t>Stockage</a:t>
                      </a:r>
                      <a:endParaRPr lang="en-US" sz="1050" dirty="0">
                        <a:latin typeface="Calibri" charset="0"/>
                        <a:ea typeface="Calibri" charset="0"/>
                        <a:cs typeface="Calibri" charset="0"/>
                      </a:endParaRPr>
                    </a:p>
                  </a:txBody>
                  <a:tcPr marL="45720" marR="45720" marT="45720" marB="45720" anchor="ctr">
                    <a:lnL w="6350" cap="flat" cmpd="sng" algn="ctr">
                      <a:solidFill>
                        <a:srgbClr val="E6E0DB"/>
                      </a:solidFill>
                      <a:prstDash val="solid"/>
                      <a:round/>
                      <a:headEnd type="none" w="med" len="med"/>
                      <a:tailEnd type="none" w="med" len="med"/>
                    </a:lnL>
                    <a:lnR w="6350" cap="flat" cmpd="sng" algn="ctr">
                      <a:solidFill>
                        <a:srgbClr val="E6E0DB"/>
                      </a:solidFill>
                      <a:prstDash val="solid"/>
                      <a:round/>
                      <a:headEnd type="none" w="med" len="med"/>
                      <a:tailEnd type="none" w="med" len="med"/>
                    </a:lnR>
                    <a:lnT w="6350" cap="flat" cmpd="sng" algn="ctr">
                      <a:solidFill>
                        <a:srgbClr val="E6E0DB"/>
                      </a:solidFill>
                      <a:prstDash val="solid"/>
                      <a:round/>
                      <a:headEnd type="none" w="med" len="med"/>
                      <a:tailEnd type="none" w="med" len="med"/>
                    </a:lnT>
                    <a:lnB w="6350" cap="flat" cmpd="sng" algn="ctr">
                      <a:solidFill>
                        <a:srgbClr val="E6E0DB"/>
                      </a:solidFill>
                      <a:prstDash val="solid"/>
                      <a:round/>
                      <a:headEnd type="none" w="med" len="med"/>
                      <a:tailEnd type="none" w="med" len="med"/>
                    </a:lnB>
                  </a:tcPr>
                </a:tc>
                <a:tc>
                  <a:txBody>
                    <a:bodyPr/>
                    <a:lstStyle/>
                    <a:p>
                      <a:pPr indent="0" marL="0">
                        <a:buNone/>
                      </a:pPr>
                      <a:r>
                        <a:rPr lang="en-US" sz="1050" b="1" dirty="0">
                          <a:solidFill>
                            <a:srgbClr val="DE6262"/>
                          </a:solidFill>
                          <a:latin typeface="Calibri" pitchFamily="34" charset="0"/>
                          <a:ea typeface="Calibri" pitchFamily="34" charset="-122"/>
                          <a:cs typeface="Calibri" pitchFamily="34" charset="-120"/>
                        </a:rPr>
                        <a:t>Disque local derrière IFileStorage</a:t>
                      </a:r>
                      <a:endParaRPr lang="en-US" sz="1050" dirty="0">
                        <a:latin typeface="Calibri" charset="0"/>
                        <a:ea typeface="Calibri" charset="0"/>
                        <a:cs typeface="Calibri" charset="0"/>
                      </a:endParaRPr>
                    </a:p>
                  </a:txBody>
                  <a:tcPr marL="45720" marR="45720" marT="45720" marB="45720" anchor="ctr">
                    <a:lnL w="6350" cap="flat" cmpd="sng" algn="ctr">
                      <a:solidFill>
                        <a:srgbClr val="E6E0DB"/>
                      </a:solidFill>
                      <a:prstDash val="solid"/>
                      <a:round/>
                      <a:headEnd type="none" w="med" len="med"/>
                      <a:tailEnd type="none" w="med" len="med"/>
                    </a:lnL>
                    <a:lnR w="6350" cap="flat" cmpd="sng" algn="ctr">
                      <a:solidFill>
                        <a:srgbClr val="E6E0DB"/>
                      </a:solidFill>
                      <a:prstDash val="solid"/>
                      <a:round/>
                      <a:headEnd type="none" w="med" len="med"/>
                      <a:tailEnd type="none" w="med" len="med"/>
                    </a:lnR>
                    <a:lnT w="6350" cap="flat" cmpd="sng" algn="ctr">
                      <a:solidFill>
                        <a:srgbClr val="E6E0DB"/>
                      </a:solidFill>
                      <a:prstDash val="solid"/>
                      <a:round/>
                      <a:headEnd type="none" w="med" len="med"/>
                      <a:tailEnd type="none" w="med" len="med"/>
                    </a:lnT>
                    <a:lnB w="6350" cap="flat" cmpd="sng" algn="ctr">
                      <a:solidFill>
                        <a:srgbClr val="E6E0DB"/>
                      </a:solidFill>
                      <a:prstDash val="solid"/>
                      <a:round/>
                      <a:headEnd type="none" w="med" len="med"/>
                      <a:tailEnd type="none" w="med" len="med"/>
                    </a:lnB>
                  </a:tcPr>
                </a:tc>
                <a:tc>
                  <a:txBody>
                    <a:bodyPr/>
                    <a:lstStyle/>
                    <a:p>
                      <a:pPr indent="0" marL="0">
                        <a:buNone/>
                      </a:pPr>
                      <a:r>
                        <a:rPr lang="en-US" sz="1050" dirty="0">
                          <a:solidFill>
                            <a:srgbClr val="1E1E1E"/>
                          </a:solidFill>
                          <a:latin typeface="Calibri" pitchFamily="34" charset="0"/>
                          <a:ea typeface="Calibri" pitchFamily="34" charset="-122"/>
                          <a:cs typeface="Calibri" pitchFamily="34" charset="-120"/>
                        </a:rPr>
                        <a:t>AWS S3</a:t>
                      </a:r>
                      <a:endParaRPr lang="en-US" sz="1050" dirty="0">
                        <a:latin typeface="Calibri" charset="0"/>
                        <a:ea typeface="Calibri" charset="0"/>
                        <a:cs typeface="Calibri" charset="0"/>
                      </a:endParaRPr>
                    </a:p>
                  </a:txBody>
                  <a:tcPr marL="45720" marR="45720" marT="45720" marB="45720" anchor="ctr">
                    <a:lnL w="6350" cap="flat" cmpd="sng" algn="ctr">
                      <a:solidFill>
                        <a:srgbClr val="E6E0DB"/>
                      </a:solidFill>
                      <a:prstDash val="solid"/>
                      <a:round/>
                      <a:headEnd type="none" w="med" len="med"/>
                      <a:tailEnd type="none" w="med" len="med"/>
                    </a:lnL>
                    <a:lnR w="6350" cap="flat" cmpd="sng" algn="ctr">
                      <a:solidFill>
                        <a:srgbClr val="E6E0DB"/>
                      </a:solidFill>
                      <a:prstDash val="solid"/>
                      <a:round/>
                      <a:headEnd type="none" w="med" len="med"/>
                      <a:tailEnd type="none" w="med" len="med"/>
                    </a:lnR>
                    <a:lnT w="6350" cap="flat" cmpd="sng" algn="ctr">
                      <a:solidFill>
                        <a:srgbClr val="E6E0DB"/>
                      </a:solidFill>
                      <a:prstDash val="solid"/>
                      <a:round/>
                      <a:headEnd type="none" w="med" len="med"/>
                      <a:tailEnd type="none" w="med" len="med"/>
                    </a:lnT>
                    <a:lnB w="6350" cap="flat" cmpd="sng" algn="ctr">
                      <a:solidFill>
                        <a:srgbClr val="E6E0DB"/>
                      </a:solidFill>
                      <a:prstDash val="solid"/>
                      <a:round/>
                      <a:headEnd type="none" w="med" len="med"/>
                      <a:tailEnd type="none" w="med" len="med"/>
                    </a:lnB>
                  </a:tcPr>
                </a:tc>
                <a:tc>
                  <a:txBody>
                    <a:bodyPr/>
                    <a:lstStyle/>
                    <a:p>
                      <a:pPr indent="0" marL="0">
                        <a:buNone/>
                      </a:pPr>
                      <a:r>
                        <a:rPr lang="en-US" sz="1050" dirty="0">
                          <a:solidFill>
                            <a:srgbClr val="1E1E1E"/>
                          </a:solidFill>
                          <a:latin typeface="Calibri" pitchFamily="34" charset="0"/>
                          <a:ea typeface="Calibri" pitchFamily="34" charset="-122"/>
                          <a:cs typeface="Calibri" pitchFamily="34" charset="-120"/>
                        </a:rPr>
                        <a:t>Suffisant pour le MVP ; l'interface (Save / Delete / OpenRead) permet de passer à S3 sans toucher aux contrôleurs</a:t>
                      </a:r>
                      <a:endParaRPr lang="en-US" sz="1050" dirty="0">
                        <a:latin typeface="Calibri" charset="0"/>
                        <a:ea typeface="Calibri" charset="0"/>
                        <a:cs typeface="Calibri" charset="0"/>
                      </a:endParaRPr>
                    </a:p>
                  </a:txBody>
                  <a:tcPr marL="45720" marR="45720" marT="45720" marB="45720" anchor="ctr">
                    <a:lnL w="6350" cap="flat" cmpd="sng" algn="ctr">
                      <a:solidFill>
                        <a:srgbClr val="E6E0DB"/>
                      </a:solidFill>
                      <a:prstDash val="solid"/>
                      <a:round/>
                      <a:headEnd type="none" w="med" len="med"/>
                      <a:tailEnd type="none" w="med" len="med"/>
                    </a:lnL>
                    <a:lnR w="6350" cap="flat" cmpd="sng" algn="ctr">
                      <a:solidFill>
                        <a:srgbClr val="E6E0DB"/>
                      </a:solidFill>
                      <a:prstDash val="solid"/>
                      <a:round/>
                      <a:headEnd type="none" w="med" len="med"/>
                      <a:tailEnd type="none" w="med" len="med"/>
                    </a:lnR>
                    <a:lnT w="6350" cap="flat" cmpd="sng" algn="ctr">
                      <a:solidFill>
                        <a:srgbClr val="E6E0DB"/>
                      </a:solidFill>
                      <a:prstDash val="solid"/>
                      <a:round/>
                      <a:headEnd type="none" w="med" len="med"/>
                      <a:tailEnd type="none" w="med" len="med"/>
                    </a:lnT>
                    <a:lnB w="6350" cap="flat" cmpd="sng" algn="ctr">
                      <a:solidFill>
                        <a:srgbClr val="E6E0DB"/>
                      </a:solidFill>
                      <a:prstDash val="solid"/>
                      <a:round/>
                      <a:headEnd type="none" w="med" len="med"/>
                      <a:tailEnd type="none" w="med" len="med"/>
                    </a:lnB>
                  </a:tcPr>
                </a:tc>
              </a:tr>
              <a:tr h="566928">
                <a:tc>
                  <a:txBody>
                    <a:bodyPr/>
                    <a:lstStyle/>
                    <a:p>
                      <a:pPr indent="0" marL="0">
                        <a:buNone/>
                      </a:pPr>
                      <a:r>
                        <a:rPr lang="en-US" sz="1050" b="1" dirty="0">
                          <a:solidFill>
                            <a:srgbClr val="1E1E1E"/>
                          </a:solidFill>
                          <a:latin typeface="Calibri" pitchFamily="34" charset="0"/>
                          <a:ea typeface="Calibri" pitchFamily="34" charset="-122"/>
                          <a:cs typeface="Calibri" pitchFamily="34" charset="-120"/>
                        </a:rPr>
                        <a:t>Infra &amp; tests</a:t>
                      </a:r>
                      <a:endParaRPr lang="en-US" sz="1050" dirty="0">
                        <a:latin typeface="Calibri" charset="0"/>
                        <a:ea typeface="Calibri" charset="0"/>
                        <a:cs typeface="Calibri" charset="0"/>
                      </a:endParaRPr>
                    </a:p>
                  </a:txBody>
                  <a:tcPr marL="45720" marR="45720" marT="45720" marB="45720" anchor="ctr">
                    <a:lnL w="6350" cap="flat" cmpd="sng" algn="ctr">
                      <a:solidFill>
                        <a:srgbClr val="E6E0DB"/>
                      </a:solidFill>
                      <a:prstDash val="solid"/>
                      <a:round/>
                      <a:headEnd type="none" w="med" len="med"/>
                      <a:tailEnd type="none" w="med" len="med"/>
                    </a:lnL>
                    <a:lnR w="6350" cap="flat" cmpd="sng" algn="ctr">
                      <a:solidFill>
                        <a:srgbClr val="E6E0DB"/>
                      </a:solidFill>
                      <a:prstDash val="solid"/>
                      <a:round/>
                      <a:headEnd type="none" w="med" len="med"/>
                      <a:tailEnd type="none" w="med" len="med"/>
                    </a:lnR>
                    <a:lnT w="6350" cap="flat" cmpd="sng" algn="ctr">
                      <a:solidFill>
                        <a:srgbClr val="E6E0DB"/>
                      </a:solidFill>
                      <a:prstDash val="solid"/>
                      <a:round/>
                      <a:headEnd type="none" w="med" len="med"/>
                      <a:tailEnd type="none" w="med" len="med"/>
                    </a:lnT>
                    <a:lnB w="6350" cap="flat" cmpd="sng" algn="ctr">
                      <a:solidFill>
                        <a:srgbClr val="E6E0DB"/>
                      </a:solidFill>
                      <a:prstDash val="solid"/>
                      <a:round/>
                      <a:headEnd type="none" w="med" len="med"/>
                      <a:tailEnd type="none" w="med" len="med"/>
                    </a:lnB>
                  </a:tcPr>
                </a:tc>
                <a:tc>
                  <a:txBody>
                    <a:bodyPr/>
                    <a:lstStyle/>
                    <a:p>
                      <a:pPr indent="0" marL="0">
                        <a:buNone/>
                      </a:pPr>
                      <a:r>
                        <a:rPr lang="en-US" sz="1050" b="1" dirty="0">
                          <a:solidFill>
                            <a:srgbClr val="DE6262"/>
                          </a:solidFill>
                          <a:latin typeface="Calibri" pitchFamily="34" charset="0"/>
                          <a:ea typeface="Calibri" pitchFamily="34" charset="-122"/>
                          <a:cs typeface="Calibri" pitchFamily="34" charset="-120"/>
                        </a:rPr>
                        <a:t>Docker Compose · xUnit · Cypress · k6</a:t>
                      </a:r>
                      <a:endParaRPr lang="en-US" sz="1050" dirty="0">
                        <a:latin typeface="Calibri" charset="0"/>
                        <a:ea typeface="Calibri" charset="0"/>
                        <a:cs typeface="Calibri" charset="0"/>
                      </a:endParaRPr>
                    </a:p>
                  </a:txBody>
                  <a:tcPr marL="45720" marR="45720" marT="45720" marB="45720" anchor="ctr">
                    <a:lnL w="6350" cap="flat" cmpd="sng" algn="ctr">
                      <a:solidFill>
                        <a:srgbClr val="E6E0DB"/>
                      </a:solidFill>
                      <a:prstDash val="solid"/>
                      <a:round/>
                      <a:headEnd type="none" w="med" len="med"/>
                      <a:tailEnd type="none" w="med" len="med"/>
                    </a:lnL>
                    <a:lnR w="6350" cap="flat" cmpd="sng" algn="ctr">
                      <a:solidFill>
                        <a:srgbClr val="E6E0DB"/>
                      </a:solidFill>
                      <a:prstDash val="solid"/>
                      <a:round/>
                      <a:headEnd type="none" w="med" len="med"/>
                      <a:tailEnd type="none" w="med" len="med"/>
                    </a:lnR>
                    <a:lnT w="6350" cap="flat" cmpd="sng" algn="ctr">
                      <a:solidFill>
                        <a:srgbClr val="E6E0DB"/>
                      </a:solidFill>
                      <a:prstDash val="solid"/>
                      <a:round/>
                      <a:headEnd type="none" w="med" len="med"/>
                      <a:tailEnd type="none" w="med" len="med"/>
                    </a:lnT>
                    <a:lnB w="6350" cap="flat" cmpd="sng" algn="ctr">
                      <a:solidFill>
                        <a:srgbClr val="E6E0DB"/>
                      </a:solidFill>
                      <a:prstDash val="solid"/>
                      <a:round/>
                      <a:headEnd type="none" w="med" len="med"/>
                      <a:tailEnd type="none" w="med" len="med"/>
                    </a:lnB>
                  </a:tcPr>
                </a:tc>
                <a:tc>
                  <a:txBody>
                    <a:bodyPr/>
                    <a:lstStyle/>
                    <a:p>
                      <a:pPr indent="0" marL="0">
                        <a:buNone/>
                      </a:pPr>
                      <a:r>
                        <a:rPr lang="en-US" sz="1050" dirty="0">
                          <a:solidFill>
                            <a:srgbClr val="1E1E1E"/>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45720" marR="45720" marT="45720" marB="45720" anchor="ctr">
                    <a:lnL w="6350" cap="flat" cmpd="sng" algn="ctr">
                      <a:solidFill>
                        <a:srgbClr val="E6E0DB"/>
                      </a:solidFill>
                      <a:prstDash val="solid"/>
                      <a:round/>
                      <a:headEnd type="none" w="med" len="med"/>
                      <a:tailEnd type="none" w="med" len="med"/>
                    </a:lnL>
                    <a:lnR w="6350" cap="flat" cmpd="sng" algn="ctr">
                      <a:solidFill>
                        <a:srgbClr val="E6E0DB"/>
                      </a:solidFill>
                      <a:prstDash val="solid"/>
                      <a:round/>
                      <a:headEnd type="none" w="med" len="med"/>
                      <a:tailEnd type="none" w="med" len="med"/>
                    </a:lnR>
                    <a:lnT w="6350" cap="flat" cmpd="sng" algn="ctr">
                      <a:solidFill>
                        <a:srgbClr val="E6E0DB"/>
                      </a:solidFill>
                      <a:prstDash val="solid"/>
                      <a:round/>
                      <a:headEnd type="none" w="med" len="med"/>
                      <a:tailEnd type="none" w="med" len="med"/>
                    </a:lnT>
                    <a:lnB w="6350" cap="flat" cmpd="sng" algn="ctr">
                      <a:solidFill>
                        <a:srgbClr val="E6E0DB"/>
                      </a:solidFill>
                      <a:prstDash val="solid"/>
                      <a:round/>
                      <a:headEnd type="none" w="med" len="med"/>
                      <a:tailEnd type="none" w="med" len="med"/>
                    </a:lnB>
                  </a:tcPr>
                </a:tc>
                <a:tc>
                  <a:txBody>
                    <a:bodyPr/>
                    <a:lstStyle/>
                    <a:p>
                      <a:pPr indent="0" marL="0">
                        <a:buNone/>
                      </a:pPr>
                      <a:r>
                        <a:rPr lang="en-US" sz="1050" dirty="0">
                          <a:solidFill>
                            <a:srgbClr val="1E1E1E"/>
                          </a:solidFill>
                          <a:latin typeface="Calibri" pitchFamily="34" charset="0"/>
                          <a:ea typeface="Calibri" pitchFamily="34" charset="-122"/>
                          <a:cs typeface="Calibri" pitchFamily="34" charset="-120"/>
                        </a:rPr>
                        <a:t>Démo reproductible en une commande (nginx sert la SPA et proxifie /api) ; pyramide de tests + test de charge</a:t>
                      </a:r>
                      <a:endParaRPr lang="en-US" sz="1050" dirty="0">
                        <a:latin typeface="Calibri" charset="0"/>
                        <a:ea typeface="Calibri" charset="0"/>
                        <a:cs typeface="Calibri" charset="0"/>
                      </a:endParaRPr>
                    </a:p>
                  </a:txBody>
                  <a:tcPr marL="45720" marR="45720" marT="45720" marB="45720" anchor="ctr">
                    <a:lnL w="6350" cap="flat" cmpd="sng" algn="ctr">
                      <a:solidFill>
                        <a:srgbClr val="E6E0DB"/>
                      </a:solidFill>
                      <a:prstDash val="solid"/>
                      <a:round/>
                      <a:headEnd type="none" w="med" len="med"/>
                      <a:tailEnd type="none" w="med" len="med"/>
                    </a:lnL>
                    <a:lnR w="6350" cap="flat" cmpd="sng" algn="ctr">
                      <a:solidFill>
                        <a:srgbClr val="E6E0DB"/>
                      </a:solidFill>
                      <a:prstDash val="solid"/>
                      <a:round/>
                      <a:headEnd type="none" w="med" len="med"/>
                      <a:tailEnd type="none" w="med" len="med"/>
                    </a:lnR>
                    <a:lnT w="6350" cap="flat" cmpd="sng" algn="ctr">
                      <a:solidFill>
                        <a:srgbClr val="E6E0DB"/>
                      </a:solidFill>
                      <a:prstDash val="solid"/>
                      <a:round/>
                      <a:headEnd type="none" w="med" len="med"/>
                      <a:tailEnd type="none" w="med" len="med"/>
                    </a:lnT>
                    <a:lnB w="6350" cap="flat" cmpd="sng" algn="ctr">
                      <a:solidFill>
                        <a:srgbClr val="E6E0DB"/>
                      </a:solidFill>
                      <a:prstDash val="solid"/>
                      <a:round/>
                      <a:headEnd type="none" w="med" len="med"/>
                      <a:tailEnd type="none" w="med" len="med"/>
                    </a:lnB>
                  </a:tcPr>
                </a:tc>
              </a:tr>
            </a:tbl>
          </a:graphicData>
        </a:graphic>
      </p:graphicFrame>
      <p:sp>
        <p:nvSpPr>
          <p:cNvPr id="5" name="Text 2"/>
          <p:cNvSpPr txBox="1"/>
          <p:nvPr/>
        </p:nvSpPr>
        <p:spPr>
          <a:xfrm>
            <a:off x="457200" y="4818888"/>
            <a:ext cx="4572000" cy="228600"/>
          </a:xfrm>
          <a:prstGeom prst="rect">
            <a:avLst/>
          </a:prstGeom>
          <a:noFill/>
          <a:ln/>
        </p:spPr>
        <p:txBody>
          <a:bodyPr wrap="square" lIns="0" tIns="0" rIns="0" bIns="0" rtlCol="0" anchor="ctr"/>
          <a:lstStyle/>
          <a:p>
            <a:pPr indent="0" marL="0">
              <a:buNone/>
            </a:pPr>
            <a:r>
              <a:rPr lang="en-US" sz="900" dirty="0">
                <a:solidFill>
                  <a:srgbClr val="A0A0A0"/>
                </a:solidFill>
                <a:latin typeface="Calibri" pitchFamily="34" charset="0"/>
                <a:ea typeface="Calibri" pitchFamily="34" charset="-122"/>
                <a:cs typeface="Calibri" pitchFamily="34" charset="-120"/>
              </a:rPr>
              <a:t>DataShare — Soutenance Projet 4</a:t>
            </a:r>
            <a:endParaRPr lang="en-US" sz="900" dirty="0"/>
          </a:p>
        </p:txBody>
      </p:sp>
      <p:sp>
        <p:nvSpPr>
          <p:cNvPr id="6" name="Text 3"/>
          <p:cNvSpPr txBox="1"/>
          <p:nvPr/>
        </p:nvSpPr>
        <p:spPr>
          <a:xfrm>
            <a:off x="8229600" y="4818888"/>
            <a:ext cx="457200" cy="228600"/>
          </a:xfrm>
          <a:prstGeom prst="rect">
            <a:avLst/>
          </a:prstGeom>
          <a:noFill/>
          <a:ln/>
        </p:spPr>
        <p:txBody>
          <a:bodyPr wrap="square" lIns="0" tIns="0" rIns="0" bIns="0" rtlCol="0" anchor="ctr"/>
          <a:lstStyle/>
          <a:p>
            <a:pPr algn="r" indent="0" marL="0">
              <a:buNone/>
            </a:pPr>
            <a:r>
              <a:rPr lang="en-US" sz="900" dirty="0">
                <a:solidFill>
                  <a:srgbClr val="A0A0A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3000" b="1" dirty="0">
                <a:solidFill>
                  <a:srgbClr val="2C2C2C"/>
                </a:solidFill>
                <a:latin typeface="Calibri" pitchFamily="34" charset="0"/>
                <a:ea typeface="Calibri" pitchFamily="34" charset="-122"/>
                <a:cs typeface="Calibri" pitchFamily="34" charset="-120"/>
              </a:rPr>
              <a:t>Architecture de la solution</a:t>
            </a:r>
            <a:endParaRPr lang="en-US" sz="3000" dirty="0"/>
          </a:p>
        </p:txBody>
      </p:sp>
      <p:sp>
        <p:nvSpPr>
          <p:cNvPr id="3" name="Text 1"/>
          <p:cNvSpPr txBox="1"/>
          <p:nvPr/>
        </p:nvSpPr>
        <p:spPr>
          <a:xfrm>
            <a:off x="457200" y="804672"/>
            <a:ext cx="8229600" cy="292608"/>
          </a:xfrm>
          <a:prstGeom prst="rect">
            <a:avLst/>
          </a:prstGeom>
          <a:noFill/>
          <a:ln/>
        </p:spPr>
        <p:txBody>
          <a:bodyPr wrap="square" lIns="0" tIns="0" rIns="0" bIns="0" rtlCol="0" anchor="ctr"/>
          <a:lstStyle/>
          <a:p>
            <a:pPr indent="0" marL="0">
              <a:buNone/>
            </a:pPr>
            <a:r>
              <a:rPr lang="en-US" sz="1300" dirty="0">
                <a:solidFill>
                  <a:srgbClr val="6B6B6B"/>
                </a:solidFill>
                <a:latin typeface="Calibri" pitchFamily="34" charset="0"/>
                <a:ea typeface="Calibri" pitchFamily="34" charset="-122"/>
                <a:cs typeface="Calibri" pitchFamily="34" charset="-120"/>
              </a:rPr>
              <a:t>Trois conteneurs Docker Compose · API REST stateless · fichiers hors base de données</a:t>
            </a:r>
            <a:endParaRPr lang="en-US" sz="1300" dirty="0"/>
          </a:p>
        </p:txBody>
      </p:sp>
      <p:sp>
        <p:nvSpPr>
          <p:cNvPr id="4" name="Shape 2"/>
          <p:cNvSpPr/>
          <p:nvPr/>
        </p:nvSpPr>
        <p:spPr>
          <a:xfrm>
            <a:off x="457200" y="1600200"/>
            <a:ext cx="1325880" cy="1097280"/>
          </a:xfrm>
          <a:prstGeom prst="roundRect">
            <a:avLst>
              <a:gd name="adj" fmla="val 6667"/>
            </a:avLst>
          </a:prstGeom>
          <a:solidFill>
            <a:srgbClr val="FFFFFF"/>
          </a:solidFill>
          <a:ln w="9525">
            <a:solidFill>
              <a:srgbClr val="E6E0DB"/>
            </a:solidFill>
            <a:prstDash val="solid"/>
          </a:ln>
          <a:effectLst>
            <a:outerShdw sx="100000" sy="100000" kx="0" ky="0" algn="bl" rotWithShape="0" blurRad="76200" dist="25400" dir="5400000">
              <a:srgbClr val="000000">
                <a:alpha val="18000"/>
              </a:srgbClr>
            </a:outerShdw>
          </a:effectLst>
        </p:spPr>
      </p:sp>
      <p:sp>
        <p:nvSpPr>
          <p:cNvPr id="5" name="Text 3"/>
          <p:cNvSpPr txBox="1"/>
          <p:nvPr/>
        </p:nvSpPr>
        <p:spPr>
          <a:xfrm>
            <a:off x="566928" y="1673352"/>
            <a:ext cx="1106424" cy="274320"/>
          </a:xfrm>
          <a:prstGeom prst="rect">
            <a:avLst/>
          </a:prstGeom>
          <a:noFill/>
          <a:ln/>
        </p:spPr>
        <p:txBody>
          <a:bodyPr wrap="square" lIns="0" tIns="0" rIns="0" bIns="0" rtlCol="0" anchor="ctr"/>
          <a:lstStyle/>
          <a:p>
            <a:pPr indent="0" marL="0">
              <a:buNone/>
            </a:pPr>
            <a:r>
              <a:rPr lang="en-US" sz="1250" b="1" dirty="0">
                <a:solidFill>
                  <a:srgbClr val="2C2C2C"/>
                </a:solidFill>
                <a:latin typeface="Calibri" pitchFamily="34" charset="0"/>
                <a:ea typeface="Calibri" pitchFamily="34" charset="-122"/>
                <a:cs typeface="Calibri" pitchFamily="34" charset="-120"/>
              </a:rPr>
              <a:t>Navigateur</a:t>
            </a:r>
            <a:endParaRPr lang="en-US" sz="1250" dirty="0"/>
          </a:p>
        </p:txBody>
      </p:sp>
      <p:sp>
        <p:nvSpPr>
          <p:cNvPr id="6" name="Text 4"/>
          <p:cNvSpPr txBox="1"/>
          <p:nvPr/>
        </p:nvSpPr>
        <p:spPr>
          <a:xfrm>
            <a:off x="566928" y="1947672"/>
            <a:ext cx="1106424" cy="694944"/>
          </a:xfrm>
          <a:prstGeom prst="rect">
            <a:avLst/>
          </a:prstGeom>
          <a:noFill/>
          <a:ln/>
        </p:spPr>
        <p:txBody>
          <a:bodyPr wrap="square" lIns="0" tIns="0" rIns="0" bIns="0" rtlCol="0" anchor="t"/>
          <a:lstStyle/>
          <a:p>
            <a:pPr indent="0" marL="0">
              <a:spcAft>
                <a:spcPts val="200"/>
              </a:spcAft>
              <a:buNone/>
            </a:pPr>
            <a:r>
              <a:rPr lang="en-US" sz="950" dirty="0">
                <a:solidFill>
                  <a:srgbClr val="1E1E1E"/>
                </a:solidFill>
                <a:latin typeface="Calibri" pitchFamily="34" charset="0"/>
                <a:ea typeface="Calibri" pitchFamily="34" charset="-122"/>
                <a:cs typeface="Calibri" pitchFamily="34" charset="-120"/>
              </a:rPr>
              <a:t>Chrome / Firefox</a:t>
            </a:r>
            <a:endParaRPr lang="en-US" sz="950" dirty="0"/>
          </a:p>
          <a:p>
            <a:pPr indent="0" marL="0">
              <a:spcAft>
                <a:spcPts val="200"/>
              </a:spcAft>
              <a:buNone/>
            </a:pPr>
            <a:r>
              <a:rPr lang="en-US" sz="950" dirty="0">
                <a:solidFill>
                  <a:srgbClr val="1E1E1E"/>
                </a:solidFill>
                <a:latin typeface="Calibri" pitchFamily="34" charset="0"/>
                <a:ea typeface="Calibri" pitchFamily="34" charset="-122"/>
                <a:cs typeface="Calibri" pitchFamily="34" charset="-120"/>
              </a:rPr>
              <a:t>SPA Vue 3</a:t>
            </a:r>
            <a:endParaRPr lang="en-US" sz="950" dirty="0"/>
          </a:p>
          <a:p>
            <a:pPr indent="0" marL="0">
              <a:spcAft>
                <a:spcPts val="200"/>
              </a:spcAft>
              <a:buNone/>
            </a:pPr>
            <a:r>
              <a:rPr lang="en-US" sz="950" dirty="0">
                <a:solidFill>
                  <a:srgbClr val="1E1E1E"/>
                </a:solidFill>
                <a:latin typeface="Calibri" pitchFamily="34" charset="0"/>
                <a:ea typeface="Calibri" pitchFamily="34" charset="-122"/>
                <a:cs typeface="Calibri" pitchFamily="34" charset="-120"/>
              </a:rPr>
              <a:t>JWT en localStorage</a:t>
            </a:r>
            <a:endParaRPr lang="en-US" sz="950" dirty="0"/>
          </a:p>
        </p:txBody>
      </p:sp>
      <p:sp>
        <p:nvSpPr>
          <p:cNvPr id="7" name="Shape 5"/>
          <p:cNvSpPr/>
          <p:nvPr/>
        </p:nvSpPr>
        <p:spPr>
          <a:xfrm>
            <a:off x="2194560" y="1325880"/>
            <a:ext cx="1737360" cy="1645920"/>
          </a:xfrm>
          <a:prstGeom prst="roundRect">
            <a:avLst>
              <a:gd name="adj" fmla="val 4444"/>
            </a:avLst>
          </a:prstGeom>
          <a:solidFill>
            <a:srgbClr val="FFF4EE"/>
          </a:solidFill>
          <a:ln w="9525">
            <a:solidFill>
              <a:srgbClr val="E6E0DB"/>
            </a:solidFill>
            <a:prstDash val="solid"/>
          </a:ln>
          <a:effectLst>
            <a:outerShdw sx="100000" sy="100000" kx="0" ky="0" algn="bl" rotWithShape="0" blurRad="76200" dist="25400" dir="5400000">
              <a:srgbClr val="000000">
                <a:alpha val="18000"/>
              </a:srgbClr>
            </a:outerShdw>
          </a:effectLst>
        </p:spPr>
      </p:sp>
      <p:sp>
        <p:nvSpPr>
          <p:cNvPr id="8" name="Text 6"/>
          <p:cNvSpPr txBox="1"/>
          <p:nvPr/>
        </p:nvSpPr>
        <p:spPr>
          <a:xfrm>
            <a:off x="2304288" y="1399032"/>
            <a:ext cx="1517904" cy="274320"/>
          </a:xfrm>
          <a:prstGeom prst="rect">
            <a:avLst/>
          </a:prstGeom>
          <a:noFill/>
          <a:ln/>
        </p:spPr>
        <p:txBody>
          <a:bodyPr wrap="square" lIns="0" tIns="0" rIns="0" bIns="0" rtlCol="0" anchor="ctr"/>
          <a:lstStyle/>
          <a:p>
            <a:pPr indent="0" marL="0">
              <a:buNone/>
            </a:pPr>
            <a:r>
              <a:rPr lang="en-US" sz="1250" b="1" dirty="0">
                <a:solidFill>
                  <a:srgbClr val="2C2C2C"/>
                </a:solidFill>
                <a:latin typeface="Calibri" pitchFamily="34" charset="0"/>
                <a:ea typeface="Calibri" pitchFamily="34" charset="-122"/>
                <a:cs typeface="Calibri" pitchFamily="34" charset="-120"/>
              </a:rPr>
              <a:t>frontend · nginx :80</a:t>
            </a:r>
            <a:endParaRPr lang="en-US" sz="1250" dirty="0"/>
          </a:p>
        </p:txBody>
      </p:sp>
      <p:sp>
        <p:nvSpPr>
          <p:cNvPr id="9" name="Text 7"/>
          <p:cNvSpPr txBox="1"/>
          <p:nvPr/>
        </p:nvSpPr>
        <p:spPr>
          <a:xfrm>
            <a:off x="2304288" y="1673352"/>
            <a:ext cx="1517904" cy="1243584"/>
          </a:xfrm>
          <a:prstGeom prst="rect">
            <a:avLst/>
          </a:prstGeom>
          <a:noFill/>
          <a:ln/>
        </p:spPr>
        <p:txBody>
          <a:bodyPr wrap="square" lIns="0" tIns="0" rIns="0" bIns="0" rtlCol="0" anchor="t"/>
          <a:lstStyle/>
          <a:p>
            <a:pPr indent="0" marL="0">
              <a:spcAft>
                <a:spcPts val="200"/>
              </a:spcAft>
              <a:buNone/>
            </a:pPr>
            <a:r>
              <a:rPr lang="en-US" sz="950" dirty="0">
                <a:solidFill>
                  <a:srgbClr val="1E1E1E"/>
                </a:solidFill>
                <a:latin typeface="Calibri" pitchFamily="34" charset="0"/>
                <a:ea typeface="Calibri" pitchFamily="34" charset="-122"/>
                <a:cs typeface="Calibri" pitchFamily="34" charset="-120"/>
              </a:rPr>
              <a:t>Sert la SPA (build Vite)</a:t>
            </a:r>
            <a:endParaRPr lang="en-US" sz="950" dirty="0"/>
          </a:p>
          <a:p>
            <a:pPr indent="0" marL="0">
              <a:spcAft>
                <a:spcPts val="200"/>
              </a:spcAft>
              <a:buNone/>
            </a:pPr>
            <a:r>
              <a:rPr lang="en-US" sz="950" dirty="0">
                <a:solidFill>
                  <a:srgbClr val="1E1E1E"/>
                </a:solidFill>
                <a:latin typeface="Calibri" pitchFamily="34" charset="0"/>
                <a:ea typeface="Calibri" pitchFamily="34" charset="-122"/>
                <a:cs typeface="Calibri" pitchFamily="34" charset="-120"/>
              </a:rPr>
              <a:t>Proxy /api → api:5000</a:t>
            </a:r>
            <a:endParaRPr lang="en-US" sz="950" dirty="0"/>
          </a:p>
          <a:p>
            <a:pPr indent="0" marL="0">
              <a:spcAft>
                <a:spcPts val="200"/>
              </a:spcAft>
              <a:buNone/>
            </a:pPr>
            <a:r>
              <a:rPr lang="en-US" sz="950" dirty="0">
                <a:solidFill>
                  <a:srgbClr val="1E1E1E"/>
                </a:solidFill>
                <a:latin typeface="Calibri" pitchFamily="34" charset="0"/>
                <a:ea typeface="Calibri" pitchFamily="34" charset="-122"/>
                <a:cs typeface="Calibri" pitchFamily="34" charset="-120"/>
              </a:rPr>
              <a:t>client_max_body_size 1g</a:t>
            </a:r>
            <a:endParaRPr lang="en-US" sz="950" dirty="0"/>
          </a:p>
          <a:p>
            <a:pPr indent="0" marL="0">
              <a:spcAft>
                <a:spcPts val="200"/>
              </a:spcAft>
              <a:buNone/>
            </a:pPr>
            <a:r>
              <a:rPr lang="en-US" sz="950" dirty="0">
                <a:solidFill>
                  <a:srgbClr val="1E1E1E"/>
                </a:solidFill>
                <a:latin typeface="Calibri" pitchFamily="34" charset="0"/>
                <a:ea typeface="Calibri" pitchFamily="34" charset="-122"/>
                <a:cs typeface="Calibri" pitchFamily="34" charset="-120"/>
              </a:rPr>
              <a:t>Même origine : pas de CORS</a:t>
            </a:r>
            <a:endParaRPr lang="en-US" sz="950" dirty="0"/>
          </a:p>
        </p:txBody>
      </p:sp>
      <p:sp>
        <p:nvSpPr>
          <p:cNvPr id="10" name="Shape 8"/>
          <p:cNvSpPr/>
          <p:nvPr/>
        </p:nvSpPr>
        <p:spPr>
          <a:xfrm>
            <a:off x="4343400" y="1097280"/>
            <a:ext cx="2286000" cy="2331720"/>
          </a:xfrm>
          <a:prstGeom prst="roundRect">
            <a:avLst>
              <a:gd name="adj" fmla="val 3200"/>
            </a:avLst>
          </a:prstGeom>
          <a:solidFill>
            <a:srgbClr val="FFE9DD"/>
          </a:solidFill>
          <a:ln w="9525">
            <a:solidFill>
              <a:srgbClr val="E6E0DB"/>
            </a:solidFill>
            <a:prstDash val="solid"/>
          </a:ln>
          <a:effectLst>
            <a:outerShdw sx="100000" sy="100000" kx="0" ky="0" algn="bl" rotWithShape="0" blurRad="76200" dist="25400" dir="5400000">
              <a:srgbClr val="000000">
                <a:alpha val="18000"/>
              </a:srgbClr>
            </a:outerShdw>
          </a:effectLst>
        </p:spPr>
      </p:sp>
      <p:sp>
        <p:nvSpPr>
          <p:cNvPr id="11" name="Text 9"/>
          <p:cNvSpPr txBox="1"/>
          <p:nvPr/>
        </p:nvSpPr>
        <p:spPr>
          <a:xfrm>
            <a:off x="4453128" y="1170432"/>
            <a:ext cx="2066544" cy="274320"/>
          </a:xfrm>
          <a:prstGeom prst="rect">
            <a:avLst/>
          </a:prstGeom>
          <a:noFill/>
          <a:ln/>
        </p:spPr>
        <p:txBody>
          <a:bodyPr wrap="square" lIns="0" tIns="0" rIns="0" bIns="0" rtlCol="0" anchor="ctr"/>
          <a:lstStyle/>
          <a:p>
            <a:pPr indent="0" marL="0">
              <a:buNone/>
            </a:pPr>
            <a:r>
              <a:rPr lang="en-US" sz="1250" b="1" dirty="0">
                <a:solidFill>
                  <a:srgbClr val="DE6262"/>
                </a:solidFill>
                <a:latin typeface="Calibri" pitchFamily="34" charset="0"/>
                <a:ea typeface="Calibri" pitchFamily="34" charset="-122"/>
                <a:cs typeface="Calibri" pitchFamily="34" charset="-120"/>
              </a:rPr>
              <a:t>api · ASP.NET Core 9 :5000</a:t>
            </a:r>
            <a:endParaRPr lang="en-US" sz="1250" dirty="0"/>
          </a:p>
        </p:txBody>
      </p:sp>
      <p:sp>
        <p:nvSpPr>
          <p:cNvPr id="12" name="Text 10"/>
          <p:cNvSpPr txBox="1"/>
          <p:nvPr/>
        </p:nvSpPr>
        <p:spPr>
          <a:xfrm>
            <a:off x="4453128" y="1444752"/>
            <a:ext cx="2066544" cy="1929384"/>
          </a:xfrm>
          <a:prstGeom prst="rect">
            <a:avLst/>
          </a:prstGeom>
          <a:noFill/>
          <a:ln/>
        </p:spPr>
        <p:txBody>
          <a:bodyPr wrap="square" lIns="0" tIns="0" rIns="0" bIns="0" rtlCol="0" anchor="t"/>
          <a:lstStyle/>
          <a:p>
            <a:pPr indent="0" marL="0">
              <a:spcAft>
                <a:spcPts val="200"/>
              </a:spcAft>
              <a:buNone/>
            </a:pPr>
            <a:r>
              <a:rPr lang="en-US" sz="950" dirty="0">
                <a:solidFill>
                  <a:srgbClr val="1E1E1E"/>
                </a:solidFill>
                <a:latin typeface="Calibri" pitchFamily="34" charset="0"/>
                <a:ea typeface="Calibri" pitchFamily="34" charset="-122"/>
                <a:cs typeface="Calibri" pitchFamily="34" charset="-120"/>
              </a:rPr>
              <a:t>Controllers : Auth · Files · PublicFiles</a:t>
            </a:r>
            <a:endParaRPr lang="en-US" sz="950" dirty="0"/>
          </a:p>
          <a:p>
            <a:pPr indent="0" marL="0">
              <a:spcAft>
                <a:spcPts val="200"/>
              </a:spcAft>
              <a:buNone/>
            </a:pPr>
            <a:r>
              <a:rPr lang="en-US" sz="950" dirty="0">
                <a:solidFill>
                  <a:srgbClr val="1E1E1E"/>
                </a:solidFill>
                <a:latin typeface="Calibri" pitchFamily="34" charset="0"/>
                <a:ea typeface="Calibri" pitchFamily="34" charset="-122"/>
                <a:cs typeface="Calibri" pitchFamily="34" charset="-120"/>
              </a:rPr>
              <a:t>Services : IFileStorage → LocalFileStorage</a:t>
            </a:r>
            <a:endParaRPr lang="en-US" sz="950" dirty="0"/>
          </a:p>
          <a:p>
            <a:pPr indent="0" marL="0">
              <a:spcAft>
                <a:spcPts val="200"/>
              </a:spcAft>
              <a:buNone/>
            </a:pPr>
            <a:r>
              <a:rPr lang="en-US" sz="950" dirty="0">
                <a:solidFill>
                  <a:srgbClr val="1E1E1E"/>
                </a:solidFill>
                <a:latin typeface="Calibri" pitchFamily="34" charset="0"/>
                <a:ea typeface="Calibri" pitchFamily="34" charset="-122"/>
                <a:cs typeface="Calibri" pitchFamily="34" charset="-120"/>
              </a:rPr>
              <a:t>ExpiredFilesCleanupService (24 h)</a:t>
            </a:r>
            <a:endParaRPr lang="en-US" sz="950" dirty="0"/>
          </a:p>
          <a:p>
            <a:pPr indent="0" marL="0">
              <a:spcAft>
                <a:spcPts val="200"/>
              </a:spcAft>
              <a:buNone/>
            </a:pPr>
            <a:r>
              <a:rPr lang="en-US" sz="950" dirty="0">
                <a:solidFill>
                  <a:srgbClr val="1E1E1E"/>
                </a:solidFill>
                <a:latin typeface="Calibri" pitchFamily="34" charset="0"/>
                <a:ea typeface="Calibri" pitchFamily="34" charset="-122"/>
                <a:cs typeface="Calibri" pitchFamily="34" charset="-120"/>
              </a:rPr>
              <a:t>Identity + JWT Bearer · EF Core 9</a:t>
            </a:r>
            <a:endParaRPr lang="en-US" sz="950" dirty="0"/>
          </a:p>
          <a:p>
            <a:pPr indent="0" marL="0">
              <a:spcAft>
                <a:spcPts val="200"/>
              </a:spcAft>
              <a:buNone/>
            </a:pPr>
            <a:r>
              <a:rPr lang="en-US" sz="950" dirty="0">
                <a:solidFill>
                  <a:srgbClr val="1E1E1E"/>
                </a:solidFill>
                <a:latin typeface="Calibri" pitchFamily="34" charset="0"/>
                <a:ea typeface="Calibri" pitchFamily="34" charset="-122"/>
                <a:cs typeface="Calibri" pitchFamily="34" charset="-120"/>
              </a:rPr>
              <a:t>RequestMetricsMiddleware (logs JSON)</a:t>
            </a:r>
            <a:endParaRPr lang="en-US" sz="950" dirty="0"/>
          </a:p>
          <a:p>
            <a:pPr indent="0" marL="0">
              <a:spcAft>
                <a:spcPts val="200"/>
              </a:spcAft>
              <a:buNone/>
            </a:pPr>
            <a:r>
              <a:rPr lang="en-US" sz="950" dirty="0">
                <a:solidFill>
                  <a:srgbClr val="1E1E1E"/>
                </a:solidFill>
                <a:latin typeface="Calibri" pitchFamily="34" charset="0"/>
                <a:ea typeface="Calibri" pitchFamily="34" charset="-122"/>
                <a:cs typeface="Calibri" pitchFamily="34" charset="-120"/>
              </a:rPr>
              <a:t>Migrations appliquées au démarrage</a:t>
            </a:r>
            <a:endParaRPr lang="en-US" sz="950" dirty="0"/>
          </a:p>
        </p:txBody>
      </p:sp>
      <p:sp>
        <p:nvSpPr>
          <p:cNvPr id="13" name="Shape 11"/>
          <p:cNvSpPr/>
          <p:nvPr/>
        </p:nvSpPr>
        <p:spPr>
          <a:xfrm>
            <a:off x="7040880" y="1097280"/>
            <a:ext cx="1645920" cy="1051560"/>
          </a:xfrm>
          <a:prstGeom prst="roundRect">
            <a:avLst>
              <a:gd name="adj" fmla="val 6957"/>
            </a:avLst>
          </a:prstGeom>
          <a:solidFill>
            <a:srgbClr val="FFFFFF"/>
          </a:solidFill>
          <a:ln w="9525">
            <a:solidFill>
              <a:srgbClr val="E6E0DB"/>
            </a:solidFill>
            <a:prstDash val="solid"/>
          </a:ln>
          <a:effectLst>
            <a:outerShdw sx="100000" sy="100000" kx="0" ky="0" algn="bl" rotWithShape="0" blurRad="76200" dist="25400" dir="5400000">
              <a:srgbClr val="000000">
                <a:alpha val="18000"/>
              </a:srgbClr>
            </a:outerShdw>
          </a:effectLst>
        </p:spPr>
      </p:sp>
      <p:sp>
        <p:nvSpPr>
          <p:cNvPr id="14" name="Text 12"/>
          <p:cNvSpPr txBox="1"/>
          <p:nvPr/>
        </p:nvSpPr>
        <p:spPr>
          <a:xfrm>
            <a:off x="7150608" y="1170432"/>
            <a:ext cx="1426464" cy="274320"/>
          </a:xfrm>
          <a:prstGeom prst="rect">
            <a:avLst/>
          </a:prstGeom>
          <a:noFill/>
          <a:ln/>
        </p:spPr>
        <p:txBody>
          <a:bodyPr wrap="square" lIns="0" tIns="0" rIns="0" bIns="0" rtlCol="0" anchor="ctr"/>
          <a:lstStyle/>
          <a:p>
            <a:pPr indent="0" marL="0">
              <a:buNone/>
            </a:pPr>
            <a:r>
              <a:rPr lang="en-US" sz="1250" b="1" dirty="0">
                <a:solidFill>
                  <a:srgbClr val="2C2C2C"/>
                </a:solidFill>
                <a:latin typeface="Calibri" pitchFamily="34" charset="0"/>
                <a:ea typeface="Calibri" pitchFamily="34" charset="-122"/>
                <a:cs typeface="Calibri" pitchFamily="34" charset="-120"/>
              </a:rPr>
              <a:t>db · PostgreSQL 16</a:t>
            </a:r>
            <a:endParaRPr lang="en-US" sz="1250" dirty="0"/>
          </a:p>
        </p:txBody>
      </p:sp>
      <p:sp>
        <p:nvSpPr>
          <p:cNvPr id="15" name="Text 13"/>
          <p:cNvSpPr txBox="1"/>
          <p:nvPr/>
        </p:nvSpPr>
        <p:spPr>
          <a:xfrm>
            <a:off x="7150608" y="1444752"/>
            <a:ext cx="1426464" cy="649224"/>
          </a:xfrm>
          <a:prstGeom prst="rect">
            <a:avLst/>
          </a:prstGeom>
          <a:noFill/>
          <a:ln/>
        </p:spPr>
        <p:txBody>
          <a:bodyPr wrap="square" lIns="0" tIns="0" rIns="0" bIns="0" rtlCol="0" anchor="t"/>
          <a:lstStyle/>
          <a:p>
            <a:pPr indent="0" marL="0">
              <a:spcAft>
                <a:spcPts val="200"/>
              </a:spcAft>
              <a:buNone/>
            </a:pPr>
            <a:r>
              <a:rPr lang="en-US" sz="950" dirty="0">
                <a:solidFill>
                  <a:srgbClr val="1E1E1E"/>
                </a:solidFill>
                <a:latin typeface="Calibri" pitchFamily="34" charset="0"/>
                <a:ea typeface="Calibri" pitchFamily="34" charset="-122"/>
                <a:cs typeface="Calibri" pitchFamily="34" charset="-120"/>
              </a:rPr>
              <a:t>AspNetUsers</a:t>
            </a:r>
            <a:endParaRPr lang="en-US" sz="950" dirty="0"/>
          </a:p>
          <a:p>
            <a:pPr indent="0" marL="0">
              <a:spcAft>
                <a:spcPts val="200"/>
              </a:spcAft>
              <a:buNone/>
            </a:pPr>
            <a:r>
              <a:rPr lang="en-US" sz="950" dirty="0">
                <a:solidFill>
                  <a:srgbClr val="1E1E1E"/>
                </a:solidFill>
                <a:latin typeface="Calibri" pitchFamily="34" charset="0"/>
                <a:ea typeface="Calibri" pitchFamily="34" charset="-122"/>
                <a:cs typeface="Calibri" pitchFamily="34" charset="-120"/>
              </a:rPr>
              <a:t>Files (métadonnées)</a:t>
            </a:r>
            <a:endParaRPr lang="en-US" sz="950" dirty="0"/>
          </a:p>
          <a:p>
            <a:pPr indent="0" marL="0">
              <a:spcAft>
                <a:spcPts val="200"/>
              </a:spcAft>
              <a:buNone/>
            </a:pPr>
            <a:r>
              <a:rPr lang="en-US" sz="950" dirty="0">
                <a:solidFill>
                  <a:srgbClr val="1E1E1E"/>
                </a:solidFill>
                <a:latin typeface="Calibri" pitchFamily="34" charset="0"/>
                <a:ea typeface="Calibri" pitchFamily="34" charset="-122"/>
                <a:cs typeface="Calibri" pitchFamily="34" charset="-120"/>
              </a:rPr>
              <a:t>volume datashare_pg</a:t>
            </a:r>
            <a:endParaRPr lang="en-US" sz="950" dirty="0"/>
          </a:p>
        </p:txBody>
      </p:sp>
      <p:sp>
        <p:nvSpPr>
          <p:cNvPr id="16" name="Shape 14"/>
          <p:cNvSpPr/>
          <p:nvPr/>
        </p:nvSpPr>
        <p:spPr>
          <a:xfrm>
            <a:off x="7040880" y="2377440"/>
            <a:ext cx="1645920" cy="1051560"/>
          </a:xfrm>
          <a:prstGeom prst="roundRect">
            <a:avLst>
              <a:gd name="adj" fmla="val 6957"/>
            </a:avLst>
          </a:prstGeom>
          <a:solidFill>
            <a:srgbClr val="FFFFFF"/>
          </a:solidFill>
          <a:ln w="9525">
            <a:solidFill>
              <a:srgbClr val="E6E0DB"/>
            </a:solidFill>
            <a:prstDash val="solid"/>
          </a:ln>
          <a:effectLst>
            <a:outerShdw sx="100000" sy="100000" kx="0" ky="0" algn="bl" rotWithShape="0" blurRad="76200" dist="25400" dir="5400000">
              <a:srgbClr val="000000">
                <a:alpha val="18000"/>
              </a:srgbClr>
            </a:outerShdw>
          </a:effectLst>
        </p:spPr>
      </p:sp>
      <p:sp>
        <p:nvSpPr>
          <p:cNvPr id="17" name="Text 15"/>
          <p:cNvSpPr txBox="1"/>
          <p:nvPr/>
        </p:nvSpPr>
        <p:spPr>
          <a:xfrm>
            <a:off x="7150608" y="2450592"/>
            <a:ext cx="1426464" cy="274320"/>
          </a:xfrm>
          <a:prstGeom prst="rect">
            <a:avLst/>
          </a:prstGeom>
          <a:noFill/>
          <a:ln/>
        </p:spPr>
        <p:txBody>
          <a:bodyPr wrap="square" lIns="0" tIns="0" rIns="0" bIns="0" rtlCol="0" anchor="ctr"/>
          <a:lstStyle/>
          <a:p>
            <a:pPr indent="0" marL="0">
              <a:buNone/>
            </a:pPr>
            <a:r>
              <a:rPr lang="en-US" sz="1250" b="1" dirty="0">
                <a:solidFill>
                  <a:srgbClr val="2C2C2C"/>
                </a:solidFill>
                <a:latin typeface="Calibri" pitchFamily="34" charset="0"/>
                <a:ea typeface="Calibri" pitchFamily="34" charset="-122"/>
                <a:cs typeface="Calibri" pitchFamily="34" charset="-120"/>
              </a:rPr>
              <a:t>Disque local</a:t>
            </a:r>
            <a:endParaRPr lang="en-US" sz="1250" dirty="0"/>
          </a:p>
        </p:txBody>
      </p:sp>
      <p:sp>
        <p:nvSpPr>
          <p:cNvPr id="18" name="Text 16"/>
          <p:cNvSpPr txBox="1"/>
          <p:nvPr/>
        </p:nvSpPr>
        <p:spPr>
          <a:xfrm>
            <a:off x="7150608" y="2724912"/>
            <a:ext cx="1426464" cy="649224"/>
          </a:xfrm>
          <a:prstGeom prst="rect">
            <a:avLst/>
          </a:prstGeom>
          <a:noFill/>
          <a:ln/>
        </p:spPr>
        <p:txBody>
          <a:bodyPr wrap="square" lIns="0" tIns="0" rIns="0" bIns="0" rtlCol="0" anchor="t"/>
          <a:lstStyle/>
          <a:p>
            <a:pPr indent="0" marL="0">
              <a:spcAft>
                <a:spcPts val="200"/>
              </a:spcAft>
              <a:buNone/>
            </a:pPr>
            <a:r>
              <a:rPr lang="en-US" sz="950" dirty="0">
                <a:solidFill>
                  <a:srgbClr val="1E1E1E"/>
                </a:solidFill>
                <a:latin typeface="Calibri" pitchFamily="34" charset="0"/>
                <a:ea typeface="Calibri" pitchFamily="34" charset="-122"/>
                <a:cs typeface="Calibri" pitchFamily="34" charset="-120"/>
              </a:rPr>
              <a:t>Storage/Uploads/ (GUID)</a:t>
            </a:r>
            <a:endParaRPr lang="en-US" sz="950" dirty="0"/>
          </a:p>
          <a:p>
            <a:pPr indent="0" marL="0">
              <a:spcAft>
                <a:spcPts val="200"/>
              </a:spcAft>
              <a:buNone/>
            </a:pPr>
            <a:r>
              <a:rPr lang="en-US" sz="950" dirty="0">
                <a:solidFill>
                  <a:srgbClr val="1E1E1E"/>
                </a:solidFill>
                <a:latin typeface="Calibri" pitchFamily="34" charset="0"/>
                <a:ea typeface="Calibri" pitchFamily="34" charset="-122"/>
                <a:cs typeface="Calibri" pitchFamily="34" charset="-120"/>
              </a:rPr>
              <a:t>volume datashare_uploads</a:t>
            </a:r>
            <a:endParaRPr lang="en-US" sz="950" dirty="0"/>
          </a:p>
        </p:txBody>
      </p:sp>
      <p:sp>
        <p:nvSpPr>
          <p:cNvPr id="19" name="Shape 17"/>
          <p:cNvSpPr/>
          <p:nvPr/>
        </p:nvSpPr>
        <p:spPr>
          <a:xfrm>
            <a:off x="1783080" y="2148840"/>
            <a:ext cx="411480" cy="0"/>
          </a:xfrm>
          <a:prstGeom prst="line">
            <a:avLst/>
          </a:prstGeom>
          <a:noFill/>
          <a:ln w="25400">
            <a:solidFill>
              <a:srgbClr val="DE6262"/>
            </a:solidFill>
            <a:prstDash val="solid"/>
            <a:tailEnd type="triangle"/>
          </a:ln>
        </p:spPr>
      </p:sp>
      <p:sp>
        <p:nvSpPr>
          <p:cNvPr id="20" name="Text 18"/>
          <p:cNvSpPr txBox="1"/>
          <p:nvPr/>
        </p:nvSpPr>
        <p:spPr>
          <a:xfrm>
            <a:off x="1691640" y="1856232"/>
            <a:ext cx="594360" cy="256032"/>
          </a:xfrm>
          <a:prstGeom prst="rect">
            <a:avLst/>
          </a:prstGeom>
          <a:noFill/>
          <a:ln/>
        </p:spPr>
        <p:txBody>
          <a:bodyPr wrap="square" lIns="0" tIns="0" rIns="0" bIns="0" rtlCol="0" anchor="ctr"/>
          <a:lstStyle/>
          <a:p>
            <a:pPr algn="ctr" indent="0" marL="0">
              <a:buNone/>
            </a:pPr>
            <a:r>
              <a:rPr lang="en-US" sz="900" b="1" dirty="0">
                <a:solidFill>
                  <a:srgbClr val="BA681F"/>
                </a:solidFill>
                <a:latin typeface="Calibri" pitchFamily="34" charset="0"/>
                <a:ea typeface="Calibri" pitchFamily="34" charset="-122"/>
                <a:cs typeface="Calibri" pitchFamily="34" charset="-120"/>
              </a:rPr>
              <a:t>HTTPS</a:t>
            </a:r>
            <a:endParaRPr lang="en-US" sz="900" dirty="0"/>
          </a:p>
        </p:txBody>
      </p:sp>
      <p:sp>
        <p:nvSpPr>
          <p:cNvPr id="21" name="Shape 19"/>
          <p:cNvSpPr/>
          <p:nvPr/>
        </p:nvSpPr>
        <p:spPr>
          <a:xfrm>
            <a:off x="3931920" y="2148840"/>
            <a:ext cx="411480" cy="0"/>
          </a:xfrm>
          <a:prstGeom prst="line">
            <a:avLst/>
          </a:prstGeom>
          <a:noFill/>
          <a:ln w="25400">
            <a:solidFill>
              <a:srgbClr val="DE6262"/>
            </a:solidFill>
            <a:prstDash val="solid"/>
            <a:tailEnd type="triangle"/>
          </a:ln>
        </p:spPr>
      </p:sp>
      <p:sp>
        <p:nvSpPr>
          <p:cNvPr id="22" name="Text 20"/>
          <p:cNvSpPr txBox="1"/>
          <p:nvPr/>
        </p:nvSpPr>
        <p:spPr>
          <a:xfrm>
            <a:off x="3840480" y="1856232"/>
            <a:ext cx="594360" cy="256032"/>
          </a:xfrm>
          <a:prstGeom prst="rect">
            <a:avLst/>
          </a:prstGeom>
          <a:noFill/>
          <a:ln/>
        </p:spPr>
        <p:txBody>
          <a:bodyPr wrap="square" lIns="0" tIns="0" rIns="0" bIns="0" rtlCol="0" anchor="ctr"/>
          <a:lstStyle/>
          <a:p>
            <a:pPr algn="ctr" indent="0" marL="0">
              <a:buNone/>
            </a:pPr>
            <a:r>
              <a:rPr lang="en-US" sz="900" b="1" dirty="0">
                <a:solidFill>
                  <a:srgbClr val="BA681F"/>
                </a:solidFill>
                <a:latin typeface="Calibri" pitchFamily="34" charset="0"/>
                <a:ea typeface="Calibri" pitchFamily="34" charset="-122"/>
                <a:cs typeface="Calibri" pitchFamily="34" charset="-120"/>
              </a:rPr>
              <a:t>/api</a:t>
            </a:r>
            <a:endParaRPr lang="en-US" sz="900" dirty="0"/>
          </a:p>
        </p:txBody>
      </p:sp>
      <p:sp>
        <p:nvSpPr>
          <p:cNvPr id="23" name="Shape 21"/>
          <p:cNvSpPr/>
          <p:nvPr/>
        </p:nvSpPr>
        <p:spPr>
          <a:xfrm>
            <a:off x="6629400" y="1600200"/>
            <a:ext cx="411480" cy="0"/>
          </a:xfrm>
          <a:prstGeom prst="line">
            <a:avLst/>
          </a:prstGeom>
          <a:noFill/>
          <a:ln w="25400">
            <a:solidFill>
              <a:srgbClr val="DE6262"/>
            </a:solidFill>
            <a:prstDash val="solid"/>
            <a:tailEnd type="triangle"/>
          </a:ln>
        </p:spPr>
      </p:sp>
      <p:sp>
        <p:nvSpPr>
          <p:cNvPr id="24" name="Text 22"/>
          <p:cNvSpPr txBox="1"/>
          <p:nvPr/>
        </p:nvSpPr>
        <p:spPr>
          <a:xfrm>
            <a:off x="6537960" y="1307592"/>
            <a:ext cx="594360" cy="256032"/>
          </a:xfrm>
          <a:prstGeom prst="rect">
            <a:avLst/>
          </a:prstGeom>
          <a:noFill/>
          <a:ln/>
        </p:spPr>
        <p:txBody>
          <a:bodyPr wrap="square" lIns="0" tIns="0" rIns="0" bIns="0" rtlCol="0" anchor="ctr"/>
          <a:lstStyle/>
          <a:p>
            <a:pPr algn="ctr" indent="0" marL="0">
              <a:buNone/>
            </a:pPr>
            <a:r>
              <a:rPr lang="en-US" sz="900" b="1" dirty="0">
                <a:solidFill>
                  <a:srgbClr val="BA681F"/>
                </a:solidFill>
                <a:latin typeface="Calibri" pitchFamily="34" charset="0"/>
                <a:ea typeface="Calibri" pitchFamily="34" charset="-122"/>
                <a:cs typeface="Calibri" pitchFamily="34" charset="-120"/>
              </a:rPr>
              <a:t>Npgsql</a:t>
            </a:r>
            <a:endParaRPr lang="en-US" sz="900" dirty="0"/>
          </a:p>
        </p:txBody>
      </p:sp>
      <p:sp>
        <p:nvSpPr>
          <p:cNvPr id="25" name="Shape 23"/>
          <p:cNvSpPr/>
          <p:nvPr/>
        </p:nvSpPr>
        <p:spPr>
          <a:xfrm>
            <a:off x="6629400" y="2880360"/>
            <a:ext cx="411480" cy="0"/>
          </a:xfrm>
          <a:prstGeom prst="line">
            <a:avLst/>
          </a:prstGeom>
          <a:noFill/>
          <a:ln w="25400">
            <a:solidFill>
              <a:srgbClr val="DE6262"/>
            </a:solidFill>
            <a:prstDash val="solid"/>
            <a:tailEnd type="triangle"/>
          </a:ln>
        </p:spPr>
      </p:sp>
      <p:sp>
        <p:nvSpPr>
          <p:cNvPr id="26" name="Text 24"/>
          <p:cNvSpPr txBox="1"/>
          <p:nvPr/>
        </p:nvSpPr>
        <p:spPr>
          <a:xfrm>
            <a:off x="6537960" y="2587752"/>
            <a:ext cx="594360" cy="256032"/>
          </a:xfrm>
          <a:prstGeom prst="rect">
            <a:avLst/>
          </a:prstGeom>
          <a:noFill/>
          <a:ln/>
        </p:spPr>
        <p:txBody>
          <a:bodyPr wrap="square" lIns="0" tIns="0" rIns="0" bIns="0" rtlCol="0" anchor="ctr"/>
          <a:lstStyle/>
          <a:p>
            <a:pPr algn="ctr" indent="0" marL="0">
              <a:buNone/>
            </a:pPr>
            <a:r>
              <a:rPr lang="en-US" sz="900" b="1" dirty="0">
                <a:solidFill>
                  <a:srgbClr val="BA681F"/>
                </a:solidFill>
                <a:latin typeface="Calibri" pitchFamily="34" charset="0"/>
                <a:ea typeface="Calibri" pitchFamily="34" charset="-122"/>
                <a:cs typeface="Calibri" pitchFamily="34" charset="-120"/>
              </a:rPr>
              <a:t>I/O</a:t>
            </a:r>
            <a:endParaRPr lang="en-US" sz="900" dirty="0"/>
          </a:p>
        </p:txBody>
      </p:sp>
      <p:sp>
        <p:nvSpPr>
          <p:cNvPr id="27" name="Shape 25"/>
          <p:cNvSpPr/>
          <p:nvPr/>
        </p:nvSpPr>
        <p:spPr>
          <a:xfrm>
            <a:off x="457200" y="3657600"/>
            <a:ext cx="8229600" cy="566928"/>
          </a:xfrm>
          <a:prstGeom prst="roundRect">
            <a:avLst>
              <a:gd name="adj" fmla="val 12903"/>
            </a:avLst>
          </a:prstGeom>
          <a:solidFill>
            <a:srgbClr val="2C2C2C"/>
          </a:solidFill>
          <a:ln w="12700">
            <a:solidFill>
              <a:srgbClr val="2C2C2C"/>
            </a:solidFill>
            <a:prstDash val="solid"/>
          </a:ln>
        </p:spPr>
      </p:sp>
      <p:sp>
        <p:nvSpPr>
          <p:cNvPr id="28" name="Text 26"/>
          <p:cNvSpPr txBox="1"/>
          <p:nvPr/>
        </p:nvSpPr>
        <p:spPr>
          <a:xfrm>
            <a:off x="594360" y="3657600"/>
            <a:ext cx="7955280" cy="566928"/>
          </a:xfrm>
          <a:prstGeom prst="rect">
            <a:avLst/>
          </a:prstGeom>
          <a:noFill/>
          <a:ln/>
        </p:spPr>
        <p:txBody>
          <a:bodyPr wrap="square" lIns="0" tIns="0" rIns="0" bIns="0" rtlCol="0" anchor="ctr"/>
          <a:lstStyle/>
          <a:p>
            <a:pPr indent="0" marL="0">
              <a:buNone/>
            </a:pPr>
            <a:r>
              <a:rPr lang="en-US" sz="1150" b="1" dirty="0">
                <a:solidFill>
                  <a:srgbClr val="FFB88C"/>
                </a:solidFill>
                <a:latin typeface="Calibri" pitchFamily="34" charset="0"/>
                <a:ea typeface="Calibri" pitchFamily="34" charset="-122"/>
                <a:cs typeface="Calibri" pitchFamily="34" charset="-120"/>
              </a:rPr>
              <a:t>Pipeline HTTP  </a:t>
            </a:r>
            <a:pPr indent="0" marL="0">
              <a:buNone/>
            </a:pPr>
            <a:r>
              <a:rPr lang="en-US" sz="1150" dirty="0">
                <a:solidFill>
                  <a:srgbClr val="FFFFFF"/>
                </a:solidFill>
                <a:latin typeface="Calibri" pitchFamily="34" charset="0"/>
                <a:ea typeface="Calibri" pitchFamily="34" charset="-122"/>
                <a:cs typeface="Calibri" pitchFamily="34" charset="-120"/>
              </a:rPr>
              <a:t>RequestMetrics → Routing → CORS (origines autorisées) → Authentication (JWT) → Authorization ([Authorize]) → Controllers</a:t>
            </a:r>
            <a:endParaRPr lang="en-US" sz="1150" dirty="0"/>
          </a:p>
        </p:txBody>
      </p:sp>
      <p:sp>
        <p:nvSpPr>
          <p:cNvPr id="29" name="Text 27"/>
          <p:cNvSpPr txBox="1"/>
          <p:nvPr/>
        </p:nvSpPr>
        <p:spPr>
          <a:xfrm>
            <a:off x="457200" y="4315968"/>
            <a:ext cx="8229600" cy="365760"/>
          </a:xfrm>
          <a:prstGeom prst="rect">
            <a:avLst/>
          </a:prstGeom>
          <a:noFill/>
          <a:ln/>
        </p:spPr>
        <p:txBody>
          <a:bodyPr wrap="square" lIns="0" tIns="0" rIns="0" bIns="0" rtlCol="0" anchor="ctr"/>
          <a:lstStyle/>
          <a:p>
            <a:pPr indent="0" marL="0">
              <a:buNone/>
            </a:pPr>
            <a:r>
              <a:rPr lang="en-US" sz="1050" i="1" dirty="0">
                <a:solidFill>
                  <a:srgbClr val="6B6B6B"/>
                </a:solidFill>
                <a:latin typeface="Calibri" pitchFamily="34" charset="0"/>
                <a:ea typeface="Calibri" pitchFamily="34" charset="-122"/>
                <a:cs typeface="Calibri" pitchFamily="34" charset="-120"/>
              </a:rPr>
              <a:t>Stateless côté API (aucune session serveur) → scalable horizontalement · seules les métadonnées vont en base, le contenu reste sur disque</a:t>
            </a:r>
            <a:endParaRPr lang="en-US" sz="1050" dirty="0"/>
          </a:p>
        </p:txBody>
      </p:sp>
      <p:sp>
        <p:nvSpPr>
          <p:cNvPr id="30" name="Text 28"/>
          <p:cNvSpPr txBox="1"/>
          <p:nvPr/>
        </p:nvSpPr>
        <p:spPr>
          <a:xfrm>
            <a:off x="457200" y="4818888"/>
            <a:ext cx="4572000" cy="228600"/>
          </a:xfrm>
          <a:prstGeom prst="rect">
            <a:avLst/>
          </a:prstGeom>
          <a:noFill/>
          <a:ln/>
        </p:spPr>
        <p:txBody>
          <a:bodyPr wrap="square" lIns="0" tIns="0" rIns="0" bIns="0" rtlCol="0" anchor="ctr"/>
          <a:lstStyle/>
          <a:p>
            <a:pPr indent="0" marL="0">
              <a:buNone/>
            </a:pPr>
            <a:r>
              <a:rPr lang="en-US" sz="900" dirty="0">
                <a:solidFill>
                  <a:srgbClr val="A0A0A0"/>
                </a:solidFill>
                <a:latin typeface="Calibri" pitchFamily="34" charset="0"/>
                <a:ea typeface="Calibri" pitchFamily="34" charset="-122"/>
                <a:cs typeface="Calibri" pitchFamily="34" charset="-120"/>
              </a:rPr>
              <a:t>DataShare — Soutenance Projet 4</a:t>
            </a:r>
            <a:endParaRPr lang="en-US" sz="900" dirty="0"/>
          </a:p>
        </p:txBody>
      </p:sp>
      <p:sp>
        <p:nvSpPr>
          <p:cNvPr id="31" name="Text 29"/>
          <p:cNvSpPr txBox="1"/>
          <p:nvPr/>
        </p:nvSpPr>
        <p:spPr>
          <a:xfrm>
            <a:off x="8229600" y="4818888"/>
            <a:ext cx="457200" cy="228600"/>
          </a:xfrm>
          <a:prstGeom prst="rect">
            <a:avLst/>
          </a:prstGeom>
          <a:noFill/>
          <a:ln/>
        </p:spPr>
        <p:txBody>
          <a:bodyPr wrap="square" lIns="0" tIns="0" rIns="0" bIns="0" rtlCol="0" anchor="ctr"/>
          <a:lstStyle/>
          <a:p>
            <a:pPr algn="r" indent="0" marL="0">
              <a:buNone/>
            </a:pPr>
            <a:r>
              <a:rPr lang="en-US" sz="900" dirty="0">
                <a:solidFill>
                  <a:srgbClr val="A0A0A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3000" b="1" dirty="0">
                <a:solidFill>
                  <a:srgbClr val="2C2C2C"/>
                </a:solidFill>
                <a:latin typeface="Calibri" pitchFamily="34" charset="0"/>
                <a:ea typeface="Calibri" pitchFamily="34" charset="-122"/>
                <a:cs typeface="Calibri" pitchFamily="34" charset="-120"/>
              </a:rPr>
              <a:t>Modèle de données</a:t>
            </a:r>
            <a:endParaRPr lang="en-US" sz="3000" dirty="0"/>
          </a:p>
        </p:txBody>
      </p:sp>
      <p:sp>
        <p:nvSpPr>
          <p:cNvPr id="3" name="Text 1"/>
          <p:cNvSpPr txBox="1"/>
          <p:nvPr/>
        </p:nvSpPr>
        <p:spPr>
          <a:xfrm>
            <a:off x="457200" y="804672"/>
            <a:ext cx="8229600" cy="292608"/>
          </a:xfrm>
          <a:prstGeom prst="rect">
            <a:avLst/>
          </a:prstGeom>
          <a:noFill/>
          <a:ln/>
        </p:spPr>
        <p:txBody>
          <a:bodyPr wrap="square" lIns="0" tIns="0" rIns="0" bIns="0" rtlCol="0" anchor="ctr"/>
          <a:lstStyle/>
          <a:p>
            <a:pPr indent="0" marL="0">
              <a:buNone/>
            </a:pPr>
            <a:r>
              <a:rPr lang="en-US" sz="1300" dirty="0">
                <a:solidFill>
                  <a:srgbClr val="6B6B6B"/>
                </a:solidFill>
                <a:latin typeface="Calibri" pitchFamily="34" charset="0"/>
                <a:ea typeface="Calibri" pitchFamily="34" charset="-122"/>
                <a:cs typeface="Calibri" pitchFamily="34" charset="-120"/>
              </a:rPr>
              <a:t>Deux entités — ASP.NET Core Identity pour les comptes, FileItem pour les fichiers (EF Core 9, PostgreSQL 16)</a:t>
            </a:r>
            <a:endParaRPr lang="en-US" sz="1300" dirty="0"/>
          </a:p>
        </p:txBody>
      </p:sp>
      <p:sp>
        <p:nvSpPr>
          <p:cNvPr id="4" name="Shape 2"/>
          <p:cNvSpPr/>
          <p:nvPr/>
        </p:nvSpPr>
        <p:spPr>
          <a:xfrm>
            <a:off x="457200" y="1280160"/>
            <a:ext cx="2468880" cy="1631290"/>
          </a:xfrm>
          <a:prstGeom prst="roundRect">
            <a:avLst>
              <a:gd name="adj" fmla="val 3363"/>
            </a:avLst>
          </a:prstGeom>
          <a:solidFill>
            <a:srgbClr val="FFFFFF"/>
          </a:solidFill>
          <a:ln w="15875">
            <a:solidFill>
              <a:srgbClr val="3A5A8C"/>
            </a:solidFill>
            <a:prstDash val="solid"/>
          </a:ln>
          <a:effectLst>
            <a:outerShdw sx="100000" sy="100000" kx="0" ky="0" algn="bl" rotWithShape="0" blurRad="76200" dist="25400" dir="5400000">
              <a:srgbClr val="000000">
                <a:alpha val="18000"/>
              </a:srgbClr>
            </a:outerShdw>
          </a:effectLst>
        </p:spPr>
      </p:sp>
      <p:sp>
        <p:nvSpPr>
          <p:cNvPr id="5" name="Shape 3"/>
          <p:cNvSpPr/>
          <p:nvPr/>
        </p:nvSpPr>
        <p:spPr>
          <a:xfrm>
            <a:off x="457200" y="1280160"/>
            <a:ext cx="2468880" cy="384048"/>
          </a:xfrm>
          <a:prstGeom prst="rect">
            <a:avLst/>
          </a:prstGeom>
          <a:solidFill>
            <a:srgbClr val="3A5A8C"/>
          </a:solidFill>
          <a:ln w="12700">
            <a:solidFill>
              <a:srgbClr val="3A5A8C"/>
            </a:solidFill>
            <a:prstDash val="solid"/>
          </a:ln>
        </p:spPr>
      </p:sp>
      <p:sp>
        <p:nvSpPr>
          <p:cNvPr id="6" name="Text 4"/>
          <p:cNvSpPr txBox="1"/>
          <p:nvPr/>
        </p:nvSpPr>
        <p:spPr>
          <a:xfrm>
            <a:off x="566928" y="1280160"/>
            <a:ext cx="2249424" cy="3840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AppUser</a:t>
            </a:r>
            <a:pPr indent="0" marL="0">
              <a:buNone/>
            </a:pPr>
            <a:r>
              <a:rPr lang="en-US" sz="950" i="1" dirty="0">
                <a:solidFill>
                  <a:srgbClr val="FFFFFF"/>
                </a:solidFill>
                <a:latin typeface="Calibri" pitchFamily="34" charset="0"/>
                <a:ea typeface="Calibri" pitchFamily="34" charset="-122"/>
                <a:cs typeface="Calibri" pitchFamily="34" charset="-120"/>
              </a:rPr>
              <a:t>   IdentityUser&lt;Guid&gt;</a:t>
            </a:r>
            <a:endParaRPr lang="en-US" sz="1300" dirty="0"/>
          </a:p>
        </p:txBody>
      </p:sp>
      <p:sp>
        <p:nvSpPr>
          <p:cNvPr id="7" name="Text 5"/>
          <p:cNvSpPr txBox="1"/>
          <p:nvPr/>
        </p:nvSpPr>
        <p:spPr>
          <a:xfrm>
            <a:off x="566928" y="1719072"/>
            <a:ext cx="2249424" cy="1155802"/>
          </a:xfrm>
          <a:prstGeom prst="rect">
            <a:avLst/>
          </a:prstGeom>
          <a:noFill/>
          <a:ln/>
        </p:spPr>
        <p:txBody>
          <a:bodyPr wrap="square" lIns="0" tIns="0" rIns="0" bIns="0" rtlCol="0" anchor="t"/>
          <a:lstStyle/>
          <a:p>
            <a:pPr indent="0" marL="0">
              <a:spcAft>
                <a:spcPts val="100"/>
              </a:spcAft>
              <a:buNone/>
            </a:pPr>
            <a:r>
              <a:rPr lang="en-US" sz="950" b="1" dirty="0">
                <a:solidFill>
                  <a:srgbClr val="1E1E1E"/>
                </a:solidFill>
                <a:latin typeface="Courier New" pitchFamily="34" charset="0"/>
                <a:ea typeface="Courier New" pitchFamily="34" charset="-122"/>
                <a:cs typeface="Courier New" pitchFamily="34" charset="-120"/>
              </a:rPr>
              <a:t>Id : Guid  PK</a:t>
            </a:r>
            <a:endParaRPr lang="en-US" sz="950" dirty="0"/>
          </a:p>
          <a:p>
            <a:pPr indent="0" marL="0">
              <a:spcAft>
                <a:spcPts val="100"/>
              </a:spcAft>
              <a:buNone/>
            </a:pPr>
            <a:r>
              <a:rPr lang="en-US" sz="950" dirty="0">
                <a:solidFill>
                  <a:srgbClr val="1E1E1E"/>
                </a:solidFill>
                <a:latin typeface="Courier New" pitchFamily="34" charset="0"/>
                <a:ea typeface="Courier New" pitchFamily="34" charset="-122"/>
                <a:cs typeface="Courier New" pitchFamily="34" charset="-120"/>
              </a:rPr>
              <a:t>Email : string  unique</a:t>
            </a:r>
            <a:endParaRPr lang="en-US" sz="950" dirty="0"/>
          </a:p>
          <a:p>
            <a:pPr indent="0" marL="0">
              <a:spcAft>
                <a:spcPts val="100"/>
              </a:spcAft>
              <a:buNone/>
            </a:pPr>
            <a:r>
              <a:rPr lang="en-US" sz="950" dirty="0">
                <a:solidFill>
                  <a:srgbClr val="1E1E1E"/>
                </a:solidFill>
                <a:latin typeface="Courier New" pitchFamily="34" charset="0"/>
                <a:ea typeface="Courier New" pitchFamily="34" charset="-122"/>
                <a:cs typeface="Courier New" pitchFamily="34" charset="-120"/>
              </a:rPr>
              <a:t>UserName : string</a:t>
            </a:r>
            <a:endParaRPr lang="en-US" sz="950" dirty="0"/>
          </a:p>
          <a:p>
            <a:pPr indent="0" marL="0">
              <a:spcAft>
                <a:spcPts val="100"/>
              </a:spcAft>
              <a:buNone/>
            </a:pPr>
            <a:r>
              <a:rPr lang="en-US" sz="950" dirty="0">
                <a:solidFill>
                  <a:srgbClr val="1E1E1E"/>
                </a:solidFill>
                <a:latin typeface="Courier New" pitchFamily="34" charset="0"/>
                <a:ea typeface="Courier New" pitchFamily="34" charset="-122"/>
                <a:cs typeface="Courier New" pitchFamily="34" charset="-120"/>
              </a:rPr>
              <a:t>PasswordHash : string  PBKDF2</a:t>
            </a:r>
            <a:endParaRPr lang="en-US" sz="950" dirty="0"/>
          </a:p>
          <a:p>
            <a:pPr indent="0" marL="0">
              <a:spcAft>
                <a:spcPts val="100"/>
              </a:spcAft>
              <a:buNone/>
            </a:pPr>
            <a:r>
              <a:rPr lang="en-US" sz="950" dirty="0">
                <a:solidFill>
                  <a:srgbClr val="1E1E1E"/>
                </a:solidFill>
                <a:latin typeface="Courier New" pitchFamily="34" charset="0"/>
                <a:ea typeface="Courier New" pitchFamily="34" charset="-122"/>
                <a:cs typeface="Courier New" pitchFamily="34" charset="-120"/>
              </a:rPr>
              <a:t>SecurityStamp</a:t>
            </a:r>
            <a:endParaRPr lang="en-US" sz="950" dirty="0"/>
          </a:p>
          <a:p>
            <a:pPr indent="0" marL="0">
              <a:spcAft>
                <a:spcPts val="100"/>
              </a:spcAft>
              <a:buNone/>
            </a:pPr>
            <a:r>
              <a:rPr lang="en-US" sz="950" dirty="0">
                <a:solidFill>
                  <a:srgbClr val="1E1E1E"/>
                </a:solidFill>
                <a:latin typeface="Courier New" pitchFamily="34" charset="0"/>
                <a:ea typeface="Courier New" pitchFamily="34" charset="-122"/>
                <a:cs typeface="Courier New" pitchFamily="34" charset="-120"/>
              </a:rPr>
              <a:t>ConcurrencyStamp</a:t>
            </a:r>
            <a:endParaRPr lang="en-US" sz="950" dirty="0"/>
          </a:p>
          <a:p>
            <a:pPr indent="0" marL="0">
              <a:spcAft>
                <a:spcPts val="100"/>
              </a:spcAft>
              <a:buNone/>
            </a:pPr>
            <a:r>
              <a:rPr lang="en-US" sz="950" dirty="0">
                <a:solidFill>
                  <a:srgbClr val="1E1E1E"/>
                </a:solidFill>
                <a:latin typeface="Courier New" pitchFamily="34" charset="0"/>
                <a:ea typeface="Courier New" pitchFamily="34" charset="-122"/>
                <a:cs typeface="Courier New" pitchFamily="34" charset="-120"/>
              </a:rPr>
              <a:t>+ tables Identity (rôles…)</a:t>
            </a:r>
            <a:endParaRPr lang="en-US" sz="950" dirty="0"/>
          </a:p>
        </p:txBody>
      </p:sp>
      <p:sp>
        <p:nvSpPr>
          <p:cNvPr id="8" name="Shape 6"/>
          <p:cNvSpPr/>
          <p:nvPr/>
        </p:nvSpPr>
        <p:spPr>
          <a:xfrm>
            <a:off x="3657600" y="1280160"/>
            <a:ext cx="2926080" cy="2260397"/>
          </a:xfrm>
          <a:prstGeom prst="roundRect">
            <a:avLst>
              <a:gd name="adj" fmla="val 2427"/>
            </a:avLst>
          </a:prstGeom>
          <a:solidFill>
            <a:srgbClr val="FFFFFF"/>
          </a:solidFill>
          <a:ln w="15875">
            <a:solidFill>
              <a:srgbClr val="DE6262"/>
            </a:solidFill>
            <a:prstDash val="solid"/>
          </a:ln>
          <a:effectLst>
            <a:outerShdw sx="100000" sy="100000" kx="0" ky="0" algn="bl" rotWithShape="0" blurRad="76200" dist="25400" dir="5400000">
              <a:srgbClr val="000000">
                <a:alpha val="18000"/>
              </a:srgbClr>
            </a:outerShdw>
          </a:effectLst>
        </p:spPr>
      </p:sp>
      <p:sp>
        <p:nvSpPr>
          <p:cNvPr id="9" name="Shape 7"/>
          <p:cNvSpPr/>
          <p:nvPr/>
        </p:nvSpPr>
        <p:spPr>
          <a:xfrm>
            <a:off x="3657600" y="1280160"/>
            <a:ext cx="2926080" cy="384048"/>
          </a:xfrm>
          <a:prstGeom prst="rect">
            <a:avLst/>
          </a:prstGeom>
          <a:solidFill>
            <a:srgbClr val="DE6262"/>
          </a:solidFill>
          <a:ln w="12700">
            <a:solidFill>
              <a:srgbClr val="DE6262"/>
            </a:solidFill>
            <a:prstDash val="solid"/>
          </a:ln>
        </p:spPr>
      </p:sp>
      <p:sp>
        <p:nvSpPr>
          <p:cNvPr id="10" name="Text 8"/>
          <p:cNvSpPr txBox="1"/>
          <p:nvPr/>
        </p:nvSpPr>
        <p:spPr>
          <a:xfrm>
            <a:off x="3767328" y="1280160"/>
            <a:ext cx="2706624" cy="3840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FileItem</a:t>
            </a:r>
            <a:pPr indent="0" marL="0">
              <a:buNone/>
            </a:pPr>
            <a:r>
              <a:rPr lang="en-US" sz="950" i="1" dirty="0">
                <a:solidFill>
                  <a:srgbClr val="FFFFFF"/>
                </a:solidFill>
                <a:latin typeface="Calibri" pitchFamily="34" charset="0"/>
                <a:ea typeface="Calibri" pitchFamily="34" charset="-122"/>
                <a:cs typeface="Calibri" pitchFamily="34" charset="-120"/>
              </a:rPr>
              <a:t>   table Files</a:t>
            </a:r>
            <a:endParaRPr lang="en-US" sz="1300" dirty="0"/>
          </a:p>
        </p:txBody>
      </p:sp>
      <p:sp>
        <p:nvSpPr>
          <p:cNvPr id="11" name="Text 9"/>
          <p:cNvSpPr txBox="1"/>
          <p:nvPr/>
        </p:nvSpPr>
        <p:spPr>
          <a:xfrm>
            <a:off x="3767328" y="1719072"/>
            <a:ext cx="2706624" cy="1784909"/>
          </a:xfrm>
          <a:prstGeom prst="rect">
            <a:avLst/>
          </a:prstGeom>
          <a:noFill/>
          <a:ln/>
        </p:spPr>
        <p:txBody>
          <a:bodyPr wrap="square" lIns="0" tIns="0" rIns="0" bIns="0" rtlCol="0" anchor="t"/>
          <a:lstStyle/>
          <a:p>
            <a:pPr indent="0" marL="0">
              <a:spcAft>
                <a:spcPts val="100"/>
              </a:spcAft>
              <a:buNone/>
            </a:pPr>
            <a:r>
              <a:rPr lang="en-US" sz="950" b="1" dirty="0">
                <a:solidFill>
                  <a:srgbClr val="1E1E1E"/>
                </a:solidFill>
                <a:latin typeface="Courier New" pitchFamily="34" charset="0"/>
                <a:ea typeface="Courier New" pitchFamily="34" charset="-122"/>
                <a:cs typeface="Courier New" pitchFamily="34" charset="-120"/>
              </a:rPr>
              <a:t>Id : Guid  PK</a:t>
            </a:r>
            <a:endParaRPr lang="en-US" sz="950" dirty="0"/>
          </a:p>
          <a:p>
            <a:pPr indent="0" marL="0">
              <a:spcAft>
                <a:spcPts val="100"/>
              </a:spcAft>
              <a:buNone/>
            </a:pPr>
            <a:r>
              <a:rPr lang="en-US" sz="950" b="1" dirty="0">
                <a:solidFill>
                  <a:srgbClr val="1E1E1E"/>
                </a:solidFill>
                <a:latin typeface="Courier New" pitchFamily="34" charset="0"/>
                <a:ea typeface="Courier New" pitchFamily="34" charset="-122"/>
                <a:cs typeface="Courier New" pitchFamily="34" charset="-120"/>
              </a:rPr>
              <a:t>OwnerId : Guid?  FK nullable</a:t>
            </a:r>
            <a:endParaRPr lang="en-US" sz="950" dirty="0"/>
          </a:p>
          <a:p>
            <a:pPr indent="0" marL="0">
              <a:spcAft>
                <a:spcPts val="100"/>
              </a:spcAft>
              <a:buNone/>
            </a:pPr>
            <a:r>
              <a:rPr lang="en-US" sz="950" dirty="0">
                <a:solidFill>
                  <a:srgbClr val="1E1E1E"/>
                </a:solidFill>
                <a:latin typeface="Courier New" pitchFamily="34" charset="0"/>
                <a:ea typeface="Courier New" pitchFamily="34" charset="-122"/>
                <a:cs typeface="Courier New" pitchFamily="34" charset="-120"/>
              </a:rPr>
              <a:t>OriginalFileName : string(255)</a:t>
            </a:r>
            <a:endParaRPr lang="en-US" sz="950" dirty="0"/>
          </a:p>
          <a:p>
            <a:pPr indent="0" marL="0">
              <a:spcAft>
                <a:spcPts val="100"/>
              </a:spcAft>
              <a:buNone/>
            </a:pPr>
            <a:r>
              <a:rPr lang="en-US" sz="950" dirty="0">
                <a:solidFill>
                  <a:srgbClr val="1E1E1E"/>
                </a:solidFill>
                <a:latin typeface="Courier New" pitchFamily="34" charset="0"/>
                <a:ea typeface="Courier New" pitchFamily="34" charset="-122"/>
                <a:cs typeface="Courier New" pitchFamily="34" charset="-120"/>
              </a:rPr>
              <a:t>StoredFileName : string  GUID.ext</a:t>
            </a:r>
            <a:endParaRPr lang="en-US" sz="950" dirty="0"/>
          </a:p>
          <a:p>
            <a:pPr indent="0" marL="0">
              <a:spcAft>
                <a:spcPts val="100"/>
              </a:spcAft>
              <a:buNone/>
            </a:pPr>
            <a:r>
              <a:rPr lang="en-US" sz="950" dirty="0">
                <a:solidFill>
                  <a:srgbClr val="1E1E1E"/>
                </a:solidFill>
                <a:latin typeface="Courier New" pitchFamily="34" charset="0"/>
                <a:ea typeface="Courier New" pitchFamily="34" charset="-122"/>
                <a:cs typeface="Courier New" pitchFamily="34" charset="-120"/>
              </a:rPr>
              <a:t>ContentType : string?(255)</a:t>
            </a:r>
            <a:endParaRPr lang="en-US" sz="950" dirty="0"/>
          </a:p>
          <a:p>
            <a:pPr indent="0" marL="0">
              <a:spcAft>
                <a:spcPts val="100"/>
              </a:spcAft>
              <a:buNone/>
            </a:pPr>
            <a:r>
              <a:rPr lang="en-US" sz="950" dirty="0">
                <a:solidFill>
                  <a:srgbClr val="1E1E1E"/>
                </a:solidFill>
                <a:latin typeface="Courier New" pitchFamily="34" charset="0"/>
                <a:ea typeface="Courier New" pitchFamily="34" charset="-122"/>
                <a:cs typeface="Courier New" pitchFamily="34" charset="-120"/>
              </a:rPr>
              <a:t>SizeBytes : long</a:t>
            </a:r>
            <a:endParaRPr lang="en-US" sz="950" dirty="0"/>
          </a:p>
          <a:p>
            <a:pPr indent="0" marL="0">
              <a:spcAft>
                <a:spcPts val="100"/>
              </a:spcAft>
              <a:buNone/>
            </a:pPr>
            <a:r>
              <a:rPr lang="en-US" sz="950" dirty="0">
                <a:solidFill>
                  <a:srgbClr val="1E1E1E"/>
                </a:solidFill>
                <a:latin typeface="Courier New" pitchFamily="34" charset="0"/>
                <a:ea typeface="Courier New" pitchFamily="34" charset="-122"/>
                <a:cs typeface="Courier New" pitchFamily="34" charset="-120"/>
              </a:rPr>
              <a:t>Token : string(128)  unique</a:t>
            </a:r>
            <a:endParaRPr lang="en-US" sz="950" dirty="0"/>
          </a:p>
          <a:p>
            <a:pPr indent="0" marL="0">
              <a:spcAft>
                <a:spcPts val="100"/>
              </a:spcAft>
              <a:buNone/>
            </a:pPr>
            <a:r>
              <a:rPr lang="en-US" sz="950" dirty="0">
                <a:solidFill>
                  <a:srgbClr val="1E1E1E"/>
                </a:solidFill>
                <a:latin typeface="Courier New" pitchFamily="34" charset="0"/>
                <a:ea typeface="Courier New" pitchFamily="34" charset="-122"/>
                <a:cs typeface="Courier New" pitchFamily="34" charset="-120"/>
              </a:rPr>
              <a:t>CreatedAt : DateTimeOffset</a:t>
            </a:r>
            <a:endParaRPr lang="en-US" sz="950" dirty="0"/>
          </a:p>
          <a:p>
            <a:pPr indent="0" marL="0">
              <a:spcAft>
                <a:spcPts val="100"/>
              </a:spcAft>
              <a:buNone/>
            </a:pPr>
            <a:r>
              <a:rPr lang="en-US" sz="950" dirty="0">
                <a:solidFill>
                  <a:srgbClr val="1E1E1E"/>
                </a:solidFill>
                <a:latin typeface="Courier New" pitchFamily="34" charset="0"/>
                <a:ea typeface="Courier New" pitchFamily="34" charset="-122"/>
                <a:cs typeface="Courier New" pitchFamily="34" charset="-120"/>
              </a:rPr>
              <a:t>ExpiresAt : DateTimeOffset</a:t>
            </a:r>
            <a:endParaRPr lang="en-US" sz="950" dirty="0"/>
          </a:p>
          <a:p>
            <a:pPr indent="0" marL="0">
              <a:spcAft>
                <a:spcPts val="100"/>
              </a:spcAft>
              <a:buNone/>
            </a:pPr>
            <a:r>
              <a:rPr lang="en-US" sz="950" dirty="0">
                <a:solidFill>
                  <a:srgbClr val="1E1E1E"/>
                </a:solidFill>
                <a:latin typeface="Courier New" pitchFamily="34" charset="0"/>
                <a:ea typeface="Courier New" pitchFamily="34" charset="-122"/>
                <a:cs typeface="Courier New" pitchFamily="34" charset="-120"/>
              </a:rPr>
              <a:t>PasswordHash : string?  PBKDF2</a:t>
            </a:r>
            <a:endParaRPr lang="en-US" sz="950" dirty="0"/>
          </a:p>
          <a:p>
            <a:pPr indent="0" marL="0">
              <a:spcAft>
                <a:spcPts val="100"/>
              </a:spcAft>
              <a:buNone/>
            </a:pPr>
            <a:r>
              <a:rPr lang="en-US" sz="950" dirty="0">
                <a:solidFill>
                  <a:srgbClr val="1E1E1E"/>
                </a:solidFill>
                <a:latin typeface="Courier New" pitchFamily="34" charset="0"/>
                <a:ea typeface="Courier New" pitchFamily="34" charset="-122"/>
                <a:cs typeface="Courier New" pitchFamily="34" charset="-120"/>
              </a:rPr>
              <a:t>Tags : string[]  text[]</a:t>
            </a:r>
            <a:endParaRPr lang="en-US" sz="950" dirty="0"/>
          </a:p>
        </p:txBody>
      </p:sp>
      <p:sp>
        <p:nvSpPr>
          <p:cNvPr id="12" name="Shape 10"/>
          <p:cNvSpPr/>
          <p:nvPr/>
        </p:nvSpPr>
        <p:spPr>
          <a:xfrm>
            <a:off x="2926080" y="2103120"/>
            <a:ext cx="731520" cy="0"/>
          </a:xfrm>
          <a:prstGeom prst="line">
            <a:avLst/>
          </a:prstGeom>
          <a:noFill/>
          <a:ln w="19050">
            <a:solidFill>
              <a:srgbClr val="2C2C2C"/>
            </a:solidFill>
            <a:prstDash val="solid"/>
          </a:ln>
        </p:spPr>
      </p:sp>
      <p:sp>
        <p:nvSpPr>
          <p:cNvPr id="13" name="Text 11"/>
          <p:cNvSpPr txBox="1"/>
          <p:nvPr/>
        </p:nvSpPr>
        <p:spPr>
          <a:xfrm>
            <a:off x="2944368" y="1828800"/>
            <a:ext cx="274320" cy="256032"/>
          </a:xfrm>
          <a:prstGeom prst="rect">
            <a:avLst/>
          </a:prstGeom>
          <a:noFill/>
          <a:ln/>
        </p:spPr>
        <p:txBody>
          <a:bodyPr wrap="square" lIns="0" tIns="0" rIns="0" bIns="0" rtlCol="0" anchor="ctr"/>
          <a:lstStyle/>
          <a:p>
            <a:pPr indent="0" marL="0">
              <a:buNone/>
            </a:pPr>
            <a:r>
              <a:rPr lang="en-US" sz="1000" b="1" dirty="0">
                <a:solidFill>
                  <a:srgbClr val="2C2C2C"/>
                </a:solidFill>
                <a:latin typeface="Calibri" pitchFamily="34" charset="0"/>
                <a:ea typeface="Calibri" pitchFamily="34" charset="-122"/>
                <a:cs typeface="Calibri" pitchFamily="34" charset="-120"/>
              </a:rPr>
              <a:t>1</a:t>
            </a:r>
            <a:endParaRPr lang="en-US" sz="1000" dirty="0"/>
          </a:p>
        </p:txBody>
      </p:sp>
      <p:sp>
        <p:nvSpPr>
          <p:cNvPr id="14" name="Text 12"/>
          <p:cNvSpPr txBox="1"/>
          <p:nvPr/>
        </p:nvSpPr>
        <p:spPr>
          <a:xfrm>
            <a:off x="3291840" y="1828800"/>
            <a:ext cx="411480" cy="256032"/>
          </a:xfrm>
          <a:prstGeom prst="rect">
            <a:avLst/>
          </a:prstGeom>
          <a:noFill/>
          <a:ln/>
        </p:spPr>
        <p:txBody>
          <a:bodyPr wrap="square" lIns="0" tIns="0" rIns="0" bIns="0" rtlCol="0" anchor="ctr"/>
          <a:lstStyle/>
          <a:p>
            <a:pPr algn="r" indent="0" marL="0">
              <a:buNone/>
            </a:pPr>
            <a:r>
              <a:rPr lang="en-US" sz="1000" b="1" dirty="0">
                <a:solidFill>
                  <a:srgbClr val="2C2C2C"/>
                </a:solidFill>
                <a:latin typeface="Calibri" pitchFamily="34" charset="0"/>
                <a:ea typeface="Calibri" pitchFamily="34" charset="-122"/>
                <a:cs typeface="Calibri" pitchFamily="34" charset="-120"/>
              </a:rPr>
              <a:t>0..n</a:t>
            </a:r>
            <a:endParaRPr lang="en-US" sz="1000" dirty="0"/>
          </a:p>
        </p:txBody>
      </p:sp>
      <p:sp>
        <p:nvSpPr>
          <p:cNvPr id="15" name="Text 13"/>
          <p:cNvSpPr txBox="1"/>
          <p:nvPr/>
        </p:nvSpPr>
        <p:spPr>
          <a:xfrm>
            <a:off x="2926080" y="2139696"/>
            <a:ext cx="731520" cy="237744"/>
          </a:xfrm>
          <a:prstGeom prst="rect">
            <a:avLst/>
          </a:prstGeom>
          <a:noFill/>
          <a:ln/>
        </p:spPr>
        <p:txBody>
          <a:bodyPr wrap="square" lIns="0" tIns="0" rIns="0" bIns="0" rtlCol="0" anchor="ctr"/>
          <a:lstStyle/>
          <a:p>
            <a:pPr algn="ctr" indent="0" marL="0">
              <a:buNone/>
            </a:pPr>
            <a:r>
              <a:rPr lang="en-US" sz="900" i="1" dirty="0">
                <a:solidFill>
                  <a:srgbClr val="6B6B6B"/>
                </a:solidFill>
                <a:latin typeface="Calibri" pitchFamily="34" charset="0"/>
                <a:ea typeface="Calibri" pitchFamily="34" charset="-122"/>
                <a:cs typeface="Calibri" pitchFamily="34" charset="-120"/>
              </a:rPr>
              <a:t>possède</a:t>
            </a:r>
            <a:endParaRPr lang="en-US" sz="900" dirty="0"/>
          </a:p>
        </p:txBody>
      </p:sp>
      <p:sp>
        <p:nvSpPr>
          <p:cNvPr id="16" name="Shape 14"/>
          <p:cNvSpPr/>
          <p:nvPr/>
        </p:nvSpPr>
        <p:spPr>
          <a:xfrm>
            <a:off x="6812280" y="1298448"/>
            <a:ext cx="329184" cy="329184"/>
          </a:xfrm>
          <a:prstGeom prst="ellipse">
            <a:avLst/>
          </a:prstGeom>
          <a:solidFill>
            <a:srgbClr val="DE6262"/>
          </a:solidFill>
          <a:ln w="12700">
            <a:solidFill>
              <a:srgbClr val="DE6262"/>
            </a:solidFill>
            <a:prstDash val="solid"/>
          </a:ln>
        </p:spPr>
      </p:sp>
      <p:pic>
        <p:nvPicPr>
          <p:cNvPr id="17" name="Image 0" descr="preencoded.png">    </p:cNvPr>
          <p:cNvPicPr>
            <a:picLocks noChangeAspect="1"/>
          </p:cNvPicPr>
          <p:nvPr/>
        </p:nvPicPr>
        <p:blipFill>
          <a:blip r:embed="rId1"/>
          <a:stretch>
            <a:fillRect/>
          </a:stretch>
        </p:blipFill>
        <p:spPr>
          <a:xfrm>
            <a:off x="6891284" y="1377452"/>
            <a:ext cx="171176" cy="171176"/>
          </a:xfrm>
          <a:prstGeom prst="rect">
            <a:avLst/>
          </a:prstGeom>
        </p:spPr>
      </p:pic>
      <p:sp>
        <p:nvSpPr>
          <p:cNvPr id="18" name="Text 15"/>
          <p:cNvSpPr txBox="1"/>
          <p:nvPr/>
        </p:nvSpPr>
        <p:spPr>
          <a:xfrm>
            <a:off x="7242048" y="1280160"/>
            <a:ext cx="1508760" cy="237744"/>
          </a:xfrm>
          <a:prstGeom prst="rect">
            <a:avLst/>
          </a:prstGeom>
          <a:noFill/>
          <a:ln/>
        </p:spPr>
        <p:txBody>
          <a:bodyPr wrap="square" lIns="0" tIns="0" rIns="0" bIns="0" rtlCol="0" anchor="ctr"/>
          <a:lstStyle/>
          <a:p>
            <a:pPr indent="0" marL="0">
              <a:buNone/>
            </a:pPr>
            <a:r>
              <a:rPr lang="en-US" sz="1150" b="1" dirty="0">
                <a:solidFill>
                  <a:srgbClr val="2C2C2C"/>
                </a:solidFill>
                <a:latin typeface="Calibri" pitchFamily="34" charset="0"/>
                <a:ea typeface="Calibri" pitchFamily="34" charset="-122"/>
                <a:cs typeface="Calibri" pitchFamily="34" charset="-120"/>
              </a:rPr>
              <a:t>OwnerId nullable</a:t>
            </a:r>
            <a:endParaRPr lang="en-US" sz="1150" dirty="0"/>
          </a:p>
        </p:txBody>
      </p:sp>
      <p:sp>
        <p:nvSpPr>
          <p:cNvPr id="19" name="Text 16"/>
          <p:cNvSpPr txBox="1"/>
          <p:nvPr/>
        </p:nvSpPr>
        <p:spPr>
          <a:xfrm>
            <a:off x="7242048" y="1517904"/>
            <a:ext cx="1508760" cy="566928"/>
          </a:xfrm>
          <a:prstGeom prst="rect">
            <a:avLst/>
          </a:prstGeom>
          <a:noFill/>
          <a:ln/>
        </p:spPr>
        <p:txBody>
          <a:bodyPr wrap="square" lIns="0" tIns="0" rIns="0" bIns="0" rtlCol="0" anchor="t"/>
          <a:lstStyle/>
          <a:p>
            <a:pPr indent="0" marL="0">
              <a:buNone/>
            </a:pPr>
            <a:r>
              <a:rPr lang="en-US" sz="900" dirty="0">
                <a:solidFill>
                  <a:srgbClr val="1E1E1E"/>
                </a:solidFill>
                <a:latin typeface="Calibri" pitchFamily="34" charset="0"/>
                <a:ea typeface="Calibri" pitchFamily="34" charset="-122"/>
                <a:cs typeface="Calibri" pitchFamily="34" charset="-120"/>
              </a:rPr>
              <a:t>L'upload anonyme (US07) crée un fichier sans propriétaire : il n'apparaît dans aucun historique.</a:t>
            </a:r>
            <a:endParaRPr lang="en-US" sz="900" dirty="0"/>
          </a:p>
        </p:txBody>
      </p:sp>
      <p:sp>
        <p:nvSpPr>
          <p:cNvPr id="20" name="Shape 17"/>
          <p:cNvSpPr/>
          <p:nvPr/>
        </p:nvSpPr>
        <p:spPr>
          <a:xfrm>
            <a:off x="6812280" y="2139696"/>
            <a:ext cx="329184" cy="329184"/>
          </a:xfrm>
          <a:prstGeom prst="ellipse">
            <a:avLst/>
          </a:prstGeom>
          <a:solidFill>
            <a:srgbClr val="DE6262"/>
          </a:solidFill>
          <a:ln w="12700">
            <a:solidFill>
              <a:srgbClr val="DE6262"/>
            </a:solidFill>
            <a:prstDash val="solid"/>
          </a:ln>
        </p:spPr>
      </p:sp>
      <p:pic>
        <p:nvPicPr>
          <p:cNvPr id="21" name="Image 1" descr="preencoded.png">    </p:cNvPr>
          <p:cNvPicPr>
            <a:picLocks noChangeAspect="1"/>
          </p:cNvPicPr>
          <p:nvPr/>
        </p:nvPicPr>
        <p:blipFill>
          <a:blip r:embed="rId2"/>
          <a:stretch>
            <a:fillRect/>
          </a:stretch>
        </p:blipFill>
        <p:spPr>
          <a:xfrm>
            <a:off x="6891284" y="2218700"/>
            <a:ext cx="171176" cy="171176"/>
          </a:xfrm>
          <a:prstGeom prst="rect">
            <a:avLst/>
          </a:prstGeom>
        </p:spPr>
      </p:pic>
      <p:sp>
        <p:nvSpPr>
          <p:cNvPr id="22" name="Text 18"/>
          <p:cNvSpPr txBox="1"/>
          <p:nvPr/>
        </p:nvSpPr>
        <p:spPr>
          <a:xfrm>
            <a:off x="7242048" y="2121408"/>
            <a:ext cx="1508760" cy="237744"/>
          </a:xfrm>
          <a:prstGeom prst="rect">
            <a:avLst/>
          </a:prstGeom>
          <a:noFill/>
          <a:ln/>
        </p:spPr>
        <p:txBody>
          <a:bodyPr wrap="square" lIns="0" tIns="0" rIns="0" bIns="0" rtlCol="0" anchor="ctr"/>
          <a:lstStyle/>
          <a:p>
            <a:pPr indent="0" marL="0">
              <a:buNone/>
            </a:pPr>
            <a:r>
              <a:rPr lang="en-US" sz="1150" b="1" dirty="0">
                <a:solidFill>
                  <a:srgbClr val="2C2C2C"/>
                </a:solidFill>
                <a:latin typeface="Calibri" pitchFamily="34" charset="0"/>
                <a:ea typeface="Calibri" pitchFamily="34" charset="-122"/>
                <a:cs typeface="Calibri" pitchFamily="34" charset="-120"/>
              </a:rPr>
              <a:t>Token ≠ Id</a:t>
            </a:r>
            <a:endParaRPr lang="en-US" sz="1150" dirty="0"/>
          </a:p>
        </p:txBody>
      </p:sp>
      <p:sp>
        <p:nvSpPr>
          <p:cNvPr id="23" name="Text 19"/>
          <p:cNvSpPr txBox="1"/>
          <p:nvPr/>
        </p:nvSpPr>
        <p:spPr>
          <a:xfrm>
            <a:off x="7242048" y="2359152"/>
            <a:ext cx="1508760" cy="566928"/>
          </a:xfrm>
          <a:prstGeom prst="rect">
            <a:avLst/>
          </a:prstGeom>
          <a:noFill/>
          <a:ln/>
        </p:spPr>
        <p:txBody>
          <a:bodyPr wrap="square" lIns="0" tIns="0" rIns="0" bIns="0" rtlCol="0" anchor="t"/>
          <a:lstStyle/>
          <a:p>
            <a:pPr indent="0" marL="0">
              <a:buNone/>
            </a:pPr>
            <a:r>
              <a:rPr lang="en-US" sz="900" dirty="0">
                <a:solidFill>
                  <a:srgbClr val="1E1E1E"/>
                </a:solidFill>
                <a:latin typeface="Calibri" pitchFamily="34" charset="0"/>
                <a:ea typeface="Calibri" pitchFamily="34" charset="-122"/>
                <a:cs typeface="Calibri" pitchFamily="34" charset="-120"/>
              </a:rPr>
              <a:t>Le lien public utilise un token aléatoire de 32 octets (CSPRNG, Base64Url, index unique), jamais l'identifiant technique.</a:t>
            </a:r>
            <a:endParaRPr lang="en-US" sz="900" dirty="0"/>
          </a:p>
        </p:txBody>
      </p:sp>
      <p:sp>
        <p:nvSpPr>
          <p:cNvPr id="24" name="Shape 20"/>
          <p:cNvSpPr/>
          <p:nvPr/>
        </p:nvSpPr>
        <p:spPr>
          <a:xfrm>
            <a:off x="6812280" y="2980944"/>
            <a:ext cx="329184" cy="329184"/>
          </a:xfrm>
          <a:prstGeom prst="ellipse">
            <a:avLst/>
          </a:prstGeom>
          <a:solidFill>
            <a:srgbClr val="DE6262"/>
          </a:solidFill>
          <a:ln w="12700">
            <a:solidFill>
              <a:srgbClr val="DE6262"/>
            </a:solidFill>
            <a:prstDash val="solid"/>
          </a:ln>
        </p:spPr>
      </p:sp>
      <p:pic>
        <p:nvPicPr>
          <p:cNvPr id="25" name="Image 2" descr="preencoded.png">    </p:cNvPr>
          <p:cNvPicPr>
            <a:picLocks noChangeAspect="1"/>
          </p:cNvPicPr>
          <p:nvPr/>
        </p:nvPicPr>
        <p:blipFill>
          <a:blip r:embed="rId3"/>
          <a:stretch>
            <a:fillRect/>
          </a:stretch>
        </p:blipFill>
        <p:spPr>
          <a:xfrm>
            <a:off x="6891284" y="3059948"/>
            <a:ext cx="171176" cy="171176"/>
          </a:xfrm>
          <a:prstGeom prst="rect">
            <a:avLst/>
          </a:prstGeom>
        </p:spPr>
      </p:pic>
      <p:sp>
        <p:nvSpPr>
          <p:cNvPr id="26" name="Text 21"/>
          <p:cNvSpPr txBox="1"/>
          <p:nvPr/>
        </p:nvSpPr>
        <p:spPr>
          <a:xfrm>
            <a:off x="7242048" y="2962656"/>
            <a:ext cx="1508760" cy="237744"/>
          </a:xfrm>
          <a:prstGeom prst="rect">
            <a:avLst/>
          </a:prstGeom>
          <a:noFill/>
          <a:ln/>
        </p:spPr>
        <p:txBody>
          <a:bodyPr wrap="square" lIns="0" tIns="0" rIns="0" bIns="0" rtlCol="0" anchor="ctr"/>
          <a:lstStyle/>
          <a:p>
            <a:pPr indent="0" marL="0">
              <a:buNone/>
            </a:pPr>
            <a:r>
              <a:rPr lang="en-US" sz="1150" b="1" dirty="0">
                <a:solidFill>
                  <a:srgbClr val="2C2C2C"/>
                </a:solidFill>
                <a:latin typeface="Calibri" pitchFamily="34" charset="0"/>
                <a:ea typeface="Calibri" pitchFamily="34" charset="-122"/>
                <a:cs typeface="Calibri" pitchFamily="34" charset="-120"/>
              </a:rPr>
              <a:t>Contenu hors base</a:t>
            </a:r>
            <a:endParaRPr lang="en-US" sz="1150" dirty="0"/>
          </a:p>
        </p:txBody>
      </p:sp>
      <p:sp>
        <p:nvSpPr>
          <p:cNvPr id="27" name="Text 22"/>
          <p:cNvSpPr txBox="1"/>
          <p:nvPr/>
        </p:nvSpPr>
        <p:spPr>
          <a:xfrm>
            <a:off x="7242048" y="3200400"/>
            <a:ext cx="1508760" cy="566928"/>
          </a:xfrm>
          <a:prstGeom prst="rect">
            <a:avLst/>
          </a:prstGeom>
          <a:noFill/>
          <a:ln/>
        </p:spPr>
        <p:txBody>
          <a:bodyPr wrap="square" lIns="0" tIns="0" rIns="0" bIns="0" rtlCol="0" anchor="t"/>
          <a:lstStyle/>
          <a:p>
            <a:pPr indent="0" marL="0">
              <a:buNone/>
            </a:pPr>
            <a:r>
              <a:rPr lang="en-US" sz="900" dirty="0">
                <a:solidFill>
                  <a:srgbClr val="1E1E1E"/>
                </a:solidFill>
                <a:latin typeface="Calibri" pitchFamily="34" charset="0"/>
                <a:ea typeface="Calibri" pitchFamily="34" charset="-122"/>
                <a:cs typeface="Calibri" pitchFamily="34" charset="-120"/>
              </a:rPr>
              <a:t>Seules les métadonnées sont en PostgreSQL ; le fichier vit sur disque sous un nom GUID (anti path traversal).</a:t>
            </a:r>
            <a:endParaRPr lang="en-US" sz="900" dirty="0"/>
          </a:p>
        </p:txBody>
      </p:sp>
      <p:sp>
        <p:nvSpPr>
          <p:cNvPr id="28" name="Shape 23"/>
          <p:cNvSpPr/>
          <p:nvPr/>
        </p:nvSpPr>
        <p:spPr>
          <a:xfrm>
            <a:off x="6812280" y="3822192"/>
            <a:ext cx="329184" cy="329184"/>
          </a:xfrm>
          <a:prstGeom prst="ellipse">
            <a:avLst/>
          </a:prstGeom>
          <a:solidFill>
            <a:srgbClr val="DE6262"/>
          </a:solidFill>
          <a:ln w="12700">
            <a:solidFill>
              <a:srgbClr val="DE6262"/>
            </a:solidFill>
            <a:prstDash val="solid"/>
          </a:ln>
        </p:spPr>
      </p:sp>
      <p:pic>
        <p:nvPicPr>
          <p:cNvPr id="29" name="Image 3" descr="preencoded.png">    </p:cNvPr>
          <p:cNvPicPr>
            <a:picLocks noChangeAspect="1"/>
          </p:cNvPicPr>
          <p:nvPr/>
        </p:nvPicPr>
        <p:blipFill>
          <a:blip r:embed="rId4"/>
          <a:stretch>
            <a:fillRect/>
          </a:stretch>
        </p:blipFill>
        <p:spPr>
          <a:xfrm>
            <a:off x="6891284" y="3901196"/>
            <a:ext cx="171176" cy="171176"/>
          </a:xfrm>
          <a:prstGeom prst="rect">
            <a:avLst/>
          </a:prstGeom>
        </p:spPr>
      </p:pic>
      <p:sp>
        <p:nvSpPr>
          <p:cNvPr id="30" name="Text 24"/>
          <p:cNvSpPr txBox="1"/>
          <p:nvPr/>
        </p:nvSpPr>
        <p:spPr>
          <a:xfrm>
            <a:off x="7242048" y="3803904"/>
            <a:ext cx="1508760" cy="237744"/>
          </a:xfrm>
          <a:prstGeom prst="rect">
            <a:avLst/>
          </a:prstGeom>
          <a:noFill/>
          <a:ln/>
        </p:spPr>
        <p:txBody>
          <a:bodyPr wrap="square" lIns="0" tIns="0" rIns="0" bIns="0" rtlCol="0" anchor="ctr"/>
          <a:lstStyle/>
          <a:p>
            <a:pPr indent="0" marL="0">
              <a:buNone/>
            </a:pPr>
            <a:r>
              <a:rPr lang="en-US" sz="1150" b="1" dirty="0">
                <a:solidFill>
                  <a:srgbClr val="2C2C2C"/>
                </a:solidFill>
                <a:latin typeface="Calibri" pitchFamily="34" charset="0"/>
                <a:ea typeface="Calibri" pitchFamily="34" charset="-122"/>
                <a:cs typeface="Calibri" pitchFamily="34" charset="-120"/>
              </a:rPr>
              <a:t>Tags en text[]</a:t>
            </a:r>
            <a:endParaRPr lang="en-US" sz="1150" dirty="0"/>
          </a:p>
        </p:txBody>
      </p:sp>
      <p:sp>
        <p:nvSpPr>
          <p:cNvPr id="31" name="Text 25"/>
          <p:cNvSpPr txBox="1"/>
          <p:nvPr/>
        </p:nvSpPr>
        <p:spPr>
          <a:xfrm>
            <a:off x="7242048" y="4041648"/>
            <a:ext cx="1508760" cy="566928"/>
          </a:xfrm>
          <a:prstGeom prst="rect">
            <a:avLst/>
          </a:prstGeom>
          <a:noFill/>
          <a:ln/>
        </p:spPr>
        <p:txBody>
          <a:bodyPr wrap="square" lIns="0" tIns="0" rIns="0" bIns="0" rtlCol="0" anchor="t"/>
          <a:lstStyle/>
          <a:p>
            <a:pPr indent="0" marL="0">
              <a:buNone/>
            </a:pPr>
            <a:r>
              <a:rPr lang="en-US" sz="900" dirty="0">
                <a:solidFill>
                  <a:srgbClr val="1E1E1E"/>
                </a:solidFill>
                <a:latin typeface="Calibri" pitchFamily="34" charset="0"/>
                <a:ea typeface="Calibri" pitchFamily="34" charset="-122"/>
                <a:cs typeface="Calibri" pitchFamily="34" charset="-120"/>
              </a:rPr>
              <a:t>Type natif PostgreSQL, dédupliqués sans casse, 20 max — pas de table de jointure pour un MVP.</a:t>
            </a:r>
            <a:endParaRPr lang="en-US" sz="900" dirty="0"/>
          </a:p>
        </p:txBody>
      </p:sp>
      <p:sp>
        <p:nvSpPr>
          <p:cNvPr id="32" name="Text 26"/>
          <p:cNvSpPr txBox="1"/>
          <p:nvPr/>
        </p:nvSpPr>
        <p:spPr>
          <a:xfrm>
            <a:off x="457200" y="4434840"/>
            <a:ext cx="6035040" cy="320040"/>
          </a:xfrm>
          <a:prstGeom prst="rect">
            <a:avLst/>
          </a:prstGeom>
          <a:noFill/>
          <a:ln/>
        </p:spPr>
        <p:txBody>
          <a:bodyPr wrap="square" lIns="0" tIns="0" rIns="0" bIns="0" rtlCol="0" anchor="ctr"/>
          <a:lstStyle/>
          <a:p>
            <a:pPr indent="0" marL="0">
              <a:buNone/>
            </a:pPr>
            <a:r>
              <a:rPr lang="en-US" sz="1050" i="1" dirty="0">
                <a:solidFill>
                  <a:srgbClr val="6B6B6B"/>
                </a:solidFill>
                <a:latin typeface="Calibri" pitchFamily="34" charset="0"/>
                <a:ea typeface="Calibri" pitchFamily="34" charset="-122"/>
                <a:cs typeface="Calibri" pitchFamily="34" charset="-120"/>
              </a:rPr>
              <a:t>4 migrations EF Core (InitialAuth → AddFiles → OwnerId nullable) appliquées automatiquement au démarrage de l'API — aucun script SQL manuel</a:t>
            </a:r>
            <a:endParaRPr lang="en-US" sz="1050" dirty="0"/>
          </a:p>
        </p:txBody>
      </p:sp>
      <p:sp>
        <p:nvSpPr>
          <p:cNvPr id="33" name="Text 27"/>
          <p:cNvSpPr txBox="1"/>
          <p:nvPr/>
        </p:nvSpPr>
        <p:spPr>
          <a:xfrm>
            <a:off x="457200" y="4818888"/>
            <a:ext cx="4572000" cy="228600"/>
          </a:xfrm>
          <a:prstGeom prst="rect">
            <a:avLst/>
          </a:prstGeom>
          <a:noFill/>
          <a:ln/>
        </p:spPr>
        <p:txBody>
          <a:bodyPr wrap="square" lIns="0" tIns="0" rIns="0" bIns="0" rtlCol="0" anchor="ctr"/>
          <a:lstStyle/>
          <a:p>
            <a:pPr indent="0" marL="0">
              <a:buNone/>
            </a:pPr>
            <a:r>
              <a:rPr lang="en-US" sz="900" dirty="0">
                <a:solidFill>
                  <a:srgbClr val="A0A0A0"/>
                </a:solidFill>
                <a:latin typeface="Calibri" pitchFamily="34" charset="0"/>
                <a:ea typeface="Calibri" pitchFamily="34" charset="-122"/>
                <a:cs typeface="Calibri" pitchFamily="34" charset="-120"/>
              </a:rPr>
              <a:t>DataShare — Soutenance Projet 4</a:t>
            </a:r>
            <a:endParaRPr lang="en-US" sz="900" dirty="0"/>
          </a:p>
        </p:txBody>
      </p:sp>
      <p:sp>
        <p:nvSpPr>
          <p:cNvPr id="34" name="Text 28"/>
          <p:cNvSpPr txBox="1"/>
          <p:nvPr/>
        </p:nvSpPr>
        <p:spPr>
          <a:xfrm>
            <a:off x="8229600" y="4818888"/>
            <a:ext cx="457200" cy="228600"/>
          </a:xfrm>
          <a:prstGeom prst="rect">
            <a:avLst/>
          </a:prstGeom>
          <a:noFill/>
          <a:ln/>
        </p:spPr>
        <p:txBody>
          <a:bodyPr wrap="square" lIns="0" tIns="0" rIns="0" bIns="0" rtlCol="0" anchor="ctr"/>
          <a:lstStyle/>
          <a:p>
            <a:pPr algn="r" indent="0" marL="0">
              <a:buNone/>
            </a:pPr>
            <a:r>
              <a:rPr lang="en-US" sz="900" dirty="0">
                <a:solidFill>
                  <a:srgbClr val="A0A0A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3000" b="1" dirty="0">
                <a:solidFill>
                  <a:srgbClr val="2C2C2C"/>
                </a:solidFill>
                <a:latin typeface="Calibri" pitchFamily="34" charset="0"/>
                <a:ea typeface="Calibri" pitchFamily="34" charset="-122"/>
                <a:cs typeface="Calibri" pitchFamily="34" charset="-120"/>
              </a:rPr>
              <a:t>Contrat d'interface — API REST</a:t>
            </a:r>
            <a:endParaRPr lang="en-US" sz="3000" dirty="0"/>
          </a:p>
        </p:txBody>
      </p:sp>
      <p:sp>
        <p:nvSpPr>
          <p:cNvPr id="3" name="Text 1"/>
          <p:cNvSpPr txBox="1"/>
          <p:nvPr/>
        </p:nvSpPr>
        <p:spPr>
          <a:xfrm>
            <a:off x="457200" y="804672"/>
            <a:ext cx="8229600" cy="292608"/>
          </a:xfrm>
          <a:prstGeom prst="rect">
            <a:avLst/>
          </a:prstGeom>
          <a:noFill/>
          <a:ln/>
        </p:spPr>
        <p:txBody>
          <a:bodyPr wrap="square" lIns="0" tIns="0" rIns="0" bIns="0" rtlCol="0" anchor="ctr"/>
          <a:lstStyle/>
          <a:p>
            <a:pPr indent="0" marL="0">
              <a:buNone/>
            </a:pPr>
            <a:r>
              <a:rPr lang="en-US" sz="1300" dirty="0">
                <a:solidFill>
                  <a:srgbClr val="6B6B6B"/>
                </a:solidFill>
                <a:latin typeface="Calibri" pitchFamily="34" charset="0"/>
                <a:ea typeface="Calibri" pitchFamily="34" charset="-122"/>
                <a:cs typeface="Calibri" pitchFamily="34" charset="-120"/>
              </a:rPr>
              <a:t>docs/openapi.yaml (OpenAPI 3, validé) · Swagger UI en développement · API_REFERENCE.md</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685800"/>
                <a:gridCol w="2514600"/>
                <a:gridCol w="2743200"/>
                <a:gridCol w="594360"/>
                <a:gridCol w="1691640"/>
              </a:tblGrid>
              <a:tr h="24688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Méthode</a:t>
                      </a:r>
                      <a:endParaRPr lang="en-US" sz="1050" dirty="0">
                        <a:latin typeface="Calibri" charset="0"/>
                        <a:ea typeface="Calibri" charset="0"/>
                        <a:cs typeface="Calibri" charset="0"/>
                      </a:endParaRPr>
                    </a:p>
                  </a:txBody>
                  <a:tcPr marL="45720" marR="45720" marT="45720" marB="45720" anchor="ctr">
                    <a:lnL w="6350" cap="flat" cmpd="sng" algn="ctr">
                      <a:solidFill>
                        <a:srgbClr val="E6E0DB"/>
                      </a:solidFill>
                      <a:prstDash val="solid"/>
                      <a:round/>
                      <a:headEnd type="none" w="med" len="med"/>
                      <a:tailEnd type="none" w="med" len="med"/>
                    </a:lnL>
                    <a:lnR w="6350" cap="flat" cmpd="sng" algn="ctr">
                      <a:solidFill>
                        <a:srgbClr val="E6E0DB"/>
                      </a:solidFill>
                      <a:prstDash val="solid"/>
                      <a:round/>
                      <a:headEnd type="none" w="med" len="med"/>
                      <a:tailEnd type="none" w="med" len="med"/>
                    </a:lnR>
                    <a:lnT w="6350" cap="flat" cmpd="sng" algn="ctr">
                      <a:solidFill>
                        <a:srgbClr val="E6E0DB"/>
                      </a:solidFill>
                      <a:prstDash val="solid"/>
                      <a:round/>
                      <a:headEnd type="none" w="med" len="med"/>
                      <a:tailEnd type="none" w="med" len="med"/>
                    </a:lnT>
                    <a:lnB w="6350" cap="flat" cmpd="sng" algn="ctr">
                      <a:solidFill>
                        <a:srgbClr val="E6E0DB"/>
                      </a:solidFill>
                      <a:prstDash val="solid"/>
                      <a:round/>
                      <a:headEnd type="none" w="med" len="med"/>
                      <a:tailEnd type="none" w="med" len="med"/>
                    </a:lnB>
                    <a:solidFill>
                      <a:srgbClr val="2C2C2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Route</a:t>
                      </a:r>
                      <a:endParaRPr lang="en-US" sz="1050" dirty="0">
                        <a:latin typeface="Calibri" charset="0"/>
                        <a:ea typeface="Calibri" charset="0"/>
                        <a:cs typeface="Calibri" charset="0"/>
                      </a:endParaRPr>
                    </a:p>
                  </a:txBody>
                  <a:tcPr marL="45720" marR="45720" marT="45720" marB="45720" anchor="ctr">
                    <a:lnL w="6350" cap="flat" cmpd="sng" algn="ctr">
                      <a:solidFill>
                        <a:srgbClr val="E6E0DB"/>
                      </a:solidFill>
                      <a:prstDash val="solid"/>
                      <a:round/>
                      <a:headEnd type="none" w="med" len="med"/>
                      <a:tailEnd type="none" w="med" len="med"/>
                    </a:lnL>
                    <a:lnR w="6350" cap="flat" cmpd="sng" algn="ctr">
                      <a:solidFill>
                        <a:srgbClr val="E6E0DB"/>
                      </a:solidFill>
                      <a:prstDash val="solid"/>
                      <a:round/>
                      <a:headEnd type="none" w="med" len="med"/>
                      <a:tailEnd type="none" w="med" len="med"/>
                    </a:lnR>
                    <a:lnT w="6350" cap="flat" cmpd="sng" algn="ctr">
                      <a:solidFill>
                        <a:srgbClr val="E6E0DB"/>
                      </a:solidFill>
                      <a:prstDash val="solid"/>
                      <a:round/>
                      <a:headEnd type="none" w="med" len="med"/>
                      <a:tailEnd type="none" w="med" len="med"/>
                    </a:lnT>
                    <a:lnB w="6350" cap="flat" cmpd="sng" algn="ctr">
                      <a:solidFill>
                        <a:srgbClr val="E6E0DB"/>
                      </a:solidFill>
                      <a:prstDash val="solid"/>
                      <a:round/>
                      <a:headEnd type="none" w="med" len="med"/>
                      <a:tailEnd type="none" w="med" len="med"/>
                    </a:lnB>
                    <a:solidFill>
                      <a:srgbClr val="2C2C2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Rôle</a:t>
                      </a:r>
                      <a:endParaRPr lang="en-US" sz="1050" dirty="0">
                        <a:latin typeface="Calibri" charset="0"/>
                        <a:ea typeface="Calibri" charset="0"/>
                        <a:cs typeface="Calibri" charset="0"/>
                      </a:endParaRPr>
                    </a:p>
                  </a:txBody>
                  <a:tcPr marL="45720" marR="45720" marT="45720" marB="45720" anchor="ctr">
                    <a:lnL w="6350" cap="flat" cmpd="sng" algn="ctr">
                      <a:solidFill>
                        <a:srgbClr val="E6E0DB"/>
                      </a:solidFill>
                      <a:prstDash val="solid"/>
                      <a:round/>
                      <a:headEnd type="none" w="med" len="med"/>
                      <a:tailEnd type="none" w="med" len="med"/>
                    </a:lnL>
                    <a:lnR w="6350" cap="flat" cmpd="sng" algn="ctr">
                      <a:solidFill>
                        <a:srgbClr val="E6E0DB"/>
                      </a:solidFill>
                      <a:prstDash val="solid"/>
                      <a:round/>
                      <a:headEnd type="none" w="med" len="med"/>
                      <a:tailEnd type="none" w="med" len="med"/>
                    </a:lnR>
                    <a:lnT w="6350" cap="flat" cmpd="sng" algn="ctr">
                      <a:solidFill>
                        <a:srgbClr val="E6E0DB"/>
                      </a:solidFill>
                      <a:prstDash val="solid"/>
                      <a:round/>
                      <a:headEnd type="none" w="med" len="med"/>
                      <a:tailEnd type="none" w="med" len="med"/>
                    </a:lnT>
                    <a:lnB w="6350" cap="flat" cmpd="sng" algn="ctr">
                      <a:solidFill>
                        <a:srgbClr val="E6E0DB"/>
                      </a:solidFill>
                      <a:prstDash val="solid"/>
                      <a:round/>
                      <a:headEnd type="none" w="med" len="med"/>
                      <a:tailEnd type="none" w="med" len="med"/>
                    </a:lnB>
                    <a:solidFill>
                      <a:srgbClr val="2C2C2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Accès</a:t>
                      </a:r>
                      <a:endParaRPr lang="en-US" sz="1050" dirty="0">
                        <a:latin typeface="Calibri" charset="0"/>
                        <a:ea typeface="Calibri" charset="0"/>
                        <a:cs typeface="Calibri" charset="0"/>
                      </a:endParaRPr>
                    </a:p>
                  </a:txBody>
                  <a:tcPr marL="45720" marR="45720" marT="45720" marB="45720" anchor="ctr">
                    <a:lnL w="6350" cap="flat" cmpd="sng" algn="ctr">
                      <a:solidFill>
                        <a:srgbClr val="E6E0DB"/>
                      </a:solidFill>
                      <a:prstDash val="solid"/>
                      <a:round/>
                      <a:headEnd type="none" w="med" len="med"/>
                      <a:tailEnd type="none" w="med" len="med"/>
                    </a:lnL>
                    <a:lnR w="6350" cap="flat" cmpd="sng" algn="ctr">
                      <a:solidFill>
                        <a:srgbClr val="E6E0DB"/>
                      </a:solidFill>
                      <a:prstDash val="solid"/>
                      <a:round/>
                      <a:headEnd type="none" w="med" len="med"/>
                      <a:tailEnd type="none" w="med" len="med"/>
                    </a:lnR>
                    <a:lnT w="6350" cap="flat" cmpd="sng" algn="ctr">
                      <a:solidFill>
                        <a:srgbClr val="E6E0DB"/>
                      </a:solidFill>
                      <a:prstDash val="solid"/>
                      <a:round/>
                      <a:headEnd type="none" w="med" len="med"/>
                      <a:tailEnd type="none" w="med" len="med"/>
                    </a:lnT>
                    <a:lnB w="6350" cap="flat" cmpd="sng" algn="ctr">
                      <a:solidFill>
                        <a:srgbClr val="E6E0DB"/>
                      </a:solidFill>
                      <a:prstDash val="solid"/>
                      <a:round/>
                      <a:headEnd type="none" w="med" len="med"/>
                      <a:tailEnd type="none" w="med" len="med"/>
                    </a:lnB>
                    <a:solidFill>
                      <a:srgbClr val="2C2C2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Réponses</a:t>
                      </a:r>
                      <a:endParaRPr lang="en-US" sz="1050" dirty="0">
                        <a:latin typeface="Calibri" charset="0"/>
                        <a:ea typeface="Calibri" charset="0"/>
                        <a:cs typeface="Calibri" charset="0"/>
                      </a:endParaRPr>
                    </a:p>
                  </a:txBody>
                  <a:tcPr marL="45720" marR="45720" marT="45720" marB="45720" anchor="ctr">
                    <a:lnL w="6350" cap="flat" cmpd="sng" algn="ctr">
                      <a:solidFill>
                        <a:srgbClr val="E6E0DB"/>
                      </a:solidFill>
                      <a:prstDash val="solid"/>
                      <a:round/>
                      <a:headEnd type="none" w="med" len="med"/>
                      <a:tailEnd type="none" w="med" len="med"/>
                    </a:lnL>
                    <a:lnR w="6350" cap="flat" cmpd="sng" algn="ctr">
                      <a:solidFill>
                        <a:srgbClr val="E6E0DB"/>
                      </a:solidFill>
                      <a:prstDash val="solid"/>
                      <a:round/>
                      <a:headEnd type="none" w="med" len="med"/>
                      <a:tailEnd type="none" w="med" len="med"/>
                    </a:lnR>
                    <a:lnT w="6350" cap="flat" cmpd="sng" algn="ctr">
                      <a:solidFill>
                        <a:srgbClr val="E6E0DB"/>
                      </a:solidFill>
                      <a:prstDash val="solid"/>
                      <a:round/>
                      <a:headEnd type="none" w="med" len="med"/>
                      <a:tailEnd type="none" w="med" len="med"/>
                    </a:lnT>
                    <a:lnB w="6350" cap="flat" cmpd="sng" algn="ctr">
                      <a:solidFill>
                        <a:srgbClr val="E6E0DB"/>
                      </a:solidFill>
                      <a:prstDash val="solid"/>
                      <a:round/>
                      <a:headEnd type="none" w="med" len="med"/>
                      <a:tailEnd type="none" w="med" len="med"/>
                    </a:lnB>
                    <a:solidFill>
                      <a:srgbClr val="2C2C2C"/>
                    </a:solidFill>
                  </a:tcPr>
                </a:tc>
              </a:tr>
              <a:tr h="246888">
                <a:tc>
                  <a:txBody>
                    <a:bodyPr/>
                    <a:lstStyle/>
                    <a:p>
                      <a:pPr indent="0" marL="0">
                        <a:buNone/>
                      </a:pPr>
                      <a:r>
                        <a:rPr lang="en-US" sz="900" dirty="0">
                          <a:solidFill>
                            <a:srgbClr val="1E1E1E"/>
                          </a:solidFill>
                          <a:latin typeface="Courier New" pitchFamily="34" charset="0"/>
                          <a:ea typeface="Courier New" pitchFamily="34" charset="-122"/>
                          <a:cs typeface="Courier New" pitchFamily="34" charset="-120"/>
                        </a:rPr>
                        <a:t>POST</a:t>
                      </a:r>
                      <a:endParaRPr lang="en-US" sz="900" dirty="0">
                        <a:latin typeface="Courier New" charset="0"/>
                        <a:ea typeface="Courier New" charset="0"/>
                        <a:cs typeface="Courier New" charset="0"/>
                      </a:endParaRPr>
                    </a:p>
                  </a:txBody>
                  <a:tcPr marL="45720" marR="45720" marT="45720" marB="45720" anchor="ctr">
                    <a:lnL w="6350" cap="flat" cmpd="sng" algn="ctr">
                      <a:solidFill>
                        <a:srgbClr val="E6E0DB"/>
                      </a:solidFill>
                      <a:prstDash val="solid"/>
                      <a:round/>
                      <a:headEnd type="none" w="med" len="med"/>
                      <a:tailEnd type="none" w="med" len="med"/>
                    </a:lnL>
                    <a:lnR w="6350" cap="flat" cmpd="sng" algn="ctr">
                      <a:solidFill>
                        <a:srgbClr val="E6E0DB"/>
                      </a:solidFill>
                      <a:prstDash val="solid"/>
                      <a:round/>
                      <a:headEnd type="none" w="med" len="med"/>
                      <a:tailEnd type="none" w="med" len="med"/>
                    </a:lnR>
                    <a:lnT w="6350" cap="flat" cmpd="sng" algn="ctr">
                      <a:solidFill>
                        <a:srgbClr val="E6E0DB"/>
                      </a:solidFill>
                      <a:prstDash val="solid"/>
                      <a:round/>
                      <a:headEnd type="none" w="med" len="med"/>
                      <a:tailEnd type="none" w="med" len="med"/>
                    </a:lnT>
                    <a:lnB w="6350" cap="flat" cmpd="sng" algn="ctr">
                      <a:solidFill>
                        <a:srgbClr val="E6E0DB"/>
                      </a:solidFill>
                      <a:prstDash val="solid"/>
                      <a:round/>
                      <a:headEnd type="none" w="med" len="med"/>
                      <a:tailEnd type="none" w="med" len="med"/>
                    </a:lnB>
                  </a:tcPr>
                </a:tc>
                <a:tc>
                  <a:txBody>
                    <a:bodyPr/>
                    <a:lstStyle/>
                    <a:p>
                      <a:pPr indent="0" marL="0">
                        <a:buNone/>
                      </a:pPr>
                      <a:r>
                        <a:rPr lang="en-US" sz="900" dirty="0">
                          <a:solidFill>
                            <a:srgbClr val="1E1E1E"/>
                          </a:solidFill>
                          <a:latin typeface="Courier New" pitchFamily="34" charset="0"/>
                          <a:ea typeface="Courier New" pitchFamily="34" charset="-122"/>
                          <a:cs typeface="Courier New" pitchFamily="34" charset="-120"/>
                        </a:rPr>
                        <a:t>/api/auth/register</a:t>
                      </a:r>
                      <a:endParaRPr lang="en-US" sz="900" dirty="0">
                        <a:latin typeface="Courier New" charset="0"/>
                        <a:ea typeface="Courier New" charset="0"/>
                        <a:cs typeface="Courier New" charset="0"/>
                      </a:endParaRPr>
                    </a:p>
                  </a:txBody>
                  <a:tcPr marL="45720" marR="45720" marT="45720" marB="45720" anchor="ctr">
                    <a:lnL w="6350" cap="flat" cmpd="sng" algn="ctr">
                      <a:solidFill>
                        <a:srgbClr val="E6E0DB"/>
                      </a:solidFill>
                      <a:prstDash val="solid"/>
                      <a:round/>
                      <a:headEnd type="none" w="med" len="med"/>
                      <a:tailEnd type="none" w="med" len="med"/>
                    </a:lnL>
                    <a:lnR w="6350" cap="flat" cmpd="sng" algn="ctr">
                      <a:solidFill>
                        <a:srgbClr val="E6E0DB"/>
                      </a:solidFill>
                      <a:prstDash val="solid"/>
                      <a:round/>
                      <a:headEnd type="none" w="med" len="med"/>
                      <a:tailEnd type="none" w="med" len="med"/>
                    </a:lnR>
                    <a:lnT w="6350" cap="flat" cmpd="sng" algn="ctr">
                      <a:solidFill>
                        <a:srgbClr val="E6E0DB"/>
                      </a:solidFill>
                      <a:prstDash val="solid"/>
                      <a:round/>
                      <a:headEnd type="none" w="med" len="med"/>
                      <a:tailEnd type="none" w="med" len="med"/>
                    </a:lnT>
                    <a:lnB w="6350" cap="flat" cmpd="sng" algn="ctr">
                      <a:solidFill>
                        <a:srgbClr val="E6E0DB"/>
                      </a:solidFill>
                      <a:prstDash val="solid"/>
                      <a:round/>
                      <a:headEnd type="none" w="med" len="med"/>
                      <a:tailEnd type="none" w="med" len="med"/>
                    </a:lnB>
                  </a:tcPr>
                </a:tc>
                <a:tc>
                  <a:txBody>
                    <a:bodyPr/>
                    <a:lstStyle/>
                    <a:p>
                      <a:pPr indent="0" marL="0">
                        <a:buNone/>
                      </a:pPr>
                      <a:r>
                        <a:rPr lang="en-US" sz="900" dirty="0">
                          <a:solidFill>
                            <a:srgbClr val="1E1E1E"/>
                          </a:solidFill>
                          <a:latin typeface="Calibri" pitchFamily="34" charset="0"/>
                          <a:ea typeface="Calibri" pitchFamily="34" charset="-122"/>
                          <a:cs typeface="Calibri" pitchFamily="34" charset="-120"/>
                        </a:rPr>
                        <a:t>Créer un compte (US03) → JWT</a:t>
                      </a:r>
                      <a:endParaRPr lang="en-US" sz="900" dirty="0">
                        <a:latin typeface="Calibri" charset="0"/>
                        <a:ea typeface="Calibri" charset="0"/>
                        <a:cs typeface="Calibri" charset="0"/>
                      </a:endParaRPr>
                    </a:p>
                  </a:txBody>
                  <a:tcPr marL="45720" marR="45720" marT="45720" marB="45720" anchor="ctr">
                    <a:lnL w="6350" cap="flat" cmpd="sng" algn="ctr">
                      <a:solidFill>
                        <a:srgbClr val="E6E0DB"/>
                      </a:solidFill>
                      <a:prstDash val="solid"/>
                      <a:round/>
                      <a:headEnd type="none" w="med" len="med"/>
                      <a:tailEnd type="none" w="med" len="med"/>
                    </a:lnL>
                    <a:lnR w="6350" cap="flat" cmpd="sng" algn="ctr">
                      <a:solidFill>
                        <a:srgbClr val="E6E0DB"/>
                      </a:solidFill>
                      <a:prstDash val="solid"/>
                      <a:round/>
                      <a:headEnd type="none" w="med" len="med"/>
                      <a:tailEnd type="none" w="med" len="med"/>
                    </a:lnR>
                    <a:lnT w="6350" cap="flat" cmpd="sng" algn="ctr">
                      <a:solidFill>
                        <a:srgbClr val="E6E0DB"/>
                      </a:solidFill>
                      <a:prstDash val="solid"/>
                      <a:round/>
                      <a:headEnd type="none" w="med" len="med"/>
                      <a:tailEnd type="none" w="med" len="med"/>
                    </a:lnT>
                    <a:lnB w="6350" cap="flat" cmpd="sng" algn="ctr">
                      <a:solidFill>
                        <a:srgbClr val="E6E0DB"/>
                      </a:solidFill>
                      <a:prstDash val="solid"/>
                      <a:round/>
                      <a:headEnd type="none" w="med" len="med"/>
                      <a:tailEnd type="none" w="med" len="med"/>
                    </a:lnB>
                  </a:tcPr>
                </a:tc>
                <a:tc>
                  <a:txBody>
                    <a:bodyPr/>
                    <a:lstStyle/>
                    <a:p>
                      <a:pPr indent="0" marL="0">
                        <a:buNone/>
                      </a:pPr>
                      <a:r>
                        <a:rPr lang="en-US" sz="900" b="1" dirty="0">
                          <a:solidFill>
                            <a:srgbClr val="3A5A8C"/>
                          </a:solidFill>
                          <a:latin typeface="Calibri" pitchFamily="34" charset="0"/>
                          <a:ea typeface="Calibri" pitchFamily="34" charset="-122"/>
                          <a:cs typeface="Calibri" pitchFamily="34" charset="-120"/>
                        </a:rPr>
                        <a:t>Public</a:t>
                      </a:r>
                      <a:endParaRPr lang="en-US" sz="900" dirty="0">
                        <a:latin typeface="Calibri" charset="0"/>
                        <a:ea typeface="Calibri" charset="0"/>
                        <a:cs typeface="Calibri" charset="0"/>
                      </a:endParaRPr>
                    </a:p>
                  </a:txBody>
                  <a:tcPr marL="45720" marR="45720" marT="45720" marB="45720" anchor="ctr">
                    <a:lnL w="6350" cap="flat" cmpd="sng" algn="ctr">
                      <a:solidFill>
                        <a:srgbClr val="E6E0DB"/>
                      </a:solidFill>
                      <a:prstDash val="solid"/>
                      <a:round/>
                      <a:headEnd type="none" w="med" len="med"/>
                      <a:tailEnd type="none" w="med" len="med"/>
                    </a:lnL>
                    <a:lnR w="6350" cap="flat" cmpd="sng" algn="ctr">
                      <a:solidFill>
                        <a:srgbClr val="E6E0DB"/>
                      </a:solidFill>
                      <a:prstDash val="solid"/>
                      <a:round/>
                      <a:headEnd type="none" w="med" len="med"/>
                      <a:tailEnd type="none" w="med" len="med"/>
                    </a:lnR>
                    <a:lnT w="6350" cap="flat" cmpd="sng" algn="ctr">
                      <a:solidFill>
                        <a:srgbClr val="E6E0DB"/>
                      </a:solidFill>
                      <a:prstDash val="solid"/>
                      <a:round/>
                      <a:headEnd type="none" w="med" len="med"/>
                      <a:tailEnd type="none" w="med" len="med"/>
                    </a:lnT>
                    <a:lnB w="6350" cap="flat" cmpd="sng" algn="ctr">
                      <a:solidFill>
                        <a:srgbClr val="E6E0DB"/>
                      </a:solidFill>
                      <a:prstDash val="solid"/>
                      <a:round/>
                      <a:headEnd type="none" w="med" len="med"/>
                      <a:tailEnd type="none" w="med" len="med"/>
                    </a:lnB>
                  </a:tcPr>
                </a:tc>
                <a:tc>
                  <a:txBody>
                    <a:bodyPr/>
                    <a:lstStyle/>
                    <a:p>
                      <a:pPr indent="0" marL="0">
                        <a:buNone/>
                      </a:pPr>
                      <a:r>
                        <a:rPr lang="en-US" sz="900" dirty="0">
                          <a:solidFill>
                            <a:srgbClr val="1E1E1E"/>
                          </a:solidFill>
                          <a:latin typeface="Calibri" pitchFamily="34" charset="0"/>
                          <a:ea typeface="Calibri" pitchFamily="34" charset="-122"/>
                          <a:cs typeface="Calibri" pitchFamily="34" charset="-120"/>
                        </a:rPr>
                        <a:t>200 · 400 (email pris, mdp &lt; 8)</a:t>
                      </a:r>
                      <a:endParaRPr lang="en-US" sz="900" dirty="0">
                        <a:latin typeface="Calibri" charset="0"/>
                        <a:ea typeface="Calibri" charset="0"/>
                        <a:cs typeface="Calibri" charset="0"/>
                      </a:endParaRPr>
                    </a:p>
                  </a:txBody>
                  <a:tcPr marL="45720" marR="45720" marT="45720" marB="45720" anchor="ctr">
                    <a:lnL w="6350" cap="flat" cmpd="sng" algn="ctr">
                      <a:solidFill>
                        <a:srgbClr val="E6E0DB"/>
                      </a:solidFill>
                      <a:prstDash val="solid"/>
                      <a:round/>
                      <a:headEnd type="none" w="med" len="med"/>
                      <a:tailEnd type="none" w="med" len="med"/>
                    </a:lnL>
                    <a:lnR w="6350" cap="flat" cmpd="sng" algn="ctr">
                      <a:solidFill>
                        <a:srgbClr val="E6E0DB"/>
                      </a:solidFill>
                      <a:prstDash val="solid"/>
                      <a:round/>
                      <a:headEnd type="none" w="med" len="med"/>
                      <a:tailEnd type="none" w="med" len="med"/>
                    </a:lnR>
                    <a:lnT w="6350" cap="flat" cmpd="sng" algn="ctr">
                      <a:solidFill>
                        <a:srgbClr val="E6E0DB"/>
                      </a:solidFill>
                      <a:prstDash val="solid"/>
                      <a:round/>
                      <a:headEnd type="none" w="med" len="med"/>
                      <a:tailEnd type="none" w="med" len="med"/>
                    </a:lnT>
                    <a:lnB w="6350" cap="flat" cmpd="sng" algn="ctr">
                      <a:solidFill>
                        <a:srgbClr val="E6E0DB"/>
                      </a:solidFill>
                      <a:prstDash val="solid"/>
                      <a:round/>
                      <a:headEnd type="none" w="med" len="med"/>
                      <a:tailEnd type="none" w="med" len="med"/>
                    </a:lnB>
                  </a:tcPr>
                </a:tc>
              </a:tr>
              <a:tr h="246888">
                <a:tc>
                  <a:txBody>
                    <a:bodyPr/>
                    <a:lstStyle/>
                    <a:p>
                      <a:pPr indent="0" marL="0">
                        <a:buNone/>
                      </a:pPr>
                      <a:r>
                        <a:rPr lang="en-US" sz="900" dirty="0">
                          <a:solidFill>
                            <a:srgbClr val="1E1E1E"/>
                          </a:solidFill>
                          <a:latin typeface="Courier New" pitchFamily="34" charset="0"/>
                          <a:ea typeface="Courier New" pitchFamily="34" charset="-122"/>
                          <a:cs typeface="Courier New" pitchFamily="34" charset="-120"/>
                        </a:rPr>
                        <a:t>POST</a:t>
                      </a:r>
                      <a:endParaRPr lang="en-US" sz="900" dirty="0">
                        <a:latin typeface="Courier New" charset="0"/>
                        <a:ea typeface="Courier New" charset="0"/>
                        <a:cs typeface="Courier New" charset="0"/>
                      </a:endParaRPr>
                    </a:p>
                  </a:txBody>
                  <a:tcPr marL="45720" marR="45720" marT="45720" marB="45720" anchor="ctr">
                    <a:lnL w="6350" cap="flat" cmpd="sng" algn="ctr">
                      <a:solidFill>
                        <a:srgbClr val="E6E0DB"/>
                      </a:solidFill>
                      <a:prstDash val="solid"/>
                      <a:round/>
                      <a:headEnd type="none" w="med" len="med"/>
                      <a:tailEnd type="none" w="med" len="med"/>
                    </a:lnL>
                    <a:lnR w="6350" cap="flat" cmpd="sng" algn="ctr">
                      <a:solidFill>
                        <a:srgbClr val="E6E0DB"/>
                      </a:solidFill>
                      <a:prstDash val="solid"/>
                      <a:round/>
                      <a:headEnd type="none" w="med" len="med"/>
                      <a:tailEnd type="none" w="med" len="med"/>
                    </a:lnR>
                    <a:lnT w="6350" cap="flat" cmpd="sng" algn="ctr">
                      <a:solidFill>
                        <a:srgbClr val="E6E0DB"/>
                      </a:solidFill>
                      <a:prstDash val="solid"/>
                      <a:round/>
                      <a:headEnd type="none" w="med" len="med"/>
                      <a:tailEnd type="none" w="med" len="med"/>
                    </a:lnT>
                    <a:lnB w="6350" cap="flat" cmpd="sng" algn="ctr">
                      <a:solidFill>
                        <a:srgbClr val="E6E0DB"/>
                      </a:solidFill>
                      <a:prstDash val="solid"/>
                      <a:round/>
                      <a:headEnd type="none" w="med" len="med"/>
                      <a:tailEnd type="none" w="med" len="med"/>
                    </a:lnB>
                  </a:tcPr>
                </a:tc>
                <a:tc>
                  <a:txBody>
                    <a:bodyPr/>
                    <a:lstStyle/>
                    <a:p>
                      <a:pPr indent="0" marL="0">
                        <a:buNone/>
                      </a:pPr>
                      <a:r>
                        <a:rPr lang="en-US" sz="900" dirty="0">
                          <a:solidFill>
                            <a:srgbClr val="1E1E1E"/>
                          </a:solidFill>
                          <a:latin typeface="Courier New" pitchFamily="34" charset="0"/>
                          <a:ea typeface="Courier New" pitchFamily="34" charset="-122"/>
                          <a:cs typeface="Courier New" pitchFamily="34" charset="-120"/>
                        </a:rPr>
                        <a:t>/api/auth/login</a:t>
                      </a:r>
                      <a:endParaRPr lang="en-US" sz="900" dirty="0">
                        <a:latin typeface="Courier New" charset="0"/>
                        <a:ea typeface="Courier New" charset="0"/>
                        <a:cs typeface="Courier New" charset="0"/>
                      </a:endParaRPr>
                    </a:p>
                  </a:txBody>
                  <a:tcPr marL="45720" marR="45720" marT="45720" marB="45720" anchor="ctr">
                    <a:lnL w="6350" cap="flat" cmpd="sng" algn="ctr">
                      <a:solidFill>
                        <a:srgbClr val="E6E0DB"/>
                      </a:solidFill>
                      <a:prstDash val="solid"/>
                      <a:round/>
                      <a:headEnd type="none" w="med" len="med"/>
                      <a:tailEnd type="none" w="med" len="med"/>
                    </a:lnL>
                    <a:lnR w="6350" cap="flat" cmpd="sng" algn="ctr">
                      <a:solidFill>
                        <a:srgbClr val="E6E0DB"/>
                      </a:solidFill>
                      <a:prstDash val="solid"/>
                      <a:round/>
                      <a:headEnd type="none" w="med" len="med"/>
                      <a:tailEnd type="none" w="med" len="med"/>
                    </a:lnR>
                    <a:lnT w="6350" cap="flat" cmpd="sng" algn="ctr">
                      <a:solidFill>
                        <a:srgbClr val="E6E0DB"/>
                      </a:solidFill>
                      <a:prstDash val="solid"/>
                      <a:round/>
                      <a:headEnd type="none" w="med" len="med"/>
                      <a:tailEnd type="none" w="med" len="med"/>
                    </a:lnT>
                    <a:lnB w="6350" cap="flat" cmpd="sng" algn="ctr">
                      <a:solidFill>
                        <a:srgbClr val="E6E0DB"/>
                      </a:solidFill>
                      <a:prstDash val="solid"/>
                      <a:round/>
                      <a:headEnd type="none" w="med" len="med"/>
                      <a:tailEnd type="none" w="med" len="med"/>
                    </a:lnB>
                  </a:tcPr>
                </a:tc>
                <a:tc>
                  <a:txBody>
                    <a:bodyPr/>
                    <a:lstStyle/>
                    <a:p>
                      <a:pPr indent="0" marL="0">
                        <a:buNone/>
                      </a:pPr>
                      <a:r>
                        <a:rPr lang="en-US" sz="900" dirty="0">
                          <a:solidFill>
                            <a:srgbClr val="1E1E1E"/>
                          </a:solidFill>
                          <a:latin typeface="Calibri" pitchFamily="34" charset="0"/>
                          <a:ea typeface="Calibri" pitchFamily="34" charset="-122"/>
                          <a:cs typeface="Calibri" pitchFamily="34" charset="-120"/>
                        </a:rPr>
                        <a:t>Se connecter (US04) → JWT 8 h</a:t>
                      </a:r>
                      <a:endParaRPr lang="en-US" sz="900" dirty="0">
                        <a:latin typeface="Calibri" charset="0"/>
                        <a:ea typeface="Calibri" charset="0"/>
                        <a:cs typeface="Calibri" charset="0"/>
                      </a:endParaRPr>
                    </a:p>
                  </a:txBody>
                  <a:tcPr marL="45720" marR="45720" marT="45720" marB="45720" anchor="ctr">
                    <a:lnL w="6350" cap="flat" cmpd="sng" algn="ctr">
                      <a:solidFill>
                        <a:srgbClr val="E6E0DB"/>
                      </a:solidFill>
                      <a:prstDash val="solid"/>
                      <a:round/>
                      <a:headEnd type="none" w="med" len="med"/>
                      <a:tailEnd type="none" w="med" len="med"/>
                    </a:lnL>
                    <a:lnR w="6350" cap="flat" cmpd="sng" algn="ctr">
                      <a:solidFill>
                        <a:srgbClr val="E6E0DB"/>
                      </a:solidFill>
                      <a:prstDash val="solid"/>
                      <a:round/>
                      <a:headEnd type="none" w="med" len="med"/>
                      <a:tailEnd type="none" w="med" len="med"/>
                    </a:lnR>
                    <a:lnT w="6350" cap="flat" cmpd="sng" algn="ctr">
                      <a:solidFill>
                        <a:srgbClr val="E6E0DB"/>
                      </a:solidFill>
                      <a:prstDash val="solid"/>
                      <a:round/>
                      <a:headEnd type="none" w="med" len="med"/>
                      <a:tailEnd type="none" w="med" len="med"/>
                    </a:lnT>
                    <a:lnB w="6350" cap="flat" cmpd="sng" algn="ctr">
                      <a:solidFill>
                        <a:srgbClr val="E6E0DB"/>
                      </a:solidFill>
                      <a:prstDash val="solid"/>
                      <a:round/>
                      <a:headEnd type="none" w="med" len="med"/>
                      <a:tailEnd type="none" w="med" len="med"/>
                    </a:lnB>
                  </a:tcPr>
                </a:tc>
                <a:tc>
                  <a:txBody>
                    <a:bodyPr/>
                    <a:lstStyle/>
                    <a:p>
                      <a:pPr indent="0" marL="0">
                        <a:buNone/>
                      </a:pPr>
                      <a:r>
                        <a:rPr lang="en-US" sz="900" b="1" dirty="0">
                          <a:solidFill>
                            <a:srgbClr val="3A5A8C"/>
                          </a:solidFill>
                          <a:latin typeface="Calibri" pitchFamily="34" charset="0"/>
                          <a:ea typeface="Calibri" pitchFamily="34" charset="-122"/>
                          <a:cs typeface="Calibri" pitchFamily="34" charset="-120"/>
                        </a:rPr>
                        <a:t>Public</a:t>
                      </a:r>
                      <a:endParaRPr lang="en-US" sz="900" dirty="0">
                        <a:latin typeface="Calibri" charset="0"/>
                        <a:ea typeface="Calibri" charset="0"/>
                        <a:cs typeface="Calibri" charset="0"/>
                      </a:endParaRPr>
                    </a:p>
                  </a:txBody>
                  <a:tcPr marL="45720" marR="45720" marT="45720" marB="45720" anchor="ctr">
                    <a:lnL w="6350" cap="flat" cmpd="sng" algn="ctr">
                      <a:solidFill>
                        <a:srgbClr val="E6E0DB"/>
                      </a:solidFill>
                      <a:prstDash val="solid"/>
                      <a:round/>
                      <a:headEnd type="none" w="med" len="med"/>
                      <a:tailEnd type="none" w="med" len="med"/>
                    </a:lnL>
                    <a:lnR w="6350" cap="flat" cmpd="sng" algn="ctr">
                      <a:solidFill>
                        <a:srgbClr val="E6E0DB"/>
                      </a:solidFill>
                      <a:prstDash val="solid"/>
                      <a:round/>
                      <a:headEnd type="none" w="med" len="med"/>
                      <a:tailEnd type="none" w="med" len="med"/>
                    </a:lnR>
                    <a:lnT w="6350" cap="flat" cmpd="sng" algn="ctr">
                      <a:solidFill>
                        <a:srgbClr val="E6E0DB"/>
                      </a:solidFill>
                      <a:prstDash val="solid"/>
                      <a:round/>
                      <a:headEnd type="none" w="med" len="med"/>
                      <a:tailEnd type="none" w="med" len="med"/>
                    </a:lnT>
                    <a:lnB w="6350" cap="flat" cmpd="sng" algn="ctr">
                      <a:solidFill>
                        <a:srgbClr val="E6E0DB"/>
                      </a:solidFill>
                      <a:prstDash val="solid"/>
                      <a:round/>
                      <a:headEnd type="none" w="med" len="med"/>
                      <a:tailEnd type="none" w="med" len="med"/>
                    </a:lnB>
                  </a:tcPr>
                </a:tc>
                <a:tc>
                  <a:txBody>
                    <a:bodyPr/>
                    <a:lstStyle/>
                    <a:p>
                      <a:pPr indent="0" marL="0">
                        <a:buNone/>
                      </a:pPr>
                      <a:r>
                        <a:rPr lang="en-US" sz="900" dirty="0">
                          <a:solidFill>
                            <a:srgbClr val="1E1E1E"/>
                          </a:solidFill>
                          <a:latin typeface="Calibri" pitchFamily="34" charset="0"/>
                          <a:ea typeface="Calibri" pitchFamily="34" charset="-122"/>
                          <a:cs typeface="Calibri" pitchFamily="34" charset="-120"/>
                        </a:rPr>
                        <a:t>200 · 401 (email inconnu = mdp faux)</a:t>
                      </a:r>
                      <a:endParaRPr lang="en-US" sz="900" dirty="0">
                        <a:latin typeface="Calibri" charset="0"/>
                        <a:ea typeface="Calibri" charset="0"/>
                        <a:cs typeface="Calibri" charset="0"/>
                      </a:endParaRPr>
                    </a:p>
                  </a:txBody>
                  <a:tcPr marL="45720" marR="45720" marT="45720" marB="45720" anchor="ctr">
                    <a:lnL w="6350" cap="flat" cmpd="sng" algn="ctr">
                      <a:solidFill>
                        <a:srgbClr val="E6E0DB"/>
                      </a:solidFill>
                      <a:prstDash val="solid"/>
                      <a:round/>
                      <a:headEnd type="none" w="med" len="med"/>
                      <a:tailEnd type="none" w="med" len="med"/>
                    </a:lnL>
                    <a:lnR w="6350" cap="flat" cmpd="sng" algn="ctr">
                      <a:solidFill>
                        <a:srgbClr val="E6E0DB"/>
                      </a:solidFill>
                      <a:prstDash val="solid"/>
                      <a:round/>
                      <a:headEnd type="none" w="med" len="med"/>
                      <a:tailEnd type="none" w="med" len="med"/>
                    </a:lnR>
                    <a:lnT w="6350" cap="flat" cmpd="sng" algn="ctr">
                      <a:solidFill>
                        <a:srgbClr val="E6E0DB"/>
                      </a:solidFill>
                      <a:prstDash val="solid"/>
                      <a:round/>
                      <a:headEnd type="none" w="med" len="med"/>
                      <a:tailEnd type="none" w="med" len="med"/>
                    </a:lnT>
                    <a:lnB w="6350" cap="flat" cmpd="sng" algn="ctr">
                      <a:solidFill>
                        <a:srgbClr val="E6E0DB"/>
                      </a:solidFill>
                      <a:prstDash val="solid"/>
                      <a:round/>
                      <a:headEnd type="none" w="med" len="med"/>
                      <a:tailEnd type="none" w="med" len="med"/>
                    </a:lnB>
                  </a:tcPr>
                </a:tc>
              </a:tr>
              <a:tr h="246888">
                <a:tc>
                  <a:txBody>
                    <a:bodyPr/>
                    <a:lstStyle/>
                    <a:p>
                      <a:pPr indent="0" marL="0">
                        <a:buNone/>
                      </a:pPr>
                      <a:r>
                        <a:rPr lang="en-US" sz="900" dirty="0">
                          <a:solidFill>
                            <a:srgbClr val="1E1E1E"/>
                          </a:solidFill>
                          <a:latin typeface="Courier New" pitchFamily="34" charset="0"/>
                          <a:ea typeface="Courier New" pitchFamily="34" charset="-122"/>
                          <a:cs typeface="Courier New" pitchFamily="34" charset="-120"/>
                        </a:rPr>
                        <a:t>POST</a:t>
                      </a:r>
                      <a:endParaRPr lang="en-US" sz="900" dirty="0">
                        <a:latin typeface="Courier New" charset="0"/>
                        <a:ea typeface="Courier New" charset="0"/>
                        <a:cs typeface="Courier New" charset="0"/>
                      </a:endParaRPr>
                    </a:p>
                  </a:txBody>
                  <a:tcPr marL="45720" marR="45720" marT="45720" marB="45720" anchor="ctr">
                    <a:lnL w="6350" cap="flat" cmpd="sng" algn="ctr">
                      <a:solidFill>
                        <a:srgbClr val="E6E0DB"/>
                      </a:solidFill>
                      <a:prstDash val="solid"/>
                      <a:round/>
                      <a:headEnd type="none" w="med" len="med"/>
                      <a:tailEnd type="none" w="med" len="med"/>
                    </a:lnL>
                    <a:lnR w="6350" cap="flat" cmpd="sng" algn="ctr">
                      <a:solidFill>
                        <a:srgbClr val="E6E0DB"/>
                      </a:solidFill>
                      <a:prstDash val="solid"/>
                      <a:round/>
                      <a:headEnd type="none" w="med" len="med"/>
                      <a:tailEnd type="none" w="med" len="med"/>
                    </a:lnR>
                    <a:lnT w="6350" cap="flat" cmpd="sng" algn="ctr">
                      <a:solidFill>
                        <a:srgbClr val="E6E0DB"/>
                      </a:solidFill>
                      <a:prstDash val="solid"/>
                      <a:round/>
                      <a:headEnd type="none" w="med" len="med"/>
                      <a:tailEnd type="none" w="med" len="med"/>
                    </a:lnT>
                    <a:lnB w="6350" cap="flat" cmpd="sng" algn="ctr">
                      <a:solidFill>
                        <a:srgbClr val="E6E0DB"/>
                      </a:solidFill>
                      <a:prstDash val="solid"/>
                      <a:round/>
                      <a:headEnd type="none" w="med" len="med"/>
                      <a:tailEnd type="none" w="med" len="med"/>
                    </a:lnB>
                  </a:tcPr>
                </a:tc>
                <a:tc>
                  <a:txBody>
                    <a:bodyPr/>
                    <a:lstStyle/>
                    <a:p>
                      <a:pPr indent="0" marL="0">
                        <a:buNone/>
                      </a:pPr>
                      <a:r>
                        <a:rPr lang="en-US" sz="900" dirty="0">
                          <a:solidFill>
                            <a:srgbClr val="1E1E1E"/>
                          </a:solidFill>
                          <a:latin typeface="Courier New" pitchFamily="34" charset="0"/>
                          <a:ea typeface="Courier New" pitchFamily="34" charset="-122"/>
                          <a:cs typeface="Courier New" pitchFamily="34" charset="-120"/>
                        </a:rPr>
                        <a:t>/api/files</a:t>
                      </a:r>
                      <a:endParaRPr lang="en-US" sz="900" dirty="0">
                        <a:latin typeface="Courier New" charset="0"/>
                        <a:ea typeface="Courier New" charset="0"/>
                        <a:cs typeface="Courier New" charset="0"/>
                      </a:endParaRPr>
                    </a:p>
                  </a:txBody>
                  <a:tcPr marL="45720" marR="45720" marT="45720" marB="45720" anchor="ctr">
                    <a:lnL w="6350" cap="flat" cmpd="sng" algn="ctr">
                      <a:solidFill>
                        <a:srgbClr val="E6E0DB"/>
                      </a:solidFill>
                      <a:prstDash val="solid"/>
                      <a:round/>
                      <a:headEnd type="none" w="med" len="med"/>
                      <a:tailEnd type="none" w="med" len="med"/>
                    </a:lnL>
                    <a:lnR w="6350" cap="flat" cmpd="sng" algn="ctr">
                      <a:solidFill>
                        <a:srgbClr val="E6E0DB"/>
                      </a:solidFill>
                      <a:prstDash val="solid"/>
                      <a:round/>
                      <a:headEnd type="none" w="med" len="med"/>
                      <a:tailEnd type="none" w="med" len="med"/>
                    </a:lnR>
                    <a:lnT w="6350" cap="flat" cmpd="sng" algn="ctr">
                      <a:solidFill>
                        <a:srgbClr val="E6E0DB"/>
                      </a:solidFill>
                      <a:prstDash val="solid"/>
                      <a:round/>
                      <a:headEnd type="none" w="med" len="med"/>
                      <a:tailEnd type="none" w="med" len="med"/>
                    </a:lnT>
                    <a:lnB w="6350" cap="flat" cmpd="sng" algn="ctr">
                      <a:solidFill>
                        <a:srgbClr val="E6E0DB"/>
                      </a:solidFill>
                      <a:prstDash val="solid"/>
                      <a:round/>
                      <a:headEnd type="none" w="med" len="med"/>
                      <a:tailEnd type="none" w="med" len="med"/>
                    </a:lnB>
                  </a:tcPr>
                </a:tc>
                <a:tc>
                  <a:txBody>
                    <a:bodyPr/>
                    <a:lstStyle/>
                    <a:p>
                      <a:pPr indent="0" marL="0">
                        <a:buNone/>
                      </a:pPr>
                      <a:r>
                        <a:rPr lang="en-US" sz="900" dirty="0">
                          <a:solidFill>
                            <a:srgbClr val="1E1E1E"/>
                          </a:solidFill>
                          <a:latin typeface="Calibri" pitchFamily="34" charset="0"/>
                          <a:ea typeface="Calibri" pitchFamily="34" charset="-122"/>
                          <a:cs typeface="Calibri" pitchFamily="34" charset="-120"/>
                        </a:rPr>
                        <a:t>Upload multipart : file, expiresInDays, password, tags (US01/08/09/10)</a:t>
                      </a:r>
                      <a:endParaRPr lang="en-US" sz="900" dirty="0">
                        <a:latin typeface="Calibri" charset="0"/>
                        <a:ea typeface="Calibri" charset="0"/>
                        <a:cs typeface="Calibri" charset="0"/>
                      </a:endParaRPr>
                    </a:p>
                  </a:txBody>
                  <a:tcPr marL="45720" marR="45720" marT="45720" marB="45720" anchor="ctr">
                    <a:lnL w="6350" cap="flat" cmpd="sng" algn="ctr">
                      <a:solidFill>
                        <a:srgbClr val="E6E0DB"/>
                      </a:solidFill>
                      <a:prstDash val="solid"/>
                      <a:round/>
                      <a:headEnd type="none" w="med" len="med"/>
                      <a:tailEnd type="none" w="med" len="med"/>
                    </a:lnL>
                    <a:lnR w="6350" cap="flat" cmpd="sng" algn="ctr">
                      <a:solidFill>
                        <a:srgbClr val="E6E0DB"/>
                      </a:solidFill>
                      <a:prstDash val="solid"/>
                      <a:round/>
                      <a:headEnd type="none" w="med" len="med"/>
                      <a:tailEnd type="none" w="med" len="med"/>
                    </a:lnR>
                    <a:lnT w="6350" cap="flat" cmpd="sng" algn="ctr">
                      <a:solidFill>
                        <a:srgbClr val="E6E0DB"/>
                      </a:solidFill>
                      <a:prstDash val="solid"/>
                      <a:round/>
                      <a:headEnd type="none" w="med" len="med"/>
                      <a:tailEnd type="none" w="med" len="med"/>
                    </a:lnT>
                    <a:lnB w="6350" cap="flat" cmpd="sng" algn="ctr">
                      <a:solidFill>
                        <a:srgbClr val="E6E0DB"/>
                      </a:solidFill>
                      <a:prstDash val="solid"/>
                      <a:round/>
                      <a:headEnd type="none" w="med" len="med"/>
                      <a:tailEnd type="none" w="med" len="med"/>
                    </a:lnB>
                  </a:tcPr>
                </a:tc>
                <a:tc>
                  <a:txBody>
                    <a:bodyPr/>
                    <a:lstStyle/>
                    <a:p>
                      <a:pPr indent="0" marL="0">
                        <a:buNone/>
                      </a:pPr>
                      <a:r>
                        <a:rPr lang="en-US" sz="900" b="1" dirty="0">
                          <a:solidFill>
                            <a:srgbClr val="DE6262"/>
                          </a:solidFill>
                          <a:latin typeface="Calibri" pitchFamily="34" charset="0"/>
                          <a:ea typeface="Calibri" pitchFamily="34" charset="-122"/>
                          <a:cs typeface="Calibri" pitchFamily="34" charset="-120"/>
                        </a:rPr>
                        <a:t>JWT</a:t>
                      </a:r>
                      <a:endParaRPr lang="en-US" sz="900" dirty="0">
                        <a:latin typeface="Calibri" charset="0"/>
                        <a:ea typeface="Calibri" charset="0"/>
                        <a:cs typeface="Calibri" charset="0"/>
                      </a:endParaRPr>
                    </a:p>
                  </a:txBody>
                  <a:tcPr marL="45720" marR="45720" marT="45720" marB="45720" anchor="ctr">
                    <a:lnL w="6350" cap="flat" cmpd="sng" algn="ctr">
                      <a:solidFill>
                        <a:srgbClr val="E6E0DB"/>
                      </a:solidFill>
                      <a:prstDash val="solid"/>
                      <a:round/>
                      <a:headEnd type="none" w="med" len="med"/>
                      <a:tailEnd type="none" w="med" len="med"/>
                    </a:lnL>
                    <a:lnR w="6350" cap="flat" cmpd="sng" algn="ctr">
                      <a:solidFill>
                        <a:srgbClr val="E6E0DB"/>
                      </a:solidFill>
                      <a:prstDash val="solid"/>
                      <a:round/>
                      <a:headEnd type="none" w="med" len="med"/>
                      <a:tailEnd type="none" w="med" len="med"/>
                    </a:lnR>
                    <a:lnT w="6350" cap="flat" cmpd="sng" algn="ctr">
                      <a:solidFill>
                        <a:srgbClr val="E6E0DB"/>
                      </a:solidFill>
                      <a:prstDash val="solid"/>
                      <a:round/>
                      <a:headEnd type="none" w="med" len="med"/>
                      <a:tailEnd type="none" w="med" len="med"/>
                    </a:lnT>
                    <a:lnB w="6350" cap="flat" cmpd="sng" algn="ctr">
                      <a:solidFill>
                        <a:srgbClr val="E6E0DB"/>
                      </a:solidFill>
                      <a:prstDash val="solid"/>
                      <a:round/>
                      <a:headEnd type="none" w="med" len="med"/>
                      <a:tailEnd type="none" w="med" len="med"/>
                    </a:lnB>
                  </a:tcPr>
                </a:tc>
                <a:tc>
                  <a:txBody>
                    <a:bodyPr/>
                    <a:lstStyle/>
                    <a:p>
                      <a:pPr indent="0" marL="0">
                        <a:buNone/>
                      </a:pPr>
                      <a:r>
                        <a:rPr lang="en-US" sz="900" dirty="0">
                          <a:solidFill>
                            <a:srgbClr val="1E1E1E"/>
                          </a:solidFill>
                          <a:latin typeface="Calibri" pitchFamily="34" charset="0"/>
                          <a:ea typeface="Calibri" pitchFamily="34" charset="-122"/>
                          <a:cs typeface="Calibri" pitchFamily="34" charset="-120"/>
                        </a:rPr>
                        <a:t>201 · 400 (.exe, &gt; 1 Go, durée) · 401</a:t>
                      </a:r>
                      <a:endParaRPr lang="en-US" sz="900" dirty="0">
                        <a:latin typeface="Calibri" charset="0"/>
                        <a:ea typeface="Calibri" charset="0"/>
                        <a:cs typeface="Calibri" charset="0"/>
                      </a:endParaRPr>
                    </a:p>
                  </a:txBody>
                  <a:tcPr marL="45720" marR="45720" marT="45720" marB="45720" anchor="ctr">
                    <a:lnL w="6350" cap="flat" cmpd="sng" algn="ctr">
                      <a:solidFill>
                        <a:srgbClr val="E6E0DB"/>
                      </a:solidFill>
                      <a:prstDash val="solid"/>
                      <a:round/>
                      <a:headEnd type="none" w="med" len="med"/>
                      <a:tailEnd type="none" w="med" len="med"/>
                    </a:lnL>
                    <a:lnR w="6350" cap="flat" cmpd="sng" algn="ctr">
                      <a:solidFill>
                        <a:srgbClr val="E6E0DB"/>
                      </a:solidFill>
                      <a:prstDash val="solid"/>
                      <a:round/>
                      <a:headEnd type="none" w="med" len="med"/>
                      <a:tailEnd type="none" w="med" len="med"/>
                    </a:lnR>
                    <a:lnT w="6350" cap="flat" cmpd="sng" algn="ctr">
                      <a:solidFill>
                        <a:srgbClr val="E6E0DB"/>
                      </a:solidFill>
                      <a:prstDash val="solid"/>
                      <a:round/>
                      <a:headEnd type="none" w="med" len="med"/>
                      <a:tailEnd type="none" w="med" len="med"/>
                    </a:lnT>
                    <a:lnB w="6350" cap="flat" cmpd="sng" algn="ctr">
                      <a:solidFill>
                        <a:srgbClr val="E6E0DB"/>
                      </a:solidFill>
                      <a:prstDash val="solid"/>
                      <a:round/>
                      <a:headEnd type="none" w="med" len="med"/>
                      <a:tailEnd type="none" w="med" len="med"/>
                    </a:lnB>
                  </a:tcPr>
                </a:tc>
              </a:tr>
              <a:tr h="246888">
                <a:tc>
                  <a:txBody>
                    <a:bodyPr/>
                    <a:lstStyle/>
                    <a:p>
                      <a:pPr indent="0" marL="0">
                        <a:buNone/>
                      </a:pPr>
                      <a:r>
                        <a:rPr lang="en-US" sz="900" dirty="0">
                          <a:solidFill>
                            <a:srgbClr val="1E1E1E"/>
                          </a:solidFill>
                          <a:latin typeface="Courier New" pitchFamily="34" charset="0"/>
                          <a:ea typeface="Courier New" pitchFamily="34" charset="-122"/>
                          <a:cs typeface="Courier New" pitchFamily="34" charset="-120"/>
                        </a:rPr>
                        <a:t>GET</a:t>
                      </a:r>
                      <a:endParaRPr lang="en-US" sz="900" dirty="0">
                        <a:latin typeface="Courier New" charset="0"/>
                        <a:ea typeface="Courier New" charset="0"/>
                        <a:cs typeface="Courier New" charset="0"/>
                      </a:endParaRPr>
                    </a:p>
                  </a:txBody>
                  <a:tcPr marL="45720" marR="45720" marT="45720" marB="45720" anchor="ctr">
                    <a:lnL w="6350" cap="flat" cmpd="sng" algn="ctr">
                      <a:solidFill>
                        <a:srgbClr val="E6E0DB"/>
                      </a:solidFill>
                      <a:prstDash val="solid"/>
                      <a:round/>
                      <a:headEnd type="none" w="med" len="med"/>
                      <a:tailEnd type="none" w="med" len="med"/>
                    </a:lnL>
                    <a:lnR w="6350" cap="flat" cmpd="sng" algn="ctr">
                      <a:solidFill>
                        <a:srgbClr val="E6E0DB"/>
                      </a:solidFill>
                      <a:prstDash val="solid"/>
                      <a:round/>
                      <a:headEnd type="none" w="med" len="med"/>
                      <a:tailEnd type="none" w="med" len="med"/>
                    </a:lnR>
                    <a:lnT w="6350" cap="flat" cmpd="sng" algn="ctr">
                      <a:solidFill>
                        <a:srgbClr val="E6E0DB"/>
                      </a:solidFill>
                      <a:prstDash val="solid"/>
                      <a:round/>
                      <a:headEnd type="none" w="med" len="med"/>
                      <a:tailEnd type="none" w="med" len="med"/>
                    </a:lnT>
                    <a:lnB w="6350" cap="flat" cmpd="sng" algn="ctr">
                      <a:solidFill>
                        <a:srgbClr val="E6E0DB"/>
                      </a:solidFill>
                      <a:prstDash val="solid"/>
                      <a:round/>
                      <a:headEnd type="none" w="med" len="med"/>
                      <a:tailEnd type="none" w="med" len="med"/>
                    </a:lnB>
                  </a:tcPr>
                </a:tc>
                <a:tc>
                  <a:txBody>
                    <a:bodyPr/>
                    <a:lstStyle/>
                    <a:p>
                      <a:pPr indent="0" marL="0">
                        <a:buNone/>
                      </a:pPr>
                      <a:r>
                        <a:rPr lang="en-US" sz="900" dirty="0">
                          <a:solidFill>
                            <a:srgbClr val="1E1E1E"/>
                          </a:solidFill>
                          <a:latin typeface="Courier New" pitchFamily="34" charset="0"/>
                          <a:ea typeface="Courier New" pitchFamily="34" charset="-122"/>
                          <a:cs typeface="Courier New" pitchFamily="34" charset="-120"/>
                        </a:rPr>
                        <a:t>/api/files/me?status=</a:t>
                      </a:r>
                      <a:endParaRPr lang="en-US" sz="900" dirty="0">
                        <a:latin typeface="Courier New" charset="0"/>
                        <a:ea typeface="Courier New" charset="0"/>
                        <a:cs typeface="Courier New" charset="0"/>
                      </a:endParaRPr>
                    </a:p>
                  </a:txBody>
                  <a:tcPr marL="45720" marR="45720" marT="45720" marB="45720" anchor="ctr">
                    <a:lnL w="6350" cap="flat" cmpd="sng" algn="ctr">
                      <a:solidFill>
                        <a:srgbClr val="E6E0DB"/>
                      </a:solidFill>
                      <a:prstDash val="solid"/>
                      <a:round/>
                      <a:headEnd type="none" w="med" len="med"/>
                      <a:tailEnd type="none" w="med" len="med"/>
                    </a:lnL>
                    <a:lnR w="6350" cap="flat" cmpd="sng" algn="ctr">
                      <a:solidFill>
                        <a:srgbClr val="E6E0DB"/>
                      </a:solidFill>
                      <a:prstDash val="solid"/>
                      <a:round/>
                      <a:headEnd type="none" w="med" len="med"/>
                      <a:tailEnd type="none" w="med" len="med"/>
                    </a:lnR>
                    <a:lnT w="6350" cap="flat" cmpd="sng" algn="ctr">
                      <a:solidFill>
                        <a:srgbClr val="E6E0DB"/>
                      </a:solidFill>
                      <a:prstDash val="solid"/>
                      <a:round/>
                      <a:headEnd type="none" w="med" len="med"/>
                      <a:tailEnd type="none" w="med" len="med"/>
                    </a:lnT>
                    <a:lnB w="6350" cap="flat" cmpd="sng" algn="ctr">
                      <a:solidFill>
                        <a:srgbClr val="E6E0DB"/>
                      </a:solidFill>
                      <a:prstDash val="solid"/>
                      <a:round/>
                      <a:headEnd type="none" w="med" len="med"/>
                      <a:tailEnd type="none" w="med" len="med"/>
                    </a:lnB>
                  </a:tcPr>
                </a:tc>
                <a:tc>
                  <a:txBody>
                    <a:bodyPr/>
                    <a:lstStyle/>
                    <a:p>
                      <a:pPr indent="0" marL="0">
                        <a:buNone/>
                      </a:pPr>
                      <a:r>
                        <a:rPr lang="en-US" sz="900" dirty="0">
                          <a:solidFill>
                            <a:srgbClr val="1E1E1E"/>
                          </a:solidFill>
                          <a:latin typeface="Calibri" pitchFamily="34" charset="0"/>
                          <a:ea typeface="Calibri" pitchFamily="34" charset="-122"/>
                          <a:cs typeface="Calibri" pitchFamily="34" charset="-120"/>
                        </a:rPr>
                        <a:t>Historique all | active | expired (US05)</a:t>
                      </a:r>
                      <a:endParaRPr lang="en-US" sz="900" dirty="0">
                        <a:latin typeface="Calibri" charset="0"/>
                        <a:ea typeface="Calibri" charset="0"/>
                        <a:cs typeface="Calibri" charset="0"/>
                      </a:endParaRPr>
                    </a:p>
                  </a:txBody>
                  <a:tcPr marL="45720" marR="45720" marT="45720" marB="45720" anchor="ctr">
                    <a:lnL w="6350" cap="flat" cmpd="sng" algn="ctr">
                      <a:solidFill>
                        <a:srgbClr val="E6E0DB"/>
                      </a:solidFill>
                      <a:prstDash val="solid"/>
                      <a:round/>
                      <a:headEnd type="none" w="med" len="med"/>
                      <a:tailEnd type="none" w="med" len="med"/>
                    </a:lnL>
                    <a:lnR w="6350" cap="flat" cmpd="sng" algn="ctr">
                      <a:solidFill>
                        <a:srgbClr val="E6E0DB"/>
                      </a:solidFill>
                      <a:prstDash val="solid"/>
                      <a:round/>
                      <a:headEnd type="none" w="med" len="med"/>
                      <a:tailEnd type="none" w="med" len="med"/>
                    </a:lnR>
                    <a:lnT w="6350" cap="flat" cmpd="sng" algn="ctr">
                      <a:solidFill>
                        <a:srgbClr val="E6E0DB"/>
                      </a:solidFill>
                      <a:prstDash val="solid"/>
                      <a:round/>
                      <a:headEnd type="none" w="med" len="med"/>
                      <a:tailEnd type="none" w="med" len="med"/>
                    </a:lnT>
                    <a:lnB w="6350" cap="flat" cmpd="sng" algn="ctr">
                      <a:solidFill>
                        <a:srgbClr val="E6E0DB"/>
                      </a:solidFill>
                      <a:prstDash val="solid"/>
                      <a:round/>
                      <a:headEnd type="none" w="med" len="med"/>
                      <a:tailEnd type="none" w="med" len="med"/>
                    </a:lnB>
                  </a:tcPr>
                </a:tc>
                <a:tc>
                  <a:txBody>
                    <a:bodyPr/>
                    <a:lstStyle/>
                    <a:p>
                      <a:pPr indent="0" marL="0">
                        <a:buNone/>
                      </a:pPr>
                      <a:r>
                        <a:rPr lang="en-US" sz="900" b="1" dirty="0">
                          <a:solidFill>
                            <a:srgbClr val="DE6262"/>
                          </a:solidFill>
                          <a:latin typeface="Calibri" pitchFamily="34" charset="0"/>
                          <a:ea typeface="Calibri" pitchFamily="34" charset="-122"/>
                          <a:cs typeface="Calibri" pitchFamily="34" charset="-120"/>
                        </a:rPr>
                        <a:t>JWT</a:t>
                      </a:r>
                      <a:endParaRPr lang="en-US" sz="900" dirty="0">
                        <a:latin typeface="Calibri" charset="0"/>
                        <a:ea typeface="Calibri" charset="0"/>
                        <a:cs typeface="Calibri" charset="0"/>
                      </a:endParaRPr>
                    </a:p>
                  </a:txBody>
                  <a:tcPr marL="45720" marR="45720" marT="45720" marB="45720" anchor="ctr">
                    <a:lnL w="6350" cap="flat" cmpd="sng" algn="ctr">
                      <a:solidFill>
                        <a:srgbClr val="E6E0DB"/>
                      </a:solidFill>
                      <a:prstDash val="solid"/>
                      <a:round/>
                      <a:headEnd type="none" w="med" len="med"/>
                      <a:tailEnd type="none" w="med" len="med"/>
                    </a:lnL>
                    <a:lnR w="6350" cap="flat" cmpd="sng" algn="ctr">
                      <a:solidFill>
                        <a:srgbClr val="E6E0DB"/>
                      </a:solidFill>
                      <a:prstDash val="solid"/>
                      <a:round/>
                      <a:headEnd type="none" w="med" len="med"/>
                      <a:tailEnd type="none" w="med" len="med"/>
                    </a:lnR>
                    <a:lnT w="6350" cap="flat" cmpd="sng" algn="ctr">
                      <a:solidFill>
                        <a:srgbClr val="E6E0DB"/>
                      </a:solidFill>
                      <a:prstDash val="solid"/>
                      <a:round/>
                      <a:headEnd type="none" w="med" len="med"/>
                      <a:tailEnd type="none" w="med" len="med"/>
                    </a:lnT>
                    <a:lnB w="6350" cap="flat" cmpd="sng" algn="ctr">
                      <a:solidFill>
                        <a:srgbClr val="E6E0DB"/>
                      </a:solidFill>
                      <a:prstDash val="solid"/>
                      <a:round/>
                      <a:headEnd type="none" w="med" len="med"/>
                      <a:tailEnd type="none" w="med" len="med"/>
                    </a:lnB>
                  </a:tcPr>
                </a:tc>
                <a:tc>
                  <a:txBody>
                    <a:bodyPr/>
                    <a:lstStyle/>
                    <a:p>
                      <a:pPr indent="0" marL="0">
                        <a:buNone/>
                      </a:pPr>
                      <a:r>
                        <a:rPr lang="en-US" sz="900" dirty="0">
                          <a:solidFill>
                            <a:srgbClr val="1E1E1E"/>
                          </a:solidFill>
                          <a:latin typeface="Calibri" pitchFamily="34" charset="0"/>
                          <a:ea typeface="Calibri" pitchFamily="34" charset="-122"/>
                          <a:cs typeface="Calibri" pitchFamily="34" charset="-120"/>
                        </a:rPr>
                        <a:t>200 · 401</a:t>
                      </a:r>
                      <a:endParaRPr lang="en-US" sz="900" dirty="0">
                        <a:latin typeface="Calibri" charset="0"/>
                        <a:ea typeface="Calibri" charset="0"/>
                        <a:cs typeface="Calibri" charset="0"/>
                      </a:endParaRPr>
                    </a:p>
                  </a:txBody>
                  <a:tcPr marL="45720" marR="45720" marT="45720" marB="45720" anchor="ctr">
                    <a:lnL w="6350" cap="flat" cmpd="sng" algn="ctr">
                      <a:solidFill>
                        <a:srgbClr val="E6E0DB"/>
                      </a:solidFill>
                      <a:prstDash val="solid"/>
                      <a:round/>
                      <a:headEnd type="none" w="med" len="med"/>
                      <a:tailEnd type="none" w="med" len="med"/>
                    </a:lnL>
                    <a:lnR w="6350" cap="flat" cmpd="sng" algn="ctr">
                      <a:solidFill>
                        <a:srgbClr val="E6E0DB"/>
                      </a:solidFill>
                      <a:prstDash val="solid"/>
                      <a:round/>
                      <a:headEnd type="none" w="med" len="med"/>
                      <a:tailEnd type="none" w="med" len="med"/>
                    </a:lnR>
                    <a:lnT w="6350" cap="flat" cmpd="sng" algn="ctr">
                      <a:solidFill>
                        <a:srgbClr val="E6E0DB"/>
                      </a:solidFill>
                      <a:prstDash val="solid"/>
                      <a:round/>
                      <a:headEnd type="none" w="med" len="med"/>
                      <a:tailEnd type="none" w="med" len="med"/>
                    </a:lnT>
                    <a:lnB w="6350" cap="flat" cmpd="sng" algn="ctr">
                      <a:solidFill>
                        <a:srgbClr val="E6E0DB"/>
                      </a:solidFill>
                      <a:prstDash val="solid"/>
                      <a:round/>
                      <a:headEnd type="none" w="med" len="med"/>
                      <a:tailEnd type="none" w="med" len="med"/>
                    </a:lnB>
                  </a:tcPr>
                </a:tc>
              </a:tr>
              <a:tr h="246888">
                <a:tc>
                  <a:txBody>
                    <a:bodyPr/>
                    <a:lstStyle/>
                    <a:p>
                      <a:pPr indent="0" marL="0">
                        <a:buNone/>
                      </a:pPr>
                      <a:r>
                        <a:rPr lang="en-US" sz="900" dirty="0">
                          <a:solidFill>
                            <a:srgbClr val="1E1E1E"/>
                          </a:solidFill>
                          <a:latin typeface="Courier New" pitchFamily="34" charset="0"/>
                          <a:ea typeface="Courier New" pitchFamily="34" charset="-122"/>
                          <a:cs typeface="Courier New" pitchFamily="34" charset="-120"/>
                        </a:rPr>
                        <a:t>GET</a:t>
                      </a:r>
                      <a:endParaRPr lang="en-US" sz="900" dirty="0">
                        <a:latin typeface="Courier New" charset="0"/>
                        <a:ea typeface="Courier New" charset="0"/>
                        <a:cs typeface="Courier New" charset="0"/>
                      </a:endParaRPr>
                    </a:p>
                  </a:txBody>
                  <a:tcPr marL="45720" marR="45720" marT="45720" marB="45720" anchor="ctr">
                    <a:lnL w="6350" cap="flat" cmpd="sng" algn="ctr">
                      <a:solidFill>
                        <a:srgbClr val="E6E0DB"/>
                      </a:solidFill>
                      <a:prstDash val="solid"/>
                      <a:round/>
                      <a:headEnd type="none" w="med" len="med"/>
                      <a:tailEnd type="none" w="med" len="med"/>
                    </a:lnL>
                    <a:lnR w="6350" cap="flat" cmpd="sng" algn="ctr">
                      <a:solidFill>
                        <a:srgbClr val="E6E0DB"/>
                      </a:solidFill>
                      <a:prstDash val="solid"/>
                      <a:round/>
                      <a:headEnd type="none" w="med" len="med"/>
                      <a:tailEnd type="none" w="med" len="med"/>
                    </a:lnR>
                    <a:lnT w="6350" cap="flat" cmpd="sng" algn="ctr">
                      <a:solidFill>
                        <a:srgbClr val="E6E0DB"/>
                      </a:solidFill>
                      <a:prstDash val="solid"/>
                      <a:round/>
                      <a:headEnd type="none" w="med" len="med"/>
                      <a:tailEnd type="none" w="med" len="med"/>
                    </a:lnT>
                    <a:lnB w="6350" cap="flat" cmpd="sng" algn="ctr">
                      <a:solidFill>
                        <a:srgbClr val="E6E0DB"/>
                      </a:solidFill>
                      <a:prstDash val="solid"/>
                      <a:round/>
                      <a:headEnd type="none" w="med" len="med"/>
                      <a:tailEnd type="none" w="med" len="med"/>
                    </a:lnB>
                  </a:tcPr>
                </a:tc>
                <a:tc>
                  <a:txBody>
                    <a:bodyPr/>
                    <a:lstStyle/>
                    <a:p>
                      <a:pPr indent="0" marL="0">
                        <a:buNone/>
                      </a:pPr>
                      <a:r>
                        <a:rPr lang="en-US" sz="900" dirty="0">
                          <a:solidFill>
                            <a:srgbClr val="1E1E1E"/>
                          </a:solidFill>
                          <a:latin typeface="Courier New" pitchFamily="34" charset="0"/>
                          <a:ea typeface="Courier New" pitchFamily="34" charset="-122"/>
                          <a:cs typeface="Courier New" pitchFamily="34" charset="-120"/>
                        </a:rPr>
                        <a:t>/api/files/{id}</a:t>
                      </a:r>
                      <a:endParaRPr lang="en-US" sz="900" dirty="0">
                        <a:latin typeface="Courier New" charset="0"/>
                        <a:ea typeface="Courier New" charset="0"/>
                        <a:cs typeface="Courier New" charset="0"/>
                      </a:endParaRPr>
                    </a:p>
                  </a:txBody>
                  <a:tcPr marL="45720" marR="45720" marT="45720" marB="45720" anchor="ctr">
                    <a:lnL w="6350" cap="flat" cmpd="sng" algn="ctr">
                      <a:solidFill>
                        <a:srgbClr val="E6E0DB"/>
                      </a:solidFill>
                      <a:prstDash val="solid"/>
                      <a:round/>
                      <a:headEnd type="none" w="med" len="med"/>
                      <a:tailEnd type="none" w="med" len="med"/>
                    </a:lnL>
                    <a:lnR w="6350" cap="flat" cmpd="sng" algn="ctr">
                      <a:solidFill>
                        <a:srgbClr val="E6E0DB"/>
                      </a:solidFill>
                      <a:prstDash val="solid"/>
                      <a:round/>
                      <a:headEnd type="none" w="med" len="med"/>
                      <a:tailEnd type="none" w="med" len="med"/>
                    </a:lnR>
                    <a:lnT w="6350" cap="flat" cmpd="sng" algn="ctr">
                      <a:solidFill>
                        <a:srgbClr val="E6E0DB"/>
                      </a:solidFill>
                      <a:prstDash val="solid"/>
                      <a:round/>
                      <a:headEnd type="none" w="med" len="med"/>
                      <a:tailEnd type="none" w="med" len="med"/>
                    </a:lnT>
                    <a:lnB w="6350" cap="flat" cmpd="sng" algn="ctr">
                      <a:solidFill>
                        <a:srgbClr val="E6E0DB"/>
                      </a:solidFill>
                      <a:prstDash val="solid"/>
                      <a:round/>
                      <a:headEnd type="none" w="med" len="med"/>
                      <a:tailEnd type="none" w="med" len="med"/>
                    </a:lnB>
                  </a:tcPr>
                </a:tc>
                <a:tc>
                  <a:txBody>
                    <a:bodyPr/>
                    <a:lstStyle/>
                    <a:p>
                      <a:pPr indent="0" marL="0">
                        <a:buNone/>
                      </a:pPr>
                      <a:r>
                        <a:rPr lang="en-US" sz="900" dirty="0">
                          <a:solidFill>
                            <a:srgbClr val="1E1E1E"/>
                          </a:solidFill>
                          <a:latin typeface="Calibri" pitchFamily="34" charset="0"/>
                          <a:ea typeface="Calibri" pitchFamily="34" charset="-122"/>
                          <a:cs typeface="Calibri" pitchFamily="34" charset="-120"/>
                        </a:rPr>
                        <a:t>Métadonnées d'un de mes fichiers</a:t>
                      </a:r>
                      <a:endParaRPr lang="en-US" sz="900" dirty="0">
                        <a:latin typeface="Calibri" charset="0"/>
                        <a:ea typeface="Calibri" charset="0"/>
                        <a:cs typeface="Calibri" charset="0"/>
                      </a:endParaRPr>
                    </a:p>
                  </a:txBody>
                  <a:tcPr marL="45720" marR="45720" marT="45720" marB="45720" anchor="ctr">
                    <a:lnL w="6350" cap="flat" cmpd="sng" algn="ctr">
                      <a:solidFill>
                        <a:srgbClr val="E6E0DB"/>
                      </a:solidFill>
                      <a:prstDash val="solid"/>
                      <a:round/>
                      <a:headEnd type="none" w="med" len="med"/>
                      <a:tailEnd type="none" w="med" len="med"/>
                    </a:lnL>
                    <a:lnR w="6350" cap="flat" cmpd="sng" algn="ctr">
                      <a:solidFill>
                        <a:srgbClr val="E6E0DB"/>
                      </a:solidFill>
                      <a:prstDash val="solid"/>
                      <a:round/>
                      <a:headEnd type="none" w="med" len="med"/>
                      <a:tailEnd type="none" w="med" len="med"/>
                    </a:lnR>
                    <a:lnT w="6350" cap="flat" cmpd="sng" algn="ctr">
                      <a:solidFill>
                        <a:srgbClr val="E6E0DB"/>
                      </a:solidFill>
                      <a:prstDash val="solid"/>
                      <a:round/>
                      <a:headEnd type="none" w="med" len="med"/>
                      <a:tailEnd type="none" w="med" len="med"/>
                    </a:lnT>
                    <a:lnB w="6350" cap="flat" cmpd="sng" algn="ctr">
                      <a:solidFill>
                        <a:srgbClr val="E6E0DB"/>
                      </a:solidFill>
                      <a:prstDash val="solid"/>
                      <a:round/>
                      <a:headEnd type="none" w="med" len="med"/>
                      <a:tailEnd type="none" w="med" len="med"/>
                    </a:lnB>
                  </a:tcPr>
                </a:tc>
                <a:tc>
                  <a:txBody>
                    <a:bodyPr/>
                    <a:lstStyle/>
                    <a:p>
                      <a:pPr indent="0" marL="0">
                        <a:buNone/>
                      </a:pPr>
                      <a:r>
                        <a:rPr lang="en-US" sz="900" b="1" dirty="0">
                          <a:solidFill>
                            <a:srgbClr val="DE6262"/>
                          </a:solidFill>
                          <a:latin typeface="Calibri" pitchFamily="34" charset="0"/>
                          <a:ea typeface="Calibri" pitchFamily="34" charset="-122"/>
                          <a:cs typeface="Calibri" pitchFamily="34" charset="-120"/>
                        </a:rPr>
                        <a:t>JWT</a:t>
                      </a:r>
                      <a:endParaRPr lang="en-US" sz="900" dirty="0">
                        <a:latin typeface="Calibri" charset="0"/>
                        <a:ea typeface="Calibri" charset="0"/>
                        <a:cs typeface="Calibri" charset="0"/>
                      </a:endParaRPr>
                    </a:p>
                  </a:txBody>
                  <a:tcPr marL="45720" marR="45720" marT="45720" marB="45720" anchor="ctr">
                    <a:lnL w="6350" cap="flat" cmpd="sng" algn="ctr">
                      <a:solidFill>
                        <a:srgbClr val="E6E0DB"/>
                      </a:solidFill>
                      <a:prstDash val="solid"/>
                      <a:round/>
                      <a:headEnd type="none" w="med" len="med"/>
                      <a:tailEnd type="none" w="med" len="med"/>
                    </a:lnL>
                    <a:lnR w="6350" cap="flat" cmpd="sng" algn="ctr">
                      <a:solidFill>
                        <a:srgbClr val="E6E0DB"/>
                      </a:solidFill>
                      <a:prstDash val="solid"/>
                      <a:round/>
                      <a:headEnd type="none" w="med" len="med"/>
                      <a:tailEnd type="none" w="med" len="med"/>
                    </a:lnR>
                    <a:lnT w="6350" cap="flat" cmpd="sng" algn="ctr">
                      <a:solidFill>
                        <a:srgbClr val="E6E0DB"/>
                      </a:solidFill>
                      <a:prstDash val="solid"/>
                      <a:round/>
                      <a:headEnd type="none" w="med" len="med"/>
                      <a:tailEnd type="none" w="med" len="med"/>
                    </a:lnT>
                    <a:lnB w="6350" cap="flat" cmpd="sng" algn="ctr">
                      <a:solidFill>
                        <a:srgbClr val="E6E0DB"/>
                      </a:solidFill>
                      <a:prstDash val="solid"/>
                      <a:round/>
                      <a:headEnd type="none" w="med" len="med"/>
                      <a:tailEnd type="none" w="med" len="med"/>
                    </a:lnB>
                  </a:tcPr>
                </a:tc>
                <a:tc>
                  <a:txBody>
                    <a:bodyPr/>
                    <a:lstStyle/>
                    <a:p>
                      <a:pPr indent="0" marL="0">
                        <a:buNone/>
                      </a:pPr>
                      <a:r>
                        <a:rPr lang="en-US" sz="900" dirty="0">
                          <a:solidFill>
                            <a:srgbClr val="1E1E1E"/>
                          </a:solidFill>
                          <a:latin typeface="Calibri" pitchFamily="34" charset="0"/>
                          <a:ea typeface="Calibri" pitchFamily="34" charset="-122"/>
                          <a:cs typeface="Calibri" pitchFamily="34" charset="-120"/>
                        </a:rPr>
                        <a:t>200 · 404 (jamais 403)</a:t>
                      </a:r>
                      <a:endParaRPr lang="en-US" sz="900" dirty="0">
                        <a:latin typeface="Calibri" charset="0"/>
                        <a:ea typeface="Calibri" charset="0"/>
                        <a:cs typeface="Calibri" charset="0"/>
                      </a:endParaRPr>
                    </a:p>
                  </a:txBody>
                  <a:tcPr marL="45720" marR="45720" marT="45720" marB="45720" anchor="ctr">
                    <a:lnL w="6350" cap="flat" cmpd="sng" algn="ctr">
                      <a:solidFill>
                        <a:srgbClr val="E6E0DB"/>
                      </a:solidFill>
                      <a:prstDash val="solid"/>
                      <a:round/>
                      <a:headEnd type="none" w="med" len="med"/>
                      <a:tailEnd type="none" w="med" len="med"/>
                    </a:lnL>
                    <a:lnR w="6350" cap="flat" cmpd="sng" algn="ctr">
                      <a:solidFill>
                        <a:srgbClr val="E6E0DB"/>
                      </a:solidFill>
                      <a:prstDash val="solid"/>
                      <a:round/>
                      <a:headEnd type="none" w="med" len="med"/>
                      <a:tailEnd type="none" w="med" len="med"/>
                    </a:lnR>
                    <a:lnT w="6350" cap="flat" cmpd="sng" algn="ctr">
                      <a:solidFill>
                        <a:srgbClr val="E6E0DB"/>
                      </a:solidFill>
                      <a:prstDash val="solid"/>
                      <a:round/>
                      <a:headEnd type="none" w="med" len="med"/>
                      <a:tailEnd type="none" w="med" len="med"/>
                    </a:lnT>
                    <a:lnB w="6350" cap="flat" cmpd="sng" algn="ctr">
                      <a:solidFill>
                        <a:srgbClr val="E6E0DB"/>
                      </a:solidFill>
                      <a:prstDash val="solid"/>
                      <a:round/>
                      <a:headEnd type="none" w="med" len="med"/>
                      <a:tailEnd type="none" w="med" len="med"/>
                    </a:lnB>
                  </a:tcPr>
                </a:tc>
              </a:tr>
              <a:tr h="246888">
                <a:tc>
                  <a:txBody>
                    <a:bodyPr/>
                    <a:lstStyle/>
                    <a:p>
                      <a:pPr indent="0" marL="0">
                        <a:buNone/>
                      </a:pPr>
                      <a:r>
                        <a:rPr lang="en-US" sz="900" dirty="0">
                          <a:solidFill>
                            <a:srgbClr val="1E1E1E"/>
                          </a:solidFill>
                          <a:latin typeface="Courier New" pitchFamily="34" charset="0"/>
                          <a:ea typeface="Courier New" pitchFamily="34" charset="-122"/>
                          <a:cs typeface="Courier New" pitchFamily="34" charset="-120"/>
                        </a:rPr>
                        <a:t>DELETE</a:t>
                      </a:r>
                      <a:endParaRPr lang="en-US" sz="900" dirty="0">
                        <a:latin typeface="Courier New" charset="0"/>
                        <a:ea typeface="Courier New" charset="0"/>
                        <a:cs typeface="Courier New" charset="0"/>
                      </a:endParaRPr>
                    </a:p>
                  </a:txBody>
                  <a:tcPr marL="45720" marR="45720" marT="45720" marB="45720" anchor="ctr">
                    <a:lnL w="6350" cap="flat" cmpd="sng" algn="ctr">
                      <a:solidFill>
                        <a:srgbClr val="E6E0DB"/>
                      </a:solidFill>
                      <a:prstDash val="solid"/>
                      <a:round/>
                      <a:headEnd type="none" w="med" len="med"/>
                      <a:tailEnd type="none" w="med" len="med"/>
                    </a:lnL>
                    <a:lnR w="6350" cap="flat" cmpd="sng" algn="ctr">
                      <a:solidFill>
                        <a:srgbClr val="E6E0DB"/>
                      </a:solidFill>
                      <a:prstDash val="solid"/>
                      <a:round/>
                      <a:headEnd type="none" w="med" len="med"/>
                      <a:tailEnd type="none" w="med" len="med"/>
                    </a:lnR>
                    <a:lnT w="6350" cap="flat" cmpd="sng" algn="ctr">
                      <a:solidFill>
                        <a:srgbClr val="E6E0DB"/>
                      </a:solidFill>
                      <a:prstDash val="solid"/>
                      <a:round/>
                      <a:headEnd type="none" w="med" len="med"/>
                      <a:tailEnd type="none" w="med" len="med"/>
                    </a:lnT>
                    <a:lnB w="6350" cap="flat" cmpd="sng" algn="ctr">
                      <a:solidFill>
                        <a:srgbClr val="E6E0DB"/>
                      </a:solidFill>
                      <a:prstDash val="solid"/>
                      <a:round/>
                      <a:headEnd type="none" w="med" len="med"/>
                      <a:tailEnd type="none" w="med" len="med"/>
                    </a:lnB>
                  </a:tcPr>
                </a:tc>
                <a:tc>
                  <a:txBody>
                    <a:bodyPr/>
                    <a:lstStyle/>
                    <a:p>
                      <a:pPr indent="0" marL="0">
                        <a:buNone/>
                      </a:pPr>
                      <a:r>
                        <a:rPr lang="en-US" sz="900" dirty="0">
                          <a:solidFill>
                            <a:srgbClr val="1E1E1E"/>
                          </a:solidFill>
                          <a:latin typeface="Courier New" pitchFamily="34" charset="0"/>
                          <a:ea typeface="Courier New" pitchFamily="34" charset="-122"/>
                          <a:cs typeface="Courier New" pitchFamily="34" charset="-120"/>
                        </a:rPr>
                        <a:t>/api/files/{id}</a:t>
                      </a:r>
                      <a:endParaRPr lang="en-US" sz="900" dirty="0">
                        <a:latin typeface="Courier New" charset="0"/>
                        <a:ea typeface="Courier New" charset="0"/>
                        <a:cs typeface="Courier New" charset="0"/>
                      </a:endParaRPr>
                    </a:p>
                  </a:txBody>
                  <a:tcPr marL="45720" marR="45720" marT="45720" marB="45720" anchor="ctr">
                    <a:lnL w="6350" cap="flat" cmpd="sng" algn="ctr">
                      <a:solidFill>
                        <a:srgbClr val="E6E0DB"/>
                      </a:solidFill>
                      <a:prstDash val="solid"/>
                      <a:round/>
                      <a:headEnd type="none" w="med" len="med"/>
                      <a:tailEnd type="none" w="med" len="med"/>
                    </a:lnL>
                    <a:lnR w="6350" cap="flat" cmpd="sng" algn="ctr">
                      <a:solidFill>
                        <a:srgbClr val="E6E0DB"/>
                      </a:solidFill>
                      <a:prstDash val="solid"/>
                      <a:round/>
                      <a:headEnd type="none" w="med" len="med"/>
                      <a:tailEnd type="none" w="med" len="med"/>
                    </a:lnR>
                    <a:lnT w="6350" cap="flat" cmpd="sng" algn="ctr">
                      <a:solidFill>
                        <a:srgbClr val="E6E0DB"/>
                      </a:solidFill>
                      <a:prstDash val="solid"/>
                      <a:round/>
                      <a:headEnd type="none" w="med" len="med"/>
                      <a:tailEnd type="none" w="med" len="med"/>
                    </a:lnT>
                    <a:lnB w="6350" cap="flat" cmpd="sng" algn="ctr">
                      <a:solidFill>
                        <a:srgbClr val="E6E0DB"/>
                      </a:solidFill>
                      <a:prstDash val="solid"/>
                      <a:round/>
                      <a:headEnd type="none" w="med" len="med"/>
                      <a:tailEnd type="none" w="med" len="med"/>
                    </a:lnB>
                  </a:tcPr>
                </a:tc>
                <a:tc>
                  <a:txBody>
                    <a:bodyPr/>
                    <a:lstStyle/>
                    <a:p>
                      <a:pPr indent="0" marL="0">
                        <a:buNone/>
                      </a:pPr>
                      <a:r>
                        <a:rPr lang="en-US" sz="900" dirty="0">
                          <a:solidFill>
                            <a:srgbClr val="1E1E1E"/>
                          </a:solidFill>
                          <a:latin typeface="Calibri" pitchFamily="34" charset="0"/>
                          <a:ea typeface="Calibri" pitchFamily="34" charset="-122"/>
                          <a:cs typeface="Calibri" pitchFamily="34" charset="-120"/>
                        </a:rPr>
                        <a:t>Supprimer disque + base (US06)</a:t>
                      </a:r>
                      <a:endParaRPr lang="en-US" sz="900" dirty="0">
                        <a:latin typeface="Calibri" charset="0"/>
                        <a:ea typeface="Calibri" charset="0"/>
                        <a:cs typeface="Calibri" charset="0"/>
                      </a:endParaRPr>
                    </a:p>
                  </a:txBody>
                  <a:tcPr marL="45720" marR="45720" marT="45720" marB="45720" anchor="ctr">
                    <a:lnL w="6350" cap="flat" cmpd="sng" algn="ctr">
                      <a:solidFill>
                        <a:srgbClr val="E6E0DB"/>
                      </a:solidFill>
                      <a:prstDash val="solid"/>
                      <a:round/>
                      <a:headEnd type="none" w="med" len="med"/>
                      <a:tailEnd type="none" w="med" len="med"/>
                    </a:lnL>
                    <a:lnR w="6350" cap="flat" cmpd="sng" algn="ctr">
                      <a:solidFill>
                        <a:srgbClr val="E6E0DB"/>
                      </a:solidFill>
                      <a:prstDash val="solid"/>
                      <a:round/>
                      <a:headEnd type="none" w="med" len="med"/>
                      <a:tailEnd type="none" w="med" len="med"/>
                    </a:lnR>
                    <a:lnT w="6350" cap="flat" cmpd="sng" algn="ctr">
                      <a:solidFill>
                        <a:srgbClr val="E6E0DB"/>
                      </a:solidFill>
                      <a:prstDash val="solid"/>
                      <a:round/>
                      <a:headEnd type="none" w="med" len="med"/>
                      <a:tailEnd type="none" w="med" len="med"/>
                    </a:lnT>
                    <a:lnB w="6350" cap="flat" cmpd="sng" algn="ctr">
                      <a:solidFill>
                        <a:srgbClr val="E6E0DB"/>
                      </a:solidFill>
                      <a:prstDash val="solid"/>
                      <a:round/>
                      <a:headEnd type="none" w="med" len="med"/>
                      <a:tailEnd type="none" w="med" len="med"/>
                    </a:lnB>
                  </a:tcPr>
                </a:tc>
                <a:tc>
                  <a:txBody>
                    <a:bodyPr/>
                    <a:lstStyle/>
                    <a:p>
                      <a:pPr indent="0" marL="0">
                        <a:buNone/>
                      </a:pPr>
                      <a:r>
                        <a:rPr lang="en-US" sz="900" b="1" dirty="0">
                          <a:solidFill>
                            <a:srgbClr val="DE6262"/>
                          </a:solidFill>
                          <a:latin typeface="Calibri" pitchFamily="34" charset="0"/>
                          <a:ea typeface="Calibri" pitchFamily="34" charset="-122"/>
                          <a:cs typeface="Calibri" pitchFamily="34" charset="-120"/>
                        </a:rPr>
                        <a:t>JWT</a:t>
                      </a:r>
                      <a:endParaRPr lang="en-US" sz="900" dirty="0">
                        <a:latin typeface="Calibri" charset="0"/>
                        <a:ea typeface="Calibri" charset="0"/>
                        <a:cs typeface="Calibri" charset="0"/>
                      </a:endParaRPr>
                    </a:p>
                  </a:txBody>
                  <a:tcPr marL="45720" marR="45720" marT="45720" marB="45720" anchor="ctr">
                    <a:lnL w="6350" cap="flat" cmpd="sng" algn="ctr">
                      <a:solidFill>
                        <a:srgbClr val="E6E0DB"/>
                      </a:solidFill>
                      <a:prstDash val="solid"/>
                      <a:round/>
                      <a:headEnd type="none" w="med" len="med"/>
                      <a:tailEnd type="none" w="med" len="med"/>
                    </a:lnL>
                    <a:lnR w="6350" cap="flat" cmpd="sng" algn="ctr">
                      <a:solidFill>
                        <a:srgbClr val="E6E0DB"/>
                      </a:solidFill>
                      <a:prstDash val="solid"/>
                      <a:round/>
                      <a:headEnd type="none" w="med" len="med"/>
                      <a:tailEnd type="none" w="med" len="med"/>
                    </a:lnR>
                    <a:lnT w="6350" cap="flat" cmpd="sng" algn="ctr">
                      <a:solidFill>
                        <a:srgbClr val="E6E0DB"/>
                      </a:solidFill>
                      <a:prstDash val="solid"/>
                      <a:round/>
                      <a:headEnd type="none" w="med" len="med"/>
                      <a:tailEnd type="none" w="med" len="med"/>
                    </a:lnT>
                    <a:lnB w="6350" cap="flat" cmpd="sng" algn="ctr">
                      <a:solidFill>
                        <a:srgbClr val="E6E0DB"/>
                      </a:solidFill>
                      <a:prstDash val="solid"/>
                      <a:round/>
                      <a:headEnd type="none" w="med" len="med"/>
                      <a:tailEnd type="none" w="med" len="med"/>
                    </a:lnB>
                  </a:tcPr>
                </a:tc>
                <a:tc>
                  <a:txBody>
                    <a:bodyPr/>
                    <a:lstStyle/>
                    <a:p>
                      <a:pPr indent="0" marL="0">
                        <a:buNone/>
                      </a:pPr>
                      <a:r>
                        <a:rPr lang="en-US" sz="900" dirty="0">
                          <a:solidFill>
                            <a:srgbClr val="1E1E1E"/>
                          </a:solidFill>
                          <a:latin typeface="Calibri" pitchFamily="34" charset="0"/>
                          <a:ea typeface="Calibri" pitchFamily="34" charset="-122"/>
                          <a:cs typeface="Calibri" pitchFamily="34" charset="-120"/>
                        </a:rPr>
                        <a:t>204 · 404</a:t>
                      </a:r>
                      <a:endParaRPr lang="en-US" sz="900" dirty="0">
                        <a:latin typeface="Calibri" charset="0"/>
                        <a:ea typeface="Calibri" charset="0"/>
                        <a:cs typeface="Calibri" charset="0"/>
                      </a:endParaRPr>
                    </a:p>
                  </a:txBody>
                  <a:tcPr marL="45720" marR="45720" marT="45720" marB="45720" anchor="ctr">
                    <a:lnL w="6350" cap="flat" cmpd="sng" algn="ctr">
                      <a:solidFill>
                        <a:srgbClr val="E6E0DB"/>
                      </a:solidFill>
                      <a:prstDash val="solid"/>
                      <a:round/>
                      <a:headEnd type="none" w="med" len="med"/>
                      <a:tailEnd type="none" w="med" len="med"/>
                    </a:lnL>
                    <a:lnR w="6350" cap="flat" cmpd="sng" algn="ctr">
                      <a:solidFill>
                        <a:srgbClr val="E6E0DB"/>
                      </a:solidFill>
                      <a:prstDash val="solid"/>
                      <a:round/>
                      <a:headEnd type="none" w="med" len="med"/>
                      <a:tailEnd type="none" w="med" len="med"/>
                    </a:lnR>
                    <a:lnT w="6350" cap="flat" cmpd="sng" algn="ctr">
                      <a:solidFill>
                        <a:srgbClr val="E6E0DB"/>
                      </a:solidFill>
                      <a:prstDash val="solid"/>
                      <a:round/>
                      <a:headEnd type="none" w="med" len="med"/>
                      <a:tailEnd type="none" w="med" len="med"/>
                    </a:lnT>
                    <a:lnB w="6350" cap="flat" cmpd="sng" algn="ctr">
                      <a:solidFill>
                        <a:srgbClr val="E6E0DB"/>
                      </a:solidFill>
                      <a:prstDash val="solid"/>
                      <a:round/>
                      <a:headEnd type="none" w="med" len="med"/>
                      <a:tailEnd type="none" w="med" len="med"/>
                    </a:lnB>
                  </a:tcPr>
                </a:tc>
              </a:tr>
              <a:tr h="246888">
                <a:tc>
                  <a:txBody>
                    <a:bodyPr/>
                    <a:lstStyle/>
                    <a:p>
                      <a:pPr indent="0" marL="0">
                        <a:buNone/>
                      </a:pPr>
                      <a:r>
                        <a:rPr lang="en-US" sz="900" dirty="0">
                          <a:solidFill>
                            <a:srgbClr val="1E1E1E"/>
                          </a:solidFill>
                          <a:latin typeface="Courier New" pitchFamily="34" charset="0"/>
                          <a:ea typeface="Courier New" pitchFamily="34" charset="-122"/>
                          <a:cs typeface="Courier New" pitchFamily="34" charset="-120"/>
                        </a:rPr>
                        <a:t>POST</a:t>
                      </a:r>
                      <a:endParaRPr lang="en-US" sz="900" dirty="0">
                        <a:latin typeface="Courier New" charset="0"/>
                        <a:ea typeface="Courier New" charset="0"/>
                        <a:cs typeface="Courier New" charset="0"/>
                      </a:endParaRPr>
                    </a:p>
                  </a:txBody>
                  <a:tcPr marL="45720" marR="45720" marT="45720" marB="45720" anchor="ctr">
                    <a:lnL w="6350" cap="flat" cmpd="sng" algn="ctr">
                      <a:solidFill>
                        <a:srgbClr val="E6E0DB"/>
                      </a:solidFill>
                      <a:prstDash val="solid"/>
                      <a:round/>
                      <a:headEnd type="none" w="med" len="med"/>
                      <a:tailEnd type="none" w="med" len="med"/>
                    </a:lnL>
                    <a:lnR w="6350" cap="flat" cmpd="sng" algn="ctr">
                      <a:solidFill>
                        <a:srgbClr val="E6E0DB"/>
                      </a:solidFill>
                      <a:prstDash val="solid"/>
                      <a:round/>
                      <a:headEnd type="none" w="med" len="med"/>
                      <a:tailEnd type="none" w="med" len="med"/>
                    </a:lnR>
                    <a:lnT w="6350" cap="flat" cmpd="sng" algn="ctr">
                      <a:solidFill>
                        <a:srgbClr val="E6E0DB"/>
                      </a:solidFill>
                      <a:prstDash val="solid"/>
                      <a:round/>
                      <a:headEnd type="none" w="med" len="med"/>
                      <a:tailEnd type="none" w="med" len="med"/>
                    </a:lnT>
                    <a:lnB w="6350" cap="flat" cmpd="sng" algn="ctr">
                      <a:solidFill>
                        <a:srgbClr val="E6E0DB"/>
                      </a:solidFill>
                      <a:prstDash val="solid"/>
                      <a:round/>
                      <a:headEnd type="none" w="med" len="med"/>
                      <a:tailEnd type="none" w="med" len="med"/>
                    </a:lnB>
                  </a:tcPr>
                </a:tc>
                <a:tc>
                  <a:txBody>
                    <a:bodyPr/>
                    <a:lstStyle/>
                    <a:p>
                      <a:pPr indent="0" marL="0">
                        <a:buNone/>
                      </a:pPr>
                      <a:r>
                        <a:rPr lang="en-US" sz="900" dirty="0">
                          <a:solidFill>
                            <a:srgbClr val="1E1E1E"/>
                          </a:solidFill>
                          <a:latin typeface="Courier New" pitchFamily="34" charset="0"/>
                          <a:ea typeface="Courier New" pitchFamily="34" charset="-122"/>
                          <a:cs typeface="Courier New" pitchFamily="34" charset="-120"/>
                        </a:rPr>
                        <a:t>/api/public/files</a:t>
                      </a:r>
                      <a:endParaRPr lang="en-US" sz="900" dirty="0">
                        <a:latin typeface="Courier New" charset="0"/>
                        <a:ea typeface="Courier New" charset="0"/>
                        <a:cs typeface="Courier New" charset="0"/>
                      </a:endParaRPr>
                    </a:p>
                  </a:txBody>
                  <a:tcPr marL="45720" marR="45720" marT="45720" marB="45720" anchor="ctr">
                    <a:lnL w="6350" cap="flat" cmpd="sng" algn="ctr">
                      <a:solidFill>
                        <a:srgbClr val="E6E0DB"/>
                      </a:solidFill>
                      <a:prstDash val="solid"/>
                      <a:round/>
                      <a:headEnd type="none" w="med" len="med"/>
                      <a:tailEnd type="none" w="med" len="med"/>
                    </a:lnL>
                    <a:lnR w="6350" cap="flat" cmpd="sng" algn="ctr">
                      <a:solidFill>
                        <a:srgbClr val="E6E0DB"/>
                      </a:solidFill>
                      <a:prstDash val="solid"/>
                      <a:round/>
                      <a:headEnd type="none" w="med" len="med"/>
                      <a:tailEnd type="none" w="med" len="med"/>
                    </a:lnR>
                    <a:lnT w="6350" cap="flat" cmpd="sng" algn="ctr">
                      <a:solidFill>
                        <a:srgbClr val="E6E0DB"/>
                      </a:solidFill>
                      <a:prstDash val="solid"/>
                      <a:round/>
                      <a:headEnd type="none" w="med" len="med"/>
                      <a:tailEnd type="none" w="med" len="med"/>
                    </a:lnT>
                    <a:lnB w="6350" cap="flat" cmpd="sng" algn="ctr">
                      <a:solidFill>
                        <a:srgbClr val="E6E0DB"/>
                      </a:solidFill>
                      <a:prstDash val="solid"/>
                      <a:round/>
                      <a:headEnd type="none" w="med" len="med"/>
                      <a:tailEnd type="none" w="med" len="med"/>
                    </a:lnB>
                  </a:tcPr>
                </a:tc>
                <a:tc>
                  <a:txBody>
                    <a:bodyPr/>
                    <a:lstStyle/>
                    <a:p>
                      <a:pPr indent="0" marL="0">
                        <a:buNone/>
                      </a:pPr>
                      <a:r>
                        <a:rPr lang="en-US" sz="900" dirty="0">
                          <a:solidFill>
                            <a:srgbClr val="1E1E1E"/>
                          </a:solidFill>
                          <a:latin typeface="Calibri" pitchFamily="34" charset="0"/>
                          <a:ea typeface="Calibri" pitchFamily="34" charset="-122"/>
                          <a:cs typeface="Calibri" pitchFamily="34" charset="-120"/>
                        </a:rPr>
                        <a:t>Upload anonyme (US07)</a:t>
                      </a:r>
                      <a:endParaRPr lang="en-US" sz="900" dirty="0">
                        <a:latin typeface="Calibri" charset="0"/>
                        <a:ea typeface="Calibri" charset="0"/>
                        <a:cs typeface="Calibri" charset="0"/>
                      </a:endParaRPr>
                    </a:p>
                  </a:txBody>
                  <a:tcPr marL="45720" marR="45720" marT="45720" marB="45720" anchor="ctr">
                    <a:lnL w="6350" cap="flat" cmpd="sng" algn="ctr">
                      <a:solidFill>
                        <a:srgbClr val="E6E0DB"/>
                      </a:solidFill>
                      <a:prstDash val="solid"/>
                      <a:round/>
                      <a:headEnd type="none" w="med" len="med"/>
                      <a:tailEnd type="none" w="med" len="med"/>
                    </a:lnL>
                    <a:lnR w="6350" cap="flat" cmpd="sng" algn="ctr">
                      <a:solidFill>
                        <a:srgbClr val="E6E0DB"/>
                      </a:solidFill>
                      <a:prstDash val="solid"/>
                      <a:round/>
                      <a:headEnd type="none" w="med" len="med"/>
                      <a:tailEnd type="none" w="med" len="med"/>
                    </a:lnR>
                    <a:lnT w="6350" cap="flat" cmpd="sng" algn="ctr">
                      <a:solidFill>
                        <a:srgbClr val="E6E0DB"/>
                      </a:solidFill>
                      <a:prstDash val="solid"/>
                      <a:round/>
                      <a:headEnd type="none" w="med" len="med"/>
                      <a:tailEnd type="none" w="med" len="med"/>
                    </a:lnT>
                    <a:lnB w="6350" cap="flat" cmpd="sng" algn="ctr">
                      <a:solidFill>
                        <a:srgbClr val="E6E0DB"/>
                      </a:solidFill>
                      <a:prstDash val="solid"/>
                      <a:round/>
                      <a:headEnd type="none" w="med" len="med"/>
                      <a:tailEnd type="none" w="med" len="med"/>
                    </a:lnB>
                  </a:tcPr>
                </a:tc>
                <a:tc>
                  <a:txBody>
                    <a:bodyPr/>
                    <a:lstStyle/>
                    <a:p>
                      <a:pPr indent="0" marL="0">
                        <a:buNone/>
                      </a:pPr>
                      <a:r>
                        <a:rPr lang="en-US" sz="900" b="1" dirty="0">
                          <a:solidFill>
                            <a:srgbClr val="3A5A8C"/>
                          </a:solidFill>
                          <a:latin typeface="Calibri" pitchFamily="34" charset="0"/>
                          <a:ea typeface="Calibri" pitchFamily="34" charset="-122"/>
                          <a:cs typeface="Calibri" pitchFamily="34" charset="-120"/>
                        </a:rPr>
                        <a:t>Public</a:t>
                      </a:r>
                      <a:endParaRPr lang="en-US" sz="900" dirty="0">
                        <a:latin typeface="Calibri" charset="0"/>
                        <a:ea typeface="Calibri" charset="0"/>
                        <a:cs typeface="Calibri" charset="0"/>
                      </a:endParaRPr>
                    </a:p>
                  </a:txBody>
                  <a:tcPr marL="45720" marR="45720" marT="45720" marB="45720" anchor="ctr">
                    <a:lnL w="6350" cap="flat" cmpd="sng" algn="ctr">
                      <a:solidFill>
                        <a:srgbClr val="E6E0DB"/>
                      </a:solidFill>
                      <a:prstDash val="solid"/>
                      <a:round/>
                      <a:headEnd type="none" w="med" len="med"/>
                      <a:tailEnd type="none" w="med" len="med"/>
                    </a:lnL>
                    <a:lnR w="6350" cap="flat" cmpd="sng" algn="ctr">
                      <a:solidFill>
                        <a:srgbClr val="E6E0DB"/>
                      </a:solidFill>
                      <a:prstDash val="solid"/>
                      <a:round/>
                      <a:headEnd type="none" w="med" len="med"/>
                      <a:tailEnd type="none" w="med" len="med"/>
                    </a:lnR>
                    <a:lnT w="6350" cap="flat" cmpd="sng" algn="ctr">
                      <a:solidFill>
                        <a:srgbClr val="E6E0DB"/>
                      </a:solidFill>
                      <a:prstDash val="solid"/>
                      <a:round/>
                      <a:headEnd type="none" w="med" len="med"/>
                      <a:tailEnd type="none" w="med" len="med"/>
                    </a:lnT>
                    <a:lnB w="6350" cap="flat" cmpd="sng" algn="ctr">
                      <a:solidFill>
                        <a:srgbClr val="E6E0DB"/>
                      </a:solidFill>
                      <a:prstDash val="solid"/>
                      <a:round/>
                      <a:headEnd type="none" w="med" len="med"/>
                      <a:tailEnd type="none" w="med" len="med"/>
                    </a:lnB>
                  </a:tcPr>
                </a:tc>
                <a:tc>
                  <a:txBody>
                    <a:bodyPr/>
                    <a:lstStyle/>
                    <a:p>
                      <a:pPr indent="0" marL="0">
                        <a:buNone/>
                      </a:pPr>
                      <a:r>
                        <a:rPr lang="en-US" sz="900" dirty="0">
                          <a:solidFill>
                            <a:srgbClr val="1E1E1E"/>
                          </a:solidFill>
                          <a:latin typeface="Calibri" pitchFamily="34" charset="0"/>
                          <a:ea typeface="Calibri" pitchFamily="34" charset="-122"/>
                          <a:cs typeface="Calibri" pitchFamily="34" charset="-120"/>
                        </a:rPr>
                        <a:t>201 · 400 · 403 si connecté</a:t>
                      </a:r>
                      <a:endParaRPr lang="en-US" sz="900" dirty="0">
                        <a:latin typeface="Calibri" charset="0"/>
                        <a:ea typeface="Calibri" charset="0"/>
                        <a:cs typeface="Calibri" charset="0"/>
                      </a:endParaRPr>
                    </a:p>
                  </a:txBody>
                  <a:tcPr marL="45720" marR="45720" marT="45720" marB="45720" anchor="ctr">
                    <a:lnL w="6350" cap="flat" cmpd="sng" algn="ctr">
                      <a:solidFill>
                        <a:srgbClr val="E6E0DB"/>
                      </a:solidFill>
                      <a:prstDash val="solid"/>
                      <a:round/>
                      <a:headEnd type="none" w="med" len="med"/>
                      <a:tailEnd type="none" w="med" len="med"/>
                    </a:lnL>
                    <a:lnR w="6350" cap="flat" cmpd="sng" algn="ctr">
                      <a:solidFill>
                        <a:srgbClr val="E6E0DB"/>
                      </a:solidFill>
                      <a:prstDash val="solid"/>
                      <a:round/>
                      <a:headEnd type="none" w="med" len="med"/>
                      <a:tailEnd type="none" w="med" len="med"/>
                    </a:lnR>
                    <a:lnT w="6350" cap="flat" cmpd="sng" algn="ctr">
                      <a:solidFill>
                        <a:srgbClr val="E6E0DB"/>
                      </a:solidFill>
                      <a:prstDash val="solid"/>
                      <a:round/>
                      <a:headEnd type="none" w="med" len="med"/>
                      <a:tailEnd type="none" w="med" len="med"/>
                    </a:lnT>
                    <a:lnB w="6350" cap="flat" cmpd="sng" algn="ctr">
                      <a:solidFill>
                        <a:srgbClr val="E6E0DB"/>
                      </a:solidFill>
                      <a:prstDash val="solid"/>
                      <a:round/>
                      <a:headEnd type="none" w="med" len="med"/>
                      <a:tailEnd type="none" w="med" len="med"/>
                    </a:lnB>
                  </a:tcPr>
                </a:tc>
              </a:tr>
              <a:tr h="246888">
                <a:tc>
                  <a:txBody>
                    <a:bodyPr/>
                    <a:lstStyle/>
                    <a:p>
                      <a:pPr indent="0" marL="0">
                        <a:buNone/>
                      </a:pPr>
                      <a:r>
                        <a:rPr lang="en-US" sz="900" dirty="0">
                          <a:solidFill>
                            <a:srgbClr val="1E1E1E"/>
                          </a:solidFill>
                          <a:latin typeface="Courier New" pitchFamily="34" charset="0"/>
                          <a:ea typeface="Courier New" pitchFamily="34" charset="-122"/>
                          <a:cs typeface="Courier New" pitchFamily="34" charset="-120"/>
                        </a:rPr>
                        <a:t>GET</a:t>
                      </a:r>
                      <a:endParaRPr lang="en-US" sz="900" dirty="0">
                        <a:latin typeface="Courier New" charset="0"/>
                        <a:ea typeface="Courier New" charset="0"/>
                        <a:cs typeface="Courier New" charset="0"/>
                      </a:endParaRPr>
                    </a:p>
                  </a:txBody>
                  <a:tcPr marL="45720" marR="45720" marT="45720" marB="45720" anchor="ctr">
                    <a:lnL w="6350" cap="flat" cmpd="sng" algn="ctr">
                      <a:solidFill>
                        <a:srgbClr val="E6E0DB"/>
                      </a:solidFill>
                      <a:prstDash val="solid"/>
                      <a:round/>
                      <a:headEnd type="none" w="med" len="med"/>
                      <a:tailEnd type="none" w="med" len="med"/>
                    </a:lnL>
                    <a:lnR w="6350" cap="flat" cmpd="sng" algn="ctr">
                      <a:solidFill>
                        <a:srgbClr val="E6E0DB"/>
                      </a:solidFill>
                      <a:prstDash val="solid"/>
                      <a:round/>
                      <a:headEnd type="none" w="med" len="med"/>
                      <a:tailEnd type="none" w="med" len="med"/>
                    </a:lnR>
                    <a:lnT w="6350" cap="flat" cmpd="sng" algn="ctr">
                      <a:solidFill>
                        <a:srgbClr val="E6E0DB"/>
                      </a:solidFill>
                      <a:prstDash val="solid"/>
                      <a:round/>
                      <a:headEnd type="none" w="med" len="med"/>
                      <a:tailEnd type="none" w="med" len="med"/>
                    </a:lnT>
                    <a:lnB w="6350" cap="flat" cmpd="sng" algn="ctr">
                      <a:solidFill>
                        <a:srgbClr val="E6E0DB"/>
                      </a:solidFill>
                      <a:prstDash val="solid"/>
                      <a:round/>
                      <a:headEnd type="none" w="med" len="med"/>
                      <a:tailEnd type="none" w="med" len="med"/>
                    </a:lnB>
                  </a:tcPr>
                </a:tc>
                <a:tc>
                  <a:txBody>
                    <a:bodyPr/>
                    <a:lstStyle/>
                    <a:p>
                      <a:pPr indent="0" marL="0">
                        <a:buNone/>
                      </a:pPr>
                      <a:r>
                        <a:rPr lang="en-US" sz="900" dirty="0">
                          <a:solidFill>
                            <a:srgbClr val="1E1E1E"/>
                          </a:solidFill>
                          <a:latin typeface="Courier New" pitchFamily="34" charset="0"/>
                          <a:ea typeface="Courier New" pitchFamily="34" charset="-122"/>
                          <a:cs typeface="Courier New" pitchFamily="34" charset="-120"/>
                        </a:rPr>
                        <a:t>/api/public/files/{token}</a:t>
                      </a:r>
                      <a:endParaRPr lang="en-US" sz="900" dirty="0">
                        <a:latin typeface="Courier New" charset="0"/>
                        <a:ea typeface="Courier New" charset="0"/>
                        <a:cs typeface="Courier New" charset="0"/>
                      </a:endParaRPr>
                    </a:p>
                  </a:txBody>
                  <a:tcPr marL="45720" marR="45720" marT="45720" marB="45720" anchor="ctr">
                    <a:lnL w="6350" cap="flat" cmpd="sng" algn="ctr">
                      <a:solidFill>
                        <a:srgbClr val="E6E0DB"/>
                      </a:solidFill>
                      <a:prstDash val="solid"/>
                      <a:round/>
                      <a:headEnd type="none" w="med" len="med"/>
                      <a:tailEnd type="none" w="med" len="med"/>
                    </a:lnL>
                    <a:lnR w="6350" cap="flat" cmpd="sng" algn="ctr">
                      <a:solidFill>
                        <a:srgbClr val="E6E0DB"/>
                      </a:solidFill>
                      <a:prstDash val="solid"/>
                      <a:round/>
                      <a:headEnd type="none" w="med" len="med"/>
                      <a:tailEnd type="none" w="med" len="med"/>
                    </a:lnR>
                    <a:lnT w="6350" cap="flat" cmpd="sng" algn="ctr">
                      <a:solidFill>
                        <a:srgbClr val="E6E0DB"/>
                      </a:solidFill>
                      <a:prstDash val="solid"/>
                      <a:round/>
                      <a:headEnd type="none" w="med" len="med"/>
                      <a:tailEnd type="none" w="med" len="med"/>
                    </a:lnT>
                    <a:lnB w="6350" cap="flat" cmpd="sng" algn="ctr">
                      <a:solidFill>
                        <a:srgbClr val="E6E0DB"/>
                      </a:solidFill>
                      <a:prstDash val="solid"/>
                      <a:round/>
                      <a:headEnd type="none" w="med" len="med"/>
                      <a:tailEnd type="none" w="med" len="med"/>
                    </a:lnB>
                  </a:tcPr>
                </a:tc>
                <a:tc>
                  <a:txBody>
                    <a:bodyPr/>
                    <a:lstStyle/>
                    <a:p>
                      <a:pPr indent="0" marL="0">
                        <a:buNone/>
                      </a:pPr>
                      <a:r>
                        <a:rPr lang="en-US" sz="900" dirty="0">
                          <a:solidFill>
                            <a:srgbClr val="1E1E1E"/>
                          </a:solidFill>
                          <a:latin typeface="Calibri" pitchFamily="34" charset="0"/>
                          <a:ea typeface="Calibri" pitchFamily="34" charset="-122"/>
                          <a:cs typeface="Calibri" pitchFamily="34" charset="-120"/>
                        </a:rPr>
                        <a:t>Métadonnées via le lien (US02)</a:t>
                      </a:r>
                      <a:endParaRPr lang="en-US" sz="900" dirty="0">
                        <a:latin typeface="Calibri" charset="0"/>
                        <a:ea typeface="Calibri" charset="0"/>
                        <a:cs typeface="Calibri" charset="0"/>
                      </a:endParaRPr>
                    </a:p>
                  </a:txBody>
                  <a:tcPr marL="45720" marR="45720" marT="45720" marB="45720" anchor="ctr">
                    <a:lnL w="6350" cap="flat" cmpd="sng" algn="ctr">
                      <a:solidFill>
                        <a:srgbClr val="E6E0DB"/>
                      </a:solidFill>
                      <a:prstDash val="solid"/>
                      <a:round/>
                      <a:headEnd type="none" w="med" len="med"/>
                      <a:tailEnd type="none" w="med" len="med"/>
                    </a:lnL>
                    <a:lnR w="6350" cap="flat" cmpd="sng" algn="ctr">
                      <a:solidFill>
                        <a:srgbClr val="E6E0DB"/>
                      </a:solidFill>
                      <a:prstDash val="solid"/>
                      <a:round/>
                      <a:headEnd type="none" w="med" len="med"/>
                      <a:tailEnd type="none" w="med" len="med"/>
                    </a:lnR>
                    <a:lnT w="6350" cap="flat" cmpd="sng" algn="ctr">
                      <a:solidFill>
                        <a:srgbClr val="E6E0DB"/>
                      </a:solidFill>
                      <a:prstDash val="solid"/>
                      <a:round/>
                      <a:headEnd type="none" w="med" len="med"/>
                      <a:tailEnd type="none" w="med" len="med"/>
                    </a:lnT>
                    <a:lnB w="6350" cap="flat" cmpd="sng" algn="ctr">
                      <a:solidFill>
                        <a:srgbClr val="E6E0DB"/>
                      </a:solidFill>
                      <a:prstDash val="solid"/>
                      <a:round/>
                      <a:headEnd type="none" w="med" len="med"/>
                      <a:tailEnd type="none" w="med" len="med"/>
                    </a:lnB>
                  </a:tcPr>
                </a:tc>
                <a:tc>
                  <a:txBody>
                    <a:bodyPr/>
                    <a:lstStyle/>
                    <a:p>
                      <a:pPr indent="0" marL="0">
                        <a:buNone/>
                      </a:pPr>
                      <a:r>
                        <a:rPr lang="en-US" sz="900" b="1" dirty="0">
                          <a:solidFill>
                            <a:srgbClr val="3A5A8C"/>
                          </a:solidFill>
                          <a:latin typeface="Calibri" pitchFamily="34" charset="0"/>
                          <a:ea typeface="Calibri" pitchFamily="34" charset="-122"/>
                          <a:cs typeface="Calibri" pitchFamily="34" charset="-120"/>
                        </a:rPr>
                        <a:t>Public</a:t>
                      </a:r>
                      <a:endParaRPr lang="en-US" sz="900" dirty="0">
                        <a:latin typeface="Calibri" charset="0"/>
                        <a:ea typeface="Calibri" charset="0"/>
                        <a:cs typeface="Calibri" charset="0"/>
                      </a:endParaRPr>
                    </a:p>
                  </a:txBody>
                  <a:tcPr marL="45720" marR="45720" marT="45720" marB="45720" anchor="ctr">
                    <a:lnL w="6350" cap="flat" cmpd="sng" algn="ctr">
                      <a:solidFill>
                        <a:srgbClr val="E6E0DB"/>
                      </a:solidFill>
                      <a:prstDash val="solid"/>
                      <a:round/>
                      <a:headEnd type="none" w="med" len="med"/>
                      <a:tailEnd type="none" w="med" len="med"/>
                    </a:lnL>
                    <a:lnR w="6350" cap="flat" cmpd="sng" algn="ctr">
                      <a:solidFill>
                        <a:srgbClr val="E6E0DB"/>
                      </a:solidFill>
                      <a:prstDash val="solid"/>
                      <a:round/>
                      <a:headEnd type="none" w="med" len="med"/>
                      <a:tailEnd type="none" w="med" len="med"/>
                    </a:lnR>
                    <a:lnT w="6350" cap="flat" cmpd="sng" algn="ctr">
                      <a:solidFill>
                        <a:srgbClr val="E6E0DB"/>
                      </a:solidFill>
                      <a:prstDash val="solid"/>
                      <a:round/>
                      <a:headEnd type="none" w="med" len="med"/>
                      <a:tailEnd type="none" w="med" len="med"/>
                    </a:lnT>
                    <a:lnB w="6350" cap="flat" cmpd="sng" algn="ctr">
                      <a:solidFill>
                        <a:srgbClr val="E6E0DB"/>
                      </a:solidFill>
                      <a:prstDash val="solid"/>
                      <a:round/>
                      <a:headEnd type="none" w="med" len="med"/>
                      <a:tailEnd type="none" w="med" len="med"/>
                    </a:lnB>
                  </a:tcPr>
                </a:tc>
                <a:tc>
                  <a:txBody>
                    <a:bodyPr/>
                    <a:lstStyle/>
                    <a:p>
                      <a:pPr indent="0" marL="0">
                        <a:buNone/>
                      </a:pPr>
                      <a:r>
                        <a:rPr lang="en-US" sz="900" dirty="0">
                          <a:solidFill>
                            <a:srgbClr val="1E1E1E"/>
                          </a:solidFill>
                          <a:latin typeface="Calibri" pitchFamily="34" charset="0"/>
                          <a:ea typeface="Calibri" pitchFamily="34" charset="-122"/>
                          <a:cs typeface="Calibri" pitchFamily="34" charset="-120"/>
                        </a:rPr>
                        <a:t>200 · 404 · 410 expiré</a:t>
                      </a:r>
                      <a:endParaRPr lang="en-US" sz="900" dirty="0">
                        <a:latin typeface="Calibri" charset="0"/>
                        <a:ea typeface="Calibri" charset="0"/>
                        <a:cs typeface="Calibri" charset="0"/>
                      </a:endParaRPr>
                    </a:p>
                  </a:txBody>
                  <a:tcPr marL="45720" marR="45720" marT="45720" marB="45720" anchor="ctr">
                    <a:lnL w="6350" cap="flat" cmpd="sng" algn="ctr">
                      <a:solidFill>
                        <a:srgbClr val="E6E0DB"/>
                      </a:solidFill>
                      <a:prstDash val="solid"/>
                      <a:round/>
                      <a:headEnd type="none" w="med" len="med"/>
                      <a:tailEnd type="none" w="med" len="med"/>
                    </a:lnL>
                    <a:lnR w="6350" cap="flat" cmpd="sng" algn="ctr">
                      <a:solidFill>
                        <a:srgbClr val="E6E0DB"/>
                      </a:solidFill>
                      <a:prstDash val="solid"/>
                      <a:round/>
                      <a:headEnd type="none" w="med" len="med"/>
                      <a:tailEnd type="none" w="med" len="med"/>
                    </a:lnR>
                    <a:lnT w="6350" cap="flat" cmpd="sng" algn="ctr">
                      <a:solidFill>
                        <a:srgbClr val="E6E0DB"/>
                      </a:solidFill>
                      <a:prstDash val="solid"/>
                      <a:round/>
                      <a:headEnd type="none" w="med" len="med"/>
                      <a:tailEnd type="none" w="med" len="med"/>
                    </a:lnT>
                    <a:lnB w="6350" cap="flat" cmpd="sng" algn="ctr">
                      <a:solidFill>
                        <a:srgbClr val="E6E0DB"/>
                      </a:solidFill>
                      <a:prstDash val="solid"/>
                      <a:round/>
                      <a:headEnd type="none" w="med" len="med"/>
                      <a:tailEnd type="none" w="med" len="med"/>
                    </a:lnB>
                  </a:tcPr>
                </a:tc>
              </a:tr>
              <a:tr h="246888">
                <a:tc>
                  <a:txBody>
                    <a:bodyPr/>
                    <a:lstStyle/>
                    <a:p>
                      <a:pPr indent="0" marL="0">
                        <a:buNone/>
                      </a:pPr>
                      <a:r>
                        <a:rPr lang="en-US" sz="900" dirty="0">
                          <a:solidFill>
                            <a:srgbClr val="1E1E1E"/>
                          </a:solidFill>
                          <a:latin typeface="Courier New" pitchFamily="34" charset="0"/>
                          <a:ea typeface="Courier New" pitchFamily="34" charset="-122"/>
                          <a:cs typeface="Courier New" pitchFamily="34" charset="-120"/>
                        </a:rPr>
                        <a:t>POST</a:t>
                      </a:r>
                      <a:endParaRPr lang="en-US" sz="900" dirty="0">
                        <a:latin typeface="Courier New" charset="0"/>
                        <a:ea typeface="Courier New" charset="0"/>
                        <a:cs typeface="Courier New" charset="0"/>
                      </a:endParaRPr>
                    </a:p>
                  </a:txBody>
                  <a:tcPr marL="45720" marR="45720" marT="45720" marB="45720" anchor="ctr">
                    <a:lnL w="6350" cap="flat" cmpd="sng" algn="ctr">
                      <a:solidFill>
                        <a:srgbClr val="E6E0DB"/>
                      </a:solidFill>
                      <a:prstDash val="solid"/>
                      <a:round/>
                      <a:headEnd type="none" w="med" len="med"/>
                      <a:tailEnd type="none" w="med" len="med"/>
                    </a:lnL>
                    <a:lnR w="6350" cap="flat" cmpd="sng" algn="ctr">
                      <a:solidFill>
                        <a:srgbClr val="E6E0DB"/>
                      </a:solidFill>
                      <a:prstDash val="solid"/>
                      <a:round/>
                      <a:headEnd type="none" w="med" len="med"/>
                      <a:tailEnd type="none" w="med" len="med"/>
                    </a:lnR>
                    <a:lnT w="6350" cap="flat" cmpd="sng" algn="ctr">
                      <a:solidFill>
                        <a:srgbClr val="E6E0DB"/>
                      </a:solidFill>
                      <a:prstDash val="solid"/>
                      <a:round/>
                      <a:headEnd type="none" w="med" len="med"/>
                      <a:tailEnd type="none" w="med" len="med"/>
                    </a:lnT>
                    <a:lnB w="6350" cap="flat" cmpd="sng" algn="ctr">
                      <a:solidFill>
                        <a:srgbClr val="E6E0DB"/>
                      </a:solidFill>
                      <a:prstDash val="solid"/>
                      <a:round/>
                      <a:headEnd type="none" w="med" len="med"/>
                      <a:tailEnd type="none" w="med" len="med"/>
                    </a:lnB>
                  </a:tcPr>
                </a:tc>
                <a:tc>
                  <a:txBody>
                    <a:bodyPr/>
                    <a:lstStyle/>
                    <a:p>
                      <a:pPr indent="0" marL="0">
                        <a:buNone/>
                      </a:pPr>
                      <a:r>
                        <a:rPr lang="en-US" sz="900" dirty="0">
                          <a:solidFill>
                            <a:srgbClr val="1E1E1E"/>
                          </a:solidFill>
                          <a:latin typeface="Courier New" pitchFamily="34" charset="0"/>
                          <a:ea typeface="Courier New" pitchFamily="34" charset="-122"/>
                          <a:cs typeface="Courier New" pitchFamily="34" charset="-120"/>
                        </a:rPr>
                        <a:t>/api/public/files/{token}/download</a:t>
                      </a:r>
                      <a:endParaRPr lang="en-US" sz="900" dirty="0">
                        <a:latin typeface="Courier New" charset="0"/>
                        <a:ea typeface="Courier New" charset="0"/>
                        <a:cs typeface="Courier New" charset="0"/>
                      </a:endParaRPr>
                    </a:p>
                  </a:txBody>
                  <a:tcPr marL="45720" marR="45720" marT="45720" marB="45720" anchor="ctr">
                    <a:lnL w="6350" cap="flat" cmpd="sng" algn="ctr">
                      <a:solidFill>
                        <a:srgbClr val="E6E0DB"/>
                      </a:solidFill>
                      <a:prstDash val="solid"/>
                      <a:round/>
                      <a:headEnd type="none" w="med" len="med"/>
                      <a:tailEnd type="none" w="med" len="med"/>
                    </a:lnL>
                    <a:lnR w="6350" cap="flat" cmpd="sng" algn="ctr">
                      <a:solidFill>
                        <a:srgbClr val="E6E0DB"/>
                      </a:solidFill>
                      <a:prstDash val="solid"/>
                      <a:round/>
                      <a:headEnd type="none" w="med" len="med"/>
                      <a:tailEnd type="none" w="med" len="med"/>
                    </a:lnR>
                    <a:lnT w="6350" cap="flat" cmpd="sng" algn="ctr">
                      <a:solidFill>
                        <a:srgbClr val="E6E0DB"/>
                      </a:solidFill>
                      <a:prstDash val="solid"/>
                      <a:round/>
                      <a:headEnd type="none" w="med" len="med"/>
                      <a:tailEnd type="none" w="med" len="med"/>
                    </a:lnT>
                    <a:lnB w="6350" cap="flat" cmpd="sng" algn="ctr">
                      <a:solidFill>
                        <a:srgbClr val="E6E0DB"/>
                      </a:solidFill>
                      <a:prstDash val="solid"/>
                      <a:round/>
                      <a:headEnd type="none" w="med" len="med"/>
                      <a:tailEnd type="none" w="med" len="med"/>
                    </a:lnB>
                  </a:tcPr>
                </a:tc>
                <a:tc>
                  <a:txBody>
                    <a:bodyPr/>
                    <a:lstStyle/>
                    <a:p>
                      <a:pPr indent="0" marL="0">
                        <a:buNone/>
                      </a:pPr>
                      <a:r>
                        <a:rPr lang="en-US" sz="900" dirty="0">
                          <a:solidFill>
                            <a:srgbClr val="1E1E1E"/>
                          </a:solidFill>
                          <a:latin typeface="Calibri" pitchFamily="34" charset="0"/>
                          <a:ea typeface="Calibri" pitchFamily="34" charset="-122"/>
                          <a:cs typeface="Calibri" pitchFamily="34" charset="-120"/>
                        </a:rPr>
                        <a:t>Télécharger, mot de passe dans le corps (US02/09)</a:t>
                      </a:r>
                      <a:endParaRPr lang="en-US" sz="900" dirty="0">
                        <a:latin typeface="Calibri" charset="0"/>
                        <a:ea typeface="Calibri" charset="0"/>
                        <a:cs typeface="Calibri" charset="0"/>
                      </a:endParaRPr>
                    </a:p>
                  </a:txBody>
                  <a:tcPr marL="45720" marR="45720" marT="45720" marB="45720" anchor="ctr">
                    <a:lnL w="6350" cap="flat" cmpd="sng" algn="ctr">
                      <a:solidFill>
                        <a:srgbClr val="E6E0DB"/>
                      </a:solidFill>
                      <a:prstDash val="solid"/>
                      <a:round/>
                      <a:headEnd type="none" w="med" len="med"/>
                      <a:tailEnd type="none" w="med" len="med"/>
                    </a:lnL>
                    <a:lnR w="6350" cap="flat" cmpd="sng" algn="ctr">
                      <a:solidFill>
                        <a:srgbClr val="E6E0DB"/>
                      </a:solidFill>
                      <a:prstDash val="solid"/>
                      <a:round/>
                      <a:headEnd type="none" w="med" len="med"/>
                      <a:tailEnd type="none" w="med" len="med"/>
                    </a:lnR>
                    <a:lnT w="6350" cap="flat" cmpd="sng" algn="ctr">
                      <a:solidFill>
                        <a:srgbClr val="E6E0DB"/>
                      </a:solidFill>
                      <a:prstDash val="solid"/>
                      <a:round/>
                      <a:headEnd type="none" w="med" len="med"/>
                      <a:tailEnd type="none" w="med" len="med"/>
                    </a:lnT>
                    <a:lnB w="6350" cap="flat" cmpd="sng" algn="ctr">
                      <a:solidFill>
                        <a:srgbClr val="E6E0DB"/>
                      </a:solidFill>
                      <a:prstDash val="solid"/>
                      <a:round/>
                      <a:headEnd type="none" w="med" len="med"/>
                      <a:tailEnd type="none" w="med" len="med"/>
                    </a:lnB>
                  </a:tcPr>
                </a:tc>
                <a:tc>
                  <a:txBody>
                    <a:bodyPr/>
                    <a:lstStyle/>
                    <a:p>
                      <a:pPr indent="0" marL="0">
                        <a:buNone/>
                      </a:pPr>
                      <a:r>
                        <a:rPr lang="en-US" sz="900" b="1" dirty="0">
                          <a:solidFill>
                            <a:srgbClr val="3A5A8C"/>
                          </a:solidFill>
                          <a:latin typeface="Calibri" pitchFamily="34" charset="0"/>
                          <a:ea typeface="Calibri" pitchFamily="34" charset="-122"/>
                          <a:cs typeface="Calibri" pitchFamily="34" charset="-120"/>
                        </a:rPr>
                        <a:t>Public</a:t>
                      </a:r>
                      <a:endParaRPr lang="en-US" sz="900" dirty="0">
                        <a:latin typeface="Calibri" charset="0"/>
                        <a:ea typeface="Calibri" charset="0"/>
                        <a:cs typeface="Calibri" charset="0"/>
                      </a:endParaRPr>
                    </a:p>
                  </a:txBody>
                  <a:tcPr marL="45720" marR="45720" marT="45720" marB="45720" anchor="ctr">
                    <a:lnL w="6350" cap="flat" cmpd="sng" algn="ctr">
                      <a:solidFill>
                        <a:srgbClr val="E6E0DB"/>
                      </a:solidFill>
                      <a:prstDash val="solid"/>
                      <a:round/>
                      <a:headEnd type="none" w="med" len="med"/>
                      <a:tailEnd type="none" w="med" len="med"/>
                    </a:lnL>
                    <a:lnR w="6350" cap="flat" cmpd="sng" algn="ctr">
                      <a:solidFill>
                        <a:srgbClr val="E6E0DB"/>
                      </a:solidFill>
                      <a:prstDash val="solid"/>
                      <a:round/>
                      <a:headEnd type="none" w="med" len="med"/>
                      <a:tailEnd type="none" w="med" len="med"/>
                    </a:lnR>
                    <a:lnT w="6350" cap="flat" cmpd="sng" algn="ctr">
                      <a:solidFill>
                        <a:srgbClr val="E6E0DB"/>
                      </a:solidFill>
                      <a:prstDash val="solid"/>
                      <a:round/>
                      <a:headEnd type="none" w="med" len="med"/>
                      <a:tailEnd type="none" w="med" len="med"/>
                    </a:lnT>
                    <a:lnB w="6350" cap="flat" cmpd="sng" algn="ctr">
                      <a:solidFill>
                        <a:srgbClr val="E6E0DB"/>
                      </a:solidFill>
                      <a:prstDash val="solid"/>
                      <a:round/>
                      <a:headEnd type="none" w="med" len="med"/>
                      <a:tailEnd type="none" w="med" len="med"/>
                    </a:lnB>
                  </a:tcPr>
                </a:tc>
                <a:tc>
                  <a:txBody>
                    <a:bodyPr/>
                    <a:lstStyle/>
                    <a:p>
                      <a:pPr indent="0" marL="0">
                        <a:buNone/>
                      </a:pPr>
                      <a:r>
                        <a:rPr lang="en-US" sz="900" dirty="0">
                          <a:solidFill>
                            <a:srgbClr val="1E1E1E"/>
                          </a:solidFill>
                          <a:latin typeface="Calibri" pitchFamily="34" charset="0"/>
                          <a:ea typeface="Calibri" pitchFamily="34" charset="-122"/>
                          <a:cs typeface="Calibri" pitchFamily="34" charset="-120"/>
                        </a:rPr>
                        <a:t>200 flux · 401 mdp · 404 · 410</a:t>
                      </a:r>
                      <a:endParaRPr lang="en-US" sz="900" dirty="0">
                        <a:latin typeface="Calibri" charset="0"/>
                        <a:ea typeface="Calibri" charset="0"/>
                        <a:cs typeface="Calibri" charset="0"/>
                      </a:endParaRPr>
                    </a:p>
                  </a:txBody>
                  <a:tcPr marL="45720" marR="45720" marT="45720" marB="45720" anchor="ctr">
                    <a:lnL w="6350" cap="flat" cmpd="sng" algn="ctr">
                      <a:solidFill>
                        <a:srgbClr val="E6E0DB"/>
                      </a:solidFill>
                      <a:prstDash val="solid"/>
                      <a:round/>
                      <a:headEnd type="none" w="med" len="med"/>
                      <a:tailEnd type="none" w="med" len="med"/>
                    </a:lnL>
                    <a:lnR w="6350" cap="flat" cmpd="sng" algn="ctr">
                      <a:solidFill>
                        <a:srgbClr val="E6E0DB"/>
                      </a:solidFill>
                      <a:prstDash val="solid"/>
                      <a:round/>
                      <a:headEnd type="none" w="med" len="med"/>
                      <a:tailEnd type="none" w="med" len="med"/>
                    </a:lnR>
                    <a:lnT w="6350" cap="flat" cmpd="sng" algn="ctr">
                      <a:solidFill>
                        <a:srgbClr val="E6E0DB"/>
                      </a:solidFill>
                      <a:prstDash val="solid"/>
                      <a:round/>
                      <a:headEnd type="none" w="med" len="med"/>
                      <a:tailEnd type="none" w="med" len="med"/>
                    </a:lnT>
                    <a:lnB w="6350" cap="flat" cmpd="sng" algn="ctr">
                      <a:solidFill>
                        <a:srgbClr val="E6E0DB"/>
                      </a:solidFill>
                      <a:prstDash val="solid"/>
                      <a:round/>
                      <a:headEnd type="none" w="med" len="med"/>
                      <a:tailEnd type="none" w="med" len="med"/>
                    </a:lnB>
                  </a:tcPr>
                </a:tc>
              </a:tr>
              <a:tr h="246888">
                <a:tc>
                  <a:txBody>
                    <a:bodyPr/>
                    <a:lstStyle/>
                    <a:p>
                      <a:pPr indent="0" marL="0">
                        <a:buNone/>
                      </a:pPr>
                      <a:r>
                        <a:rPr lang="en-US" sz="900" dirty="0">
                          <a:solidFill>
                            <a:srgbClr val="1E1E1E"/>
                          </a:solidFill>
                          <a:latin typeface="Courier New" pitchFamily="34" charset="0"/>
                          <a:ea typeface="Courier New" pitchFamily="34" charset="-122"/>
                          <a:cs typeface="Courier New" pitchFamily="34" charset="-120"/>
                        </a:rPr>
                        <a:t>GET</a:t>
                      </a:r>
                      <a:endParaRPr lang="en-US" sz="900" dirty="0">
                        <a:latin typeface="Courier New" charset="0"/>
                        <a:ea typeface="Courier New" charset="0"/>
                        <a:cs typeface="Courier New" charset="0"/>
                      </a:endParaRPr>
                    </a:p>
                  </a:txBody>
                  <a:tcPr marL="45720" marR="45720" marT="45720" marB="45720" anchor="ctr">
                    <a:lnL w="6350" cap="flat" cmpd="sng" algn="ctr">
                      <a:solidFill>
                        <a:srgbClr val="E6E0DB"/>
                      </a:solidFill>
                      <a:prstDash val="solid"/>
                      <a:round/>
                      <a:headEnd type="none" w="med" len="med"/>
                      <a:tailEnd type="none" w="med" len="med"/>
                    </a:lnL>
                    <a:lnR w="6350" cap="flat" cmpd="sng" algn="ctr">
                      <a:solidFill>
                        <a:srgbClr val="E6E0DB"/>
                      </a:solidFill>
                      <a:prstDash val="solid"/>
                      <a:round/>
                      <a:headEnd type="none" w="med" len="med"/>
                      <a:tailEnd type="none" w="med" len="med"/>
                    </a:lnR>
                    <a:lnT w="6350" cap="flat" cmpd="sng" algn="ctr">
                      <a:solidFill>
                        <a:srgbClr val="E6E0DB"/>
                      </a:solidFill>
                      <a:prstDash val="solid"/>
                      <a:round/>
                      <a:headEnd type="none" w="med" len="med"/>
                      <a:tailEnd type="none" w="med" len="med"/>
                    </a:lnT>
                    <a:lnB w="6350" cap="flat" cmpd="sng" algn="ctr">
                      <a:solidFill>
                        <a:srgbClr val="E6E0DB"/>
                      </a:solidFill>
                      <a:prstDash val="solid"/>
                      <a:round/>
                      <a:headEnd type="none" w="med" len="med"/>
                      <a:tailEnd type="none" w="med" len="med"/>
                    </a:lnB>
                  </a:tcPr>
                </a:tc>
                <a:tc>
                  <a:txBody>
                    <a:bodyPr/>
                    <a:lstStyle/>
                    <a:p>
                      <a:pPr indent="0" marL="0">
                        <a:buNone/>
                      </a:pPr>
                      <a:r>
                        <a:rPr lang="en-US" sz="900" dirty="0">
                          <a:solidFill>
                            <a:srgbClr val="1E1E1E"/>
                          </a:solidFill>
                          <a:latin typeface="Courier New" pitchFamily="34" charset="0"/>
                          <a:ea typeface="Courier New" pitchFamily="34" charset="-122"/>
                          <a:cs typeface="Courier New" pitchFamily="34" charset="-120"/>
                        </a:rPr>
                        <a:t>/api/health</a:t>
                      </a:r>
                      <a:endParaRPr lang="en-US" sz="900" dirty="0">
                        <a:latin typeface="Courier New" charset="0"/>
                        <a:ea typeface="Courier New" charset="0"/>
                        <a:cs typeface="Courier New" charset="0"/>
                      </a:endParaRPr>
                    </a:p>
                  </a:txBody>
                  <a:tcPr marL="45720" marR="45720" marT="45720" marB="45720" anchor="ctr">
                    <a:lnL w="6350" cap="flat" cmpd="sng" algn="ctr">
                      <a:solidFill>
                        <a:srgbClr val="E6E0DB"/>
                      </a:solidFill>
                      <a:prstDash val="solid"/>
                      <a:round/>
                      <a:headEnd type="none" w="med" len="med"/>
                      <a:tailEnd type="none" w="med" len="med"/>
                    </a:lnL>
                    <a:lnR w="6350" cap="flat" cmpd="sng" algn="ctr">
                      <a:solidFill>
                        <a:srgbClr val="E6E0DB"/>
                      </a:solidFill>
                      <a:prstDash val="solid"/>
                      <a:round/>
                      <a:headEnd type="none" w="med" len="med"/>
                      <a:tailEnd type="none" w="med" len="med"/>
                    </a:lnR>
                    <a:lnT w="6350" cap="flat" cmpd="sng" algn="ctr">
                      <a:solidFill>
                        <a:srgbClr val="E6E0DB"/>
                      </a:solidFill>
                      <a:prstDash val="solid"/>
                      <a:round/>
                      <a:headEnd type="none" w="med" len="med"/>
                      <a:tailEnd type="none" w="med" len="med"/>
                    </a:lnT>
                    <a:lnB w="6350" cap="flat" cmpd="sng" algn="ctr">
                      <a:solidFill>
                        <a:srgbClr val="E6E0DB"/>
                      </a:solidFill>
                      <a:prstDash val="solid"/>
                      <a:round/>
                      <a:headEnd type="none" w="med" len="med"/>
                      <a:tailEnd type="none" w="med" len="med"/>
                    </a:lnB>
                  </a:tcPr>
                </a:tc>
                <a:tc>
                  <a:txBody>
                    <a:bodyPr/>
                    <a:lstStyle/>
                    <a:p>
                      <a:pPr indent="0" marL="0">
                        <a:buNone/>
                      </a:pPr>
                      <a:r>
                        <a:rPr lang="en-US" sz="900" dirty="0">
                          <a:solidFill>
                            <a:srgbClr val="1E1E1E"/>
                          </a:solidFill>
                          <a:latin typeface="Calibri" pitchFamily="34" charset="0"/>
                          <a:ea typeface="Calibri" pitchFamily="34" charset="-122"/>
                          <a:cs typeface="Calibri" pitchFamily="34" charset="-120"/>
                        </a:rPr>
                        <a:t>Santé (healthcheck Docker, scripts)</a:t>
                      </a:r>
                      <a:endParaRPr lang="en-US" sz="900" dirty="0">
                        <a:latin typeface="Calibri" charset="0"/>
                        <a:ea typeface="Calibri" charset="0"/>
                        <a:cs typeface="Calibri" charset="0"/>
                      </a:endParaRPr>
                    </a:p>
                  </a:txBody>
                  <a:tcPr marL="45720" marR="45720" marT="45720" marB="45720" anchor="ctr">
                    <a:lnL w="6350" cap="flat" cmpd="sng" algn="ctr">
                      <a:solidFill>
                        <a:srgbClr val="E6E0DB"/>
                      </a:solidFill>
                      <a:prstDash val="solid"/>
                      <a:round/>
                      <a:headEnd type="none" w="med" len="med"/>
                      <a:tailEnd type="none" w="med" len="med"/>
                    </a:lnL>
                    <a:lnR w="6350" cap="flat" cmpd="sng" algn="ctr">
                      <a:solidFill>
                        <a:srgbClr val="E6E0DB"/>
                      </a:solidFill>
                      <a:prstDash val="solid"/>
                      <a:round/>
                      <a:headEnd type="none" w="med" len="med"/>
                      <a:tailEnd type="none" w="med" len="med"/>
                    </a:lnR>
                    <a:lnT w="6350" cap="flat" cmpd="sng" algn="ctr">
                      <a:solidFill>
                        <a:srgbClr val="E6E0DB"/>
                      </a:solidFill>
                      <a:prstDash val="solid"/>
                      <a:round/>
                      <a:headEnd type="none" w="med" len="med"/>
                      <a:tailEnd type="none" w="med" len="med"/>
                    </a:lnT>
                    <a:lnB w="6350" cap="flat" cmpd="sng" algn="ctr">
                      <a:solidFill>
                        <a:srgbClr val="E6E0DB"/>
                      </a:solidFill>
                      <a:prstDash val="solid"/>
                      <a:round/>
                      <a:headEnd type="none" w="med" len="med"/>
                      <a:tailEnd type="none" w="med" len="med"/>
                    </a:lnB>
                  </a:tcPr>
                </a:tc>
                <a:tc>
                  <a:txBody>
                    <a:bodyPr/>
                    <a:lstStyle/>
                    <a:p>
                      <a:pPr indent="0" marL="0">
                        <a:buNone/>
                      </a:pPr>
                      <a:r>
                        <a:rPr lang="en-US" sz="900" b="1" dirty="0">
                          <a:solidFill>
                            <a:srgbClr val="3A5A8C"/>
                          </a:solidFill>
                          <a:latin typeface="Calibri" pitchFamily="34" charset="0"/>
                          <a:ea typeface="Calibri" pitchFamily="34" charset="-122"/>
                          <a:cs typeface="Calibri" pitchFamily="34" charset="-120"/>
                        </a:rPr>
                        <a:t>Public</a:t>
                      </a:r>
                      <a:endParaRPr lang="en-US" sz="900" dirty="0">
                        <a:latin typeface="Calibri" charset="0"/>
                        <a:ea typeface="Calibri" charset="0"/>
                        <a:cs typeface="Calibri" charset="0"/>
                      </a:endParaRPr>
                    </a:p>
                  </a:txBody>
                  <a:tcPr marL="45720" marR="45720" marT="45720" marB="45720" anchor="ctr">
                    <a:lnL w="6350" cap="flat" cmpd="sng" algn="ctr">
                      <a:solidFill>
                        <a:srgbClr val="E6E0DB"/>
                      </a:solidFill>
                      <a:prstDash val="solid"/>
                      <a:round/>
                      <a:headEnd type="none" w="med" len="med"/>
                      <a:tailEnd type="none" w="med" len="med"/>
                    </a:lnL>
                    <a:lnR w="6350" cap="flat" cmpd="sng" algn="ctr">
                      <a:solidFill>
                        <a:srgbClr val="E6E0DB"/>
                      </a:solidFill>
                      <a:prstDash val="solid"/>
                      <a:round/>
                      <a:headEnd type="none" w="med" len="med"/>
                      <a:tailEnd type="none" w="med" len="med"/>
                    </a:lnR>
                    <a:lnT w="6350" cap="flat" cmpd="sng" algn="ctr">
                      <a:solidFill>
                        <a:srgbClr val="E6E0DB"/>
                      </a:solidFill>
                      <a:prstDash val="solid"/>
                      <a:round/>
                      <a:headEnd type="none" w="med" len="med"/>
                      <a:tailEnd type="none" w="med" len="med"/>
                    </a:lnT>
                    <a:lnB w="6350" cap="flat" cmpd="sng" algn="ctr">
                      <a:solidFill>
                        <a:srgbClr val="E6E0DB"/>
                      </a:solidFill>
                      <a:prstDash val="solid"/>
                      <a:round/>
                      <a:headEnd type="none" w="med" len="med"/>
                      <a:tailEnd type="none" w="med" len="med"/>
                    </a:lnB>
                  </a:tcPr>
                </a:tc>
                <a:tc>
                  <a:txBody>
                    <a:bodyPr/>
                    <a:lstStyle/>
                    <a:p>
                      <a:pPr indent="0" marL="0">
                        <a:buNone/>
                      </a:pPr>
                      <a:r>
                        <a:rPr lang="en-US" sz="900" dirty="0">
                          <a:solidFill>
                            <a:srgbClr val="1E1E1E"/>
                          </a:solidFill>
                          <a:latin typeface="Calibri" pitchFamily="34" charset="0"/>
                          <a:ea typeface="Calibri" pitchFamily="34" charset="-122"/>
                          <a:cs typeface="Calibri" pitchFamily="34" charset="-120"/>
                        </a:rPr>
                        <a:t>200</a:t>
                      </a:r>
                      <a:endParaRPr lang="en-US" sz="900" dirty="0">
                        <a:latin typeface="Calibri" charset="0"/>
                        <a:ea typeface="Calibri" charset="0"/>
                        <a:cs typeface="Calibri" charset="0"/>
                      </a:endParaRPr>
                    </a:p>
                  </a:txBody>
                  <a:tcPr marL="45720" marR="45720" marT="45720" marB="45720" anchor="ctr">
                    <a:lnL w="6350" cap="flat" cmpd="sng" algn="ctr">
                      <a:solidFill>
                        <a:srgbClr val="E6E0DB"/>
                      </a:solidFill>
                      <a:prstDash val="solid"/>
                      <a:round/>
                      <a:headEnd type="none" w="med" len="med"/>
                      <a:tailEnd type="none" w="med" len="med"/>
                    </a:lnL>
                    <a:lnR w="6350" cap="flat" cmpd="sng" algn="ctr">
                      <a:solidFill>
                        <a:srgbClr val="E6E0DB"/>
                      </a:solidFill>
                      <a:prstDash val="solid"/>
                      <a:round/>
                      <a:headEnd type="none" w="med" len="med"/>
                      <a:tailEnd type="none" w="med" len="med"/>
                    </a:lnR>
                    <a:lnT w="6350" cap="flat" cmpd="sng" algn="ctr">
                      <a:solidFill>
                        <a:srgbClr val="E6E0DB"/>
                      </a:solidFill>
                      <a:prstDash val="solid"/>
                      <a:round/>
                      <a:headEnd type="none" w="med" len="med"/>
                      <a:tailEnd type="none" w="med" len="med"/>
                    </a:lnT>
                    <a:lnB w="6350" cap="flat" cmpd="sng" algn="ctr">
                      <a:solidFill>
                        <a:srgbClr val="E6E0DB"/>
                      </a:solidFill>
                      <a:prstDash val="solid"/>
                      <a:round/>
                      <a:headEnd type="none" w="med" len="med"/>
                      <a:tailEnd type="none" w="med" len="med"/>
                    </a:lnB>
                  </a:tcPr>
                </a:tc>
              </a:tr>
            </a:tbl>
          </a:graphicData>
        </a:graphic>
      </p:graphicFrame>
      <p:sp>
        <p:nvSpPr>
          <p:cNvPr id="5" name="Text 2"/>
          <p:cNvSpPr txBox="1"/>
          <p:nvPr/>
        </p:nvSpPr>
        <p:spPr>
          <a:xfrm>
            <a:off x="457200" y="4526280"/>
            <a:ext cx="8229600" cy="256032"/>
          </a:xfrm>
          <a:prstGeom prst="rect">
            <a:avLst/>
          </a:prstGeom>
          <a:noFill/>
          <a:ln/>
        </p:spPr>
        <p:txBody>
          <a:bodyPr wrap="square" lIns="0" tIns="0" rIns="0" bIns="0" rtlCol="0" anchor="ctr"/>
          <a:lstStyle/>
          <a:p>
            <a:pPr indent="0" marL="0">
              <a:buNone/>
            </a:pPr>
            <a:r>
              <a:rPr lang="en-US" sz="950" i="1" dirty="0">
                <a:solidFill>
                  <a:srgbClr val="6B6B6B"/>
                </a:solidFill>
                <a:latin typeface="Calibri" pitchFamily="34" charset="0"/>
                <a:ea typeface="Calibri" pitchFamily="34" charset="-122"/>
                <a:cs typeface="Calibri" pitchFamily="34" charset="-120"/>
              </a:rPr>
              <a:t>Convention : identité toujours extraite du JWT côté serveur · erreurs métier explicites (400 texte, 401/404/410 JSON) · réponses JSON camelCase</a:t>
            </a:r>
            <a:endParaRPr lang="en-US" sz="950" dirty="0"/>
          </a:p>
        </p:txBody>
      </p:sp>
      <p:sp>
        <p:nvSpPr>
          <p:cNvPr id="6" name="Text 3"/>
          <p:cNvSpPr txBox="1"/>
          <p:nvPr/>
        </p:nvSpPr>
        <p:spPr>
          <a:xfrm>
            <a:off x="457200" y="4818888"/>
            <a:ext cx="4572000" cy="228600"/>
          </a:xfrm>
          <a:prstGeom prst="rect">
            <a:avLst/>
          </a:prstGeom>
          <a:noFill/>
          <a:ln/>
        </p:spPr>
        <p:txBody>
          <a:bodyPr wrap="square" lIns="0" tIns="0" rIns="0" bIns="0" rtlCol="0" anchor="ctr"/>
          <a:lstStyle/>
          <a:p>
            <a:pPr indent="0" marL="0">
              <a:buNone/>
            </a:pPr>
            <a:r>
              <a:rPr lang="en-US" sz="900" dirty="0">
                <a:solidFill>
                  <a:srgbClr val="A0A0A0"/>
                </a:solidFill>
                <a:latin typeface="Calibri" pitchFamily="34" charset="0"/>
                <a:ea typeface="Calibri" pitchFamily="34" charset="-122"/>
                <a:cs typeface="Calibri" pitchFamily="34" charset="-120"/>
              </a:rPr>
              <a:t>DataShare — Soutenance Projet 4</a:t>
            </a:r>
            <a:endParaRPr lang="en-US" sz="900" dirty="0"/>
          </a:p>
        </p:txBody>
      </p:sp>
      <p:sp>
        <p:nvSpPr>
          <p:cNvPr id="7" name="Text 4"/>
          <p:cNvSpPr txBox="1"/>
          <p:nvPr/>
        </p:nvSpPr>
        <p:spPr>
          <a:xfrm>
            <a:off x="8229600" y="4818888"/>
            <a:ext cx="457200" cy="228600"/>
          </a:xfrm>
          <a:prstGeom prst="rect">
            <a:avLst/>
          </a:prstGeom>
          <a:noFill/>
          <a:ln/>
        </p:spPr>
        <p:txBody>
          <a:bodyPr wrap="square" lIns="0" tIns="0" rIns="0" bIns="0" rtlCol="0" anchor="ctr"/>
          <a:lstStyle/>
          <a:p>
            <a:pPr algn="r" indent="0" marL="0">
              <a:buNone/>
            </a:pPr>
            <a:r>
              <a:rPr lang="en-US" sz="900" dirty="0">
                <a:solidFill>
                  <a:srgbClr val="A0A0A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3000" b="1" dirty="0">
                <a:solidFill>
                  <a:srgbClr val="2C2C2C"/>
                </a:solidFill>
                <a:latin typeface="Calibri" pitchFamily="34" charset="0"/>
                <a:ea typeface="Calibri" pitchFamily="34" charset="-122"/>
                <a:cs typeface="Calibri" pitchFamily="34" charset="-120"/>
              </a:rPr>
              <a:t>Sécurité et gestion des accès</a:t>
            </a:r>
            <a:endParaRPr lang="en-US" sz="3000" dirty="0"/>
          </a:p>
        </p:txBody>
      </p:sp>
      <p:sp>
        <p:nvSpPr>
          <p:cNvPr id="3" name="Text 1"/>
          <p:cNvSpPr txBox="1"/>
          <p:nvPr/>
        </p:nvSpPr>
        <p:spPr>
          <a:xfrm>
            <a:off x="457200" y="804672"/>
            <a:ext cx="8229600" cy="292608"/>
          </a:xfrm>
          <a:prstGeom prst="rect">
            <a:avLst/>
          </a:prstGeom>
          <a:noFill/>
          <a:ln/>
        </p:spPr>
        <p:txBody>
          <a:bodyPr wrap="square" lIns="0" tIns="0" rIns="0" bIns="0" rtlCol="0" anchor="ctr"/>
          <a:lstStyle/>
          <a:p>
            <a:pPr indent="0" marL="0">
              <a:buNone/>
            </a:pPr>
            <a:r>
              <a:rPr lang="en-US" sz="1300" dirty="0">
                <a:solidFill>
                  <a:srgbClr val="6B6B6B"/>
                </a:solidFill>
                <a:latin typeface="Calibri" pitchFamily="34" charset="0"/>
                <a:ea typeface="Calibri" pitchFamily="34" charset="-122"/>
                <a:cs typeface="Calibri" pitchFamily="34" charset="-120"/>
              </a:rPr>
              <a:t>Défense en profondeur — chaque mécanisme est dans le code, référencé dans SECURITY.md et couvert par des tests</a:t>
            </a:r>
            <a:endParaRPr lang="en-US" sz="1300" dirty="0"/>
          </a:p>
        </p:txBody>
      </p:sp>
      <p:sp>
        <p:nvSpPr>
          <p:cNvPr id="4" name="Shape 2"/>
          <p:cNvSpPr/>
          <p:nvPr/>
        </p:nvSpPr>
        <p:spPr>
          <a:xfrm>
            <a:off x="457200" y="1234440"/>
            <a:ext cx="2651760" cy="1353312"/>
          </a:xfrm>
          <a:prstGeom prst="roundRect">
            <a:avLst>
              <a:gd name="adj" fmla="val 5405"/>
            </a:avLst>
          </a:prstGeom>
          <a:solidFill>
            <a:srgbClr val="FFF4EE"/>
          </a:solidFill>
          <a:ln w="6350">
            <a:solidFill>
              <a:srgbClr val="FFF4EE"/>
            </a:solidFill>
            <a:prstDash val="solid"/>
          </a:ln>
        </p:spPr>
      </p:sp>
      <p:sp>
        <p:nvSpPr>
          <p:cNvPr id="5" name="Shape 3"/>
          <p:cNvSpPr/>
          <p:nvPr/>
        </p:nvSpPr>
        <p:spPr>
          <a:xfrm>
            <a:off x="594360" y="1371600"/>
            <a:ext cx="365760" cy="365760"/>
          </a:xfrm>
          <a:prstGeom prst="ellipse">
            <a:avLst/>
          </a:prstGeom>
          <a:solidFill>
            <a:srgbClr val="DE6262"/>
          </a:solidFill>
          <a:ln w="12700">
            <a:solidFill>
              <a:srgbClr val="DE6262"/>
            </a:solidFill>
            <a:prstDash val="solid"/>
          </a:ln>
        </p:spPr>
      </p:sp>
      <p:pic>
        <p:nvPicPr>
          <p:cNvPr id="6" name="Image 0" descr="preencoded.png">    </p:cNvPr>
          <p:cNvPicPr>
            <a:picLocks noChangeAspect="1"/>
          </p:cNvPicPr>
          <p:nvPr/>
        </p:nvPicPr>
        <p:blipFill>
          <a:blip r:embed="rId1"/>
          <a:stretch>
            <a:fillRect/>
          </a:stretch>
        </p:blipFill>
        <p:spPr>
          <a:xfrm>
            <a:off x="682142" y="1459382"/>
            <a:ext cx="190195" cy="190195"/>
          </a:xfrm>
          <a:prstGeom prst="rect">
            <a:avLst/>
          </a:prstGeom>
        </p:spPr>
      </p:pic>
      <p:sp>
        <p:nvSpPr>
          <p:cNvPr id="7" name="Text 4"/>
          <p:cNvSpPr txBox="1"/>
          <p:nvPr/>
        </p:nvSpPr>
        <p:spPr>
          <a:xfrm>
            <a:off x="1051560" y="1389888"/>
            <a:ext cx="2011680" cy="329184"/>
          </a:xfrm>
          <a:prstGeom prst="rect">
            <a:avLst/>
          </a:prstGeom>
          <a:noFill/>
          <a:ln/>
        </p:spPr>
        <p:txBody>
          <a:bodyPr wrap="square" lIns="0" tIns="0" rIns="0" bIns="0" rtlCol="0" anchor="ctr"/>
          <a:lstStyle/>
          <a:p>
            <a:pPr indent="0" marL="0">
              <a:buNone/>
            </a:pPr>
            <a:r>
              <a:rPr lang="en-US" sz="1250" b="1" dirty="0">
                <a:solidFill>
                  <a:srgbClr val="2C2C2C"/>
                </a:solidFill>
                <a:latin typeface="Calibri" pitchFamily="34" charset="0"/>
                <a:ea typeface="Calibri" pitchFamily="34" charset="-122"/>
                <a:cs typeface="Calibri" pitchFamily="34" charset="-120"/>
              </a:rPr>
              <a:t>Authentification</a:t>
            </a:r>
            <a:endParaRPr lang="en-US" sz="1250" dirty="0"/>
          </a:p>
        </p:txBody>
      </p:sp>
      <p:sp>
        <p:nvSpPr>
          <p:cNvPr id="8" name="Text 5"/>
          <p:cNvSpPr txBox="1"/>
          <p:nvPr/>
        </p:nvSpPr>
        <p:spPr>
          <a:xfrm>
            <a:off x="594360" y="1801368"/>
            <a:ext cx="2423160" cy="777240"/>
          </a:xfrm>
          <a:prstGeom prst="rect">
            <a:avLst/>
          </a:prstGeom>
          <a:noFill/>
          <a:ln/>
        </p:spPr>
        <p:txBody>
          <a:bodyPr wrap="square" lIns="0" tIns="0" rIns="0" bIns="0" rtlCol="0" anchor="t"/>
          <a:lstStyle/>
          <a:p>
            <a:pPr marL="152400" indent="-152400">
              <a:spcAft>
                <a:spcPts val="300"/>
              </a:spcAft>
              <a:buSzPct val="100000"/>
              <a:buChar char="•"/>
            </a:pPr>
            <a:r>
              <a:rPr lang="en-US" sz="950" dirty="0">
                <a:solidFill>
                  <a:srgbClr val="1E1E1E"/>
                </a:solidFill>
                <a:latin typeface="Calibri" pitchFamily="34" charset="0"/>
                <a:ea typeface="Calibri" pitchFamily="34" charset="-122"/>
                <a:cs typeface="Calibri" pitchFamily="34" charset="-120"/>
              </a:rPr>
              <a:t>JWT HS256 signé, 8 h, validé à chaque requête</a:t>
            </a:r>
            <a:endParaRPr lang="en-US" sz="950" dirty="0"/>
          </a:p>
          <a:p>
            <a:pPr marL="152400" indent="-152400">
              <a:spcAft>
                <a:spcPts val="300"/>
              </a:spcAft>
              <a:buSzPct val="100000"/>
              <a:buChar char="•"/>
            </a:pPr>
            <a:r>
              <a:rPr lang="en-US" sz="950" dirty="0">
                <a:solidFill>
                  <a:srgbClr val="1E1E1E"/>
                </a:solidFill>
                <a:latin typeface="Calibri" pitchFamily="34" charset="0"/>
                <a:ea typeface="Calibri" pitchFamily="34" charset="-122"/>
                <a:cs typeface="Calibri" pitchFamily="34" charset="-120"/>
              </a:rPr>
              <a:t>Mots de passe hachés PBKDF2 (Identity)</a:t>
            </a:r>
            <a:endParaRPr lang="en-US" sz="950" dirty="0"/>
          </a:p>
          <a:p>
            <a:pPr marL="152400" indent="-152400">
              <a:spcAft>
                <a:spcPts val="300"/>
              </a:spcAft>
              <a:buSzPct val="100000"/>
              <a:buChar char="•"/>
            </a:pPr>
            <a:r>
              <a:rPr lang="en-US" sz="950" dirty="0">
                <a:solidFill>
                  <a:srgbClr val="1E1E1E"/>
                </a:solidFill>
                <a:latin typeface="Calibri" pitchFamily="34" charset="0"/>
                <a:ea typeface="Calibri" pitchFamily="34" charset="-122"/>
                <a:cs typeface="Calibri" pitchFamily="34" charset="-120"/>
              </a:rPr>
              <a:t>Clé ≥ 32 caractères vérifiée au démarrage</a:t>
            </a:r>
            <a:endParaRPr lang="en-US" sz="950" dirty="0"/>
          </a:p>
        </p:txBody>
      </p:sp>
      <p:sp>
        <p:nvSpPr>
          <p:cNvPr id="9" name="Shape 6"/>
          <p:cNvSpPr/>
          <p:nvPr/>
        </p:nvSpPr>
        <p:spPr>
          <a:xfrm>
            <a:off x="3246120" y="1234440"/>
            <a:ext cx="2651760" cy="1353312"/>
          </a:xfrm>
          <a:prstGeom prst="roundRect">
            <a:avLst>
              <a:gd name="adj" fmla="val 5405"/>
            </a:avLst>
          </a:prstGeom>
          <a:solidFill>
            <a:srgbClr val="FFF4EE"/>
          </a:solidFill>
          <a:ln w="6350">
            <a:solidFill>
              <a:srgbClr val="FFF4EE"/>
            </a:solidFill>
            <a:prstDash val="solid"/>
          </a:ln>
        </p:spPr>
      </p:sp>
      <p:sp>
        <p:nvSpPr>
          <p:cNvPr id="10" name="Shape 7"/>
          <p:cNvSpPr/>
          <p:nvPr/>
        </p:nvSpPr>
        <p:spPr>
          <a:xfrm>
            <a:off x="3383280" y="1371600"/>
            <a:ext cx="365760" cy="365760"/>
          </a:xfrm>
          <a:prstGeom prst="ellipse">
            <a:avLst/>
          </a:prstGeom>
          <a:solidFill>
            <a:srgbClr val="DE6262"/>
          </a:solidFill>
          <a:ln w="12700">
            <a:solidFill>
              <a:srgbClr val="DE6262"/>
            </a:solidFill>
            <a:prstDash val="solid"/>
          </a:ln>
        </p:spPr>
      </p:sp>
      <p:pic>
        <p:nvPicPr>
          <p:cNvPr id="11" name="Image 1" descr="preencoded.png">    </p:cNvPr>
          <p:cNvPicPr>
            <a:picLocks noChangeAspect="1"/>
          </p:cNvPicPr>
          <p:nvPr/>
        </p:nvPicPr>
        <p:blipFill>
          <a:blip r:embed="rId2"/>
          <a:stretch>
            <a:fillRect/>
          </a:stretch>
        </p:blipFill>
        <p:spPr>
          <a:xfrm>
            <a:off x="3471062" y="1459382"/>
            <a:ext cx="190195" cy="190195"/>
          </a:xfrm>
          <a:prstGeom prst="rect">
            <a:avLst/>
          </a:prstGeom>
        </p:spPr>
      </p:pic>
      <p:sp>
        <p:nvSpPr>
          <p:cNvPr id="12" name="Text 8"/>
          <p:cNvSpPr txBox="1"/>
          <p:nvPr/>
        </p:nvSpPr>
        <p:spPr>
          <a:xfrm>
            <a:off x="3840480" y="1389888"/>
            <a:ext cx="2011680" cy="329184"/>
          </a:xfrm>
          <a:prstGeom prst="rect">
            <a:avLst/>
          </a:prstGeom>
          <a:noFill/>
          <a:ln/>
        </p:spPr>
        <p:txBody>
          <a:bodyPr wrap="square" lIns="0" tIns="0" rIns="0" bIns="0" rtlCol="0" anchor="ctr"/>
          <a:lstStyle/>
          <a:p>
            <a:pPr indent="0" marL="0">
              <a:buNone/>
            </a:pPr>
            <a:r>
              <a:rPr lang="en-US" sz="1250" b="1" dirty="0">
                <a:solidFill>
                  <a:srgbClr val="2C2C2C"/>
                </a:solidFill>
                <a:latin typeface="Calibri" pitchFamily="34" charset="0"/>
                <a:ea typeface="Calibri" pitchFamily="34" charset="-122"/>
                <a:cs typeface="Calibri" pitchFamily="34" charset="-120"/>
              </a:rPr>
              <a:t>Isolation des données</a:t>
            </a:r>
            <a:endParaRPr lang="en-US" sz="1250" dirty="0"/>
          </a:p>
        </p:txBody>
      </p:sp>
      <p:sp>
        <p:nvSpPr>
          <p:cNvPr id="13" name="Text 9"/>
          <p:cNvSpPr txBox="1"/>
          <p:nvPr/>
        </p:nvSpPr>
        <p:spPr>
          <a:xfrm>
            <a:off x="3383280" y="1801368"/>
            <a:ext cx="2423160" cy="777240"/>
          </a:xfrm>
          <a:prstGeom prst="rect">
            <a:avLst/>
          </a:prstGeom>
          <a:noFill/>
          <a:ln/>
        </p:spPr>
        <p:txBody>
          <a:bodyPr wrap="square" lIns="0" tIns="0" rIns="0" bIns="0" rtlCol="0" anchor="t"/>
          <a:lstStyle/>
          <a:p>
            <a:pPr marL="152400" indent="-152400">
              <a:spcAft>
                <a:spcPts val="300"/>
              </a:spcAft>
              <a:buSzPct val="100000"/>
              <a:buChar char="•"/>
            </a:pPr>
            <a:r>
              <a:rPr lang="en-US" sz="950" dirty="0">
                <a:solidFill>
                  <a:srgbClr val="1E1E1E"/>
                </a:solidFill>
                <a:latin typeface="Calibri" pitchFamily="34" charset="0"/>
                <a:ea typeface="Calibri" pitchFamily="34" charset="-122"/>
                <a:cs typeface="Calibri" pitchFamily="34" charset="-120"/>
              </a:rPr>
              <a:t>Identité extraite du token, jamais du client</a:t>
            </a:r>
            <a:endParaRPr lang="en-US" sz="950" dirty="0"/>
          </a:p>
          <a:p>
            <a:pPr marL="152400" indent="-152400">
              <a:spcAft>
                <a:spcPts val="300"/>
              </a:spcAft>
              <a:buSzPct val="100000"/>
              <a:buChar char="•"/>
            </a:pPr>
            <a:r>
              <a:rPr lang="en-US" sz="950" dirty="0">
                <a:solidFill>
                  <a:srgbClr val="1E1E1E"/>
                </a:solidFill>
                <a:latin typeface="Calibri" pitchFamily="34" charset="0"/>
                <a:ea typeface="Calibri" pitchFamily="34" charset="-122"/>
                <a:cs typeface="Calibri" pitchFamily="34" charset="-120"/>
              </a:rPr>
              <a:t>Filtre OwnerId sur chaque requête privée</a:t>
            </a:r>
            <a:endParaRPr lang="en-US" sz="950" dirty="0"/>
          </a:p>
          <a:p>
            <a:pPr marL="152400" indent="-152400">
              <a:spcAft>
                <a:spcPts val="300"/>
              </a:spcAft>
              <a:buSzPct val="100000"/>
              <a:buChar char="•"/>
            </a:pPr>
            <a:r>
              <a:rPr lang="en-US" sz="950" dirty="0">
                <a:solidFill>
                  <a:srgbClr val="1E1E1E"/>
                </a:solidFill>
                <a:latin typeface="Calibri" pitchFamily="34" charset="0"/>
                <a:ea typeface="Calibri" pitchFamily="34" charset="-122"/>
                <a:cs typeface="Calibri" pitchFamily="34" charset="-120"/>
              </a:rPr>
              <a:t>404 sans fuite · tests d'isolation croisée</a:t>
            </a:r>
            <a:endParaRPr lang="en-US" sz="950" dirty="0"/>
          </a:p>
        </p:txBody>
      </p:sp>
      <p:sp>
        <p:nvSpPr>
          <p:cNvPr id="14" name="Shape 10"/>
          <p:cNvSpPr/>
          <p:nvPr/>
        </p:nvSpPr>
        <p:spPr>
          <a:xfrm>
            <a:off x="6035040" y="1234440"/>
            <a:ext cx="2651760" cy="1353312"/>
          </a:xfrm>
          <a:prstGeom prst="roundRect">
            <a:avLst>
              <a:gd name="adj" fmla="val 5405"/>
            </a:avLst>
          </a:prstGeom>
          <a:solidFill>
            <a:srgbClr val="FFF4EE"/>
          </a:solidFill>
          <a:ln w="6350">
            <a:solidFill>
              <a:srgbClr val="FFF4EE"/>
            </a:solidFill>
            <a:prstDash val="solid"/>
          </a:ln>
        </p:spPr>
      </p:sp>
      <p:sp>
        <p:nvSpPr>
          <p:cNvPr id="15" name="Shape 11"/>
          <p:cNvSpPr/>
          <p:nvPr/>
        </p:nvSpPr>
        <p:spPr>
          <a:xfrm>
            <a:off x="6172200" y="1371600"/>
            <a:ext cx="365760" cy="365760"/>
          </a:xfrm>
          <a:prstGeom prst="ellipse">
            <a:avLst/>
          </a:prstGeom>
          <a:solidFill>
            <a:srgbClr val="DE6262"/>
          </a:solidFill>
          <a:ln w="12700">
            <a:solidFill>
              <a:srgbClr val="DE6262"/>
            </a:solidFill>
            <a:prstDash val="solid"/>
          </a:ln>
        </p:spPr>
      </p:sp>
      <p:pic>
        <p:nvPicPr>
          <p:cNvPr id="16" name="Image 2" descr="preencoded.png">    </p:cNvPr>
          <p:cNvPicPr>
            <a:picLocks noChangeAspect="1"/>
          </p:cNvPicPr>
          <p:nvPr/>
        </p:nvPicPr>
        <p:blipFill>
          <a:blip r:embed="rId3"/>
          <a:stretch>
            <a:fillRect/>
          </a:stretch>
        </p:blipFill>
        <p:spPr>
          <a:xfrm>
            <a:off x="6259982" y="1459382"/>
            <a:ext cx="190195" cy="190195"/>
          </a:xfrm>
          <a:prstGeom prst="rect">
            <a:avLst/>
          </a:prstGeom>
        </p:spPr>
      </p:pic>
      <p:sp>
        <p:nvSpPr>
          <p:cNvPr id="17" name="Text 12"/>
          <p:cNvSpPr txBox="1"/>
          <p:nvPr/>
        </p:nvSpPr>
        <p:spPr>
          <a:xfrm>
            <a:off x="6629400" y="1389888"/>
            <a:ext cx="2011680" cy="329184"/>
          </a:xfrm>
          <a:prstGeom prst="rect">
            <a:avLst/>
          </a:prstGeom>
          <a:noFill/>
          <a:ln/>
        </p:spPr>
        <p:txBody>
          <a:bodyPr wrap="square" lIns="0" tIns="0" rIns="0" bIns="0" rtlCol="0" anchor="ctr"/>
          <a:lstStyle/>
          <a:p>
            <a:pPr indent="0" marL="0">
              <a:buNone/>
            </a:pPr>
            <a:r>
              <a:rPr lang="en-US" sz="1250" b="1" dirty="0">
                <a:solidFill>
                  <a:srgbClr val="2C2C2C"/>
                </a:solidFill>
                <a:latin typeface="Calibri" pitchFamily="34" charset="0"/>
                <a:ea typeface="Calibri" pitchFamily="34" charset="-122"/>
                <a:cs typeface="Calibri" pitchFamily="34" charset="-120"/>
              </a:rPr>
              <a:t>Liens de partage</a:t>
            </a:r>
            <a:endParaRPr lang="en-US" sz="1250" dirty="0"/>
          </a:p>
        </p:txBody>
      </p:sp>
      <p:sp>
        <p:nvSpPr>
          <p:cNvPr id="18" name="Text 13"/>
          <p:cNvSpPr txBox="1"/>
          <p:nvPr/>
        </p:nvSpPr>
        <p:spPr>
          <a:xfrm>
            <a:off x="6172200" y="1801368"/>
            <a:ext cx="2423160" cy="777240"/>
          </a:xfrm>
          <a:prstGeom prst="rect">
            <a:avLst/>
          </a:prstGeom>
          <a:noFill/>
          <a:ln/>
        </p:spPr>
        <p:txBody>
          <a:bodyPr wrap="square" lIns="0" tIns="0" rIns="0" bIns="0" rtlCol="0" anchor="t"/>
          <a:lstStyle/>
          <a:p>
            <a:pPr marL="152400" indent="-152400">
              <a:spcAft>
                <a:spcPts val="300"/>
              </a:spcAft>
              <a:buSzPct val="100000"/>
              <a:buChar char="•"/>
            </a:pPr>
            <a:r>
              <a:rPr lang="en-US" sz="950" dirty="0">
                <a:solidFill>
                  <a:srgbClr val="1E1E1E"/>
                </a:solidFill>
                <a:latin typeface="Calibri" pitchFamily="34" charset="0"/>
                <a:ea typeface="Calibri" pitchFamily="34" charset="-122"/>
                <a:cs typeface="Calibri" pitchFamily="34" charset="-120"/>
              </a:rPr>
              <a:t>Token CSPRNG 32 octets ≠ identifiant</a:t>
            </a:r>
            <a:endParaRPr lang="en-US" sz="950" dirty="0"/>
          </a:p>
          <a:p>
            <a:pPr marL="152400" indent="-152400">
              <a:spcAft>
                <a:spcPts val="300"/>
              </a:spcAft>
              <a:buSzPct val="100000"/>
              <a:buChar char="•"/>
            </a:pPr>
            <a:r>
              <a:rPr lang="en-US" sz="950" dirty="0">
                <a:solidFill>
                  <a:srgbClr val="1E1E1E"/>
                </a:solidFill>
                <a:latin typeface="Calibri" pitchFamily="34" charset="0"/>
                <a:ea typeface="Calibri" pitchFamily="34" charset="-122"/>
                <a:cs typeface="Calibri" pitchFamily="34" charset="-120"/>
              </a:rPr>
              <a:t>Mot de passe fichier haché, envoyé en POST</a:t>
            </a:r>
            <a:endParaRPr lang="en-US" sz="950" dirty="0"/>
          </a:p>
          <a:p>
            <a:pPr marL="152400" indent="-152400">
              <a:spcAft>
                <a:spcPts val="300"/>
              </a:spcAft>
              <a:buSzPct val="100000"/>
              <a:buChar char="•"/>
            </a:pPr>
            <a:r>
              <a:rPr lang="en-US" sz="950" dirty="0">
                <a:solidFill>
                  <a:srgbClr val="1E1E1E"/>
                </a:solidFill>
                <a:latin typeface="Calibri" pitchFamily="34" charset="0"/>
                <a:ea typeface="Calibri" pitchFamily="34" charset="-122"/>
                <a:cs typeface="Calibri" pitchFamily="34" charset="-120"/>
              </a:rPr>
              <a:t>Lien expiré → 410, supprimé → 404</a:t>
            </a:r>
            <a:endParaRPr lang="en-US" sz="950" dirty="0"/>
          </a:p>
        </p:txBody>
      </p:sp>
      <p:sp>
        <p:nvSpPr>
          <p:cNvPr id="19" name="Shape 14"/>
          <p:cNvSpPr/>
          <p:nvPr/>
        </p:nvSpPr>
        <p:spPr>
          <a:xfrm>
            <a:off x="457200" y="2715768"/>
            <a:ext cx="2651760" cy="1353312"/>
          </a:xfrm>
          <a:prstGeom prst="roundRect">
            <a:avLst>
              <a:gd name="adj" fmla="val 5405"/>
            </a:avLst>
          </a:prstGeom>
          <a:solidFill>
            <a:srgbClr val="FFF4EE"/>
          </a:solidFill>
          <a:ln w="6350">
            <a:solidFill>
              <a:srgbClr val="FFF4EE"/>
            </a:solidFill>
            <a:prstDash val="solid"/>
          </a:ln>
        </p:spPr>
      </p:sp>
      <p:sp>
        <p:nvSpPr>
          <p:cNvPr id="20" name="Shape 15"/>
          <p:cNvSpPr/>
          <p:nvPr/>
        </p:nvSpPr>
        <p:spPr>
          <a:xfrm>
            <a:off x="594360" y="2852928"/>
            <a:ext cx="365760" cy="365760"/>
          </a:xfrm>
          <a:prstGeom prst="ellipse">
            <a:avLst/>
          </a:prstGeom>
          <a:solidFill>
            <a:srgbClr val="DE6262"/>
          </a:solidFill>
          <a:ln w="12700">
            <a:solidFill>
              <a:srgbClr val="DE6262"/>
            </a:solidFill>
            <a:prstDash val="solid"/>
          </a:ln>
        </p:spPr>
      </p:sp>
      <p:pic>
        <p:nvPicPr>
          <p:cNvPr id="21" name="Image 3" descr="preencoded.png">    </p:cNvPr>
          <p:cNvPicPr>
            <a:picLocks noChangeAspect="1"/>
          </p:cNvPicPr>
          <p:nvPr/>
        </p:nvPicPr>
        <p:blipFill>
          <a:blip r:embed="rId4"/>
          <a:stretch>
            <a:fillRect/>
          </a:stretch>
        </p:blipFill>
        <p:spPr>
          <a:xfrm>
            <a:off x="682142" y="2940710"/>
            <a:ext cx="190195" cy="190195"/>
          </a:xfrm>
          <a:prstGeom prst="rect">
            <a:avLst/>
          </a:prstGeom>
        </p:spPr>
      </p:pic>
      <p:sp>
        <p:nvSpPr>
          <p:cNvPr id="22" name="Text 16"/>
          <p:cNvSpPr txBox="1"/>
          <p:nvPr/>
        </p:nvSpPr>
        <p:spPr>
          <a:xfrm>
            <a:off x="1051560" y="2871216"/>
            <a:ext cx="2011680" cy="329184"/>
          </a:xfrm>
          <a:prstGeom prst="rect">
            <a:avLst/>
          </a:prstGeom>
          <a:noFill/>
          <a:ln/>
        </p:spPr>
        <p:txBody>
          <a:bodyPr wrap="square" lIns="0" tIns="0" rIns="0" bIns="0" rtlCol="0" anchor="ctr"/>
          <a:lstStyle/>
          <a:p>
            <a:pPr indent="0" marL="0">
              <a:buNone/>
            </a:pPr>
            <a:r>
              <a:rPr lang="en-US" sz="1250" b="1" dirty="0">
                <a:solidFill>
                  <a:srgbClr val="2C2C2C"/>
                </a:solidFill>
                <a:latin typeface="Calibri" pitchFamily="34" charset="0"/>
                <a:ea typeface="Calibri" pitchFamily="34" charset="-122"/>
                <a:cs typeface="Calibri" pitchFamily="34" charset="-120"/>
              </a:rPr>
              <a:t>Fichiers</a:t>
            </a:r>
            <a:endParaRPr lang="en-US" sz="1250" dirty="0"/>
          </a:p>
        </p:txBody>
      </p:sp>
      <p:sp>
        <p:nvSpPr>
          <p:cNvPr id="23" name="Text 17"/>
          <p:cNvSpPr txBox="1"/>
          <p:nvPr/>
        </p:nvSpPr>
        <p:spPr>
          <a:xfrm>
            <a:off x="594360" y="3282696"/>
            <a:ext cx="2423160" cy="777240"/>
          </a:xfrm>
          <a:prstGeom prst="rect">
            <a:avLst/>
          </a:prstGeom>
          <a:noFill/>
          <a:ln/>
        </p:spPr>
        <p:txBody>
          <a:bodyPr wrap="square" lIns="0" tIns="0" rIns="0" bIns="0" rtlCol="0" anchor="t"/>
          <a:lstStyle/>
          <a:p>
            <a:pPr marL="152400" indent="-152400">
              <a:spcAft>
                <a:spcPts val="300"/>
              </a:spcAft>
              <a:buSzPct val="100000"/>
              <a:buChar char="•"/>
            </a:pPr>
            <a:r>
              <a:rPr lang="en-US" sz="950" dirty="0">
                <a:solidFill>
                  <a:srgbClr val="1E1E1E"/>
                </a:solidFill>
                <a:latin typeface="Calibri" pitchFamily="34" charset="0"/>
                <a:ea typeface="Calibri" pitchFamily="34" charset="-122"/>
                <a:cs typeface="Calibri" pitchFamily="34" charset="-120"/>
              </a:rPr>
              <a:t>Renommés GUID : anti path traversal</a:t>
            </a:r>
            <a:endParaRPr lang="en-US" sz="950" dirty="0"/>
          </a:p>
          <a:p>
            <a:pPr marL="152400" indent="-152400">
              <a:spcAft>
                <a:spcPts val="300"/>
              </a:spcAft>
              <a:buSzPct val="100000"/>
              <a:buChar char="•"/>
            </a:pPr>
            <a:r>
              <a:rPr lang="en-US" sz="950" dirty="0">
                <a:solidFill>
                  <a:srgbClr val="1E1E1E"/>
                </a:solidFill>
                <a:latin typeface="Calibri" pitchFamily="34" charset="0"/>
                <a:ea typeface="Calibri" pitchFamily="34" charset="-122"/>
                <a:cs typeface="Calibri" pitchFamily="34" charset="-120"/>
              </a:rPr>
              <a:t>Exécutables refusés (.exe .bat .msi .ps1…)</a:t>
            </a:r>
            <a:endParaRPr lang="en-US" sz="950" dirty="0"/>
          </a:p>
          <a:p>
            <a:pPr marL="152400" indent="-152400">
              <a:spcAft>
                <a:spcPts val="300"/>
              </a:spcAft>
              <a:buSzPct val="100000"/>
              <a:buChar char="•"/>
            </a:pPr>
            <a:r>
              <a:rPr lang="en-US" sz="950" dirty="0">
                <a:solidFill>
                  <a:srgbClr val="1E1E1E"/>
                </a:solidFill>
                <a:latin typeface="Calibri" pitchFamily="34" charset="0"/>
                <a:ea typeface="Calibri" pitchFamily="34" charset="-122"/>
                <a:cs typeface="Calibri" pitchFamily="34" charset="-120"/>
              </a:rPr>
              <a:t>1 Go max · purge quotidienne</a:t>
            </a:r>
            <a:endParaRPr lang="en-US" sz="950" dirty="0"/>
          </a:p>
        </p:txBody>
      </p:sp>
      <p:sp>
        <p:nvSpPr>
          <p:cNvPr id="24" name="Shape 18"/>
          <p:cNvSpPr/>
          <p:nvPr/>
        </p:nvSpPr>
        <p:spPr>
          <a:xfrm>
            <a:off x="3246120" y="2715768"/>
            <a:ext cx="2651760" cy="1353312"/>
          </a:xfrm>
          <a:prstGeom prst="roundRect">
            <a:avLst>
              <a:gd name="adj" fmla="val 5405"/>
            </a:avLst>
          </a:prstGeom>
          <a:solidFill>
            <a:srgbClr val="FFF4EE"/>
          </a:solidFill>
          <a:ln w="6350">
            <a:solidFill>
              <a:srgbClr val="FFF4EE"/>
            </a:solidFill>
            <a:prstDash val="solid"/>
          </a:ln>
        </p:spPr>
      </p:sp>
      <p:sp>
        <p:nvSpPr>
          <p:cNvPr id="25" name="Shape 19"/>
          <p:cNvSpPr/>
          <p:nvPr/>
        </p:nvSpPr>
        <p:spPr>
          <a:xfrm>
            <a:off x="3383280" y="2852928"/>
            <a:ext cx="365760" cy="365760"/>
          </a:xfrm>
          <a:prstGeom prst="ellipse">
            <a:avLst/>
          </a:prstGeom>
          <a:solidFill>
            <a:srgbClr val="DE6262"/>
          </a:solidFill>
          <a:ln w="12700">
            <a:solidFill>
              <a:srgbClr val="DE6262"/>
            </a:solidFill>
            <a:prstDash val="solid"/>
          </a:ln>
        </p:spPr>
      </p:sp>
      <p:pic>
        <p:nvPicPr>
          <p:cNvPr id="26" name="Image 4" descr="preencoded.png">    </p:cNvPr>
          <p:cNvPicPr>
            <a:picLocks noChangeAspect="1"/>
          </p:cNvPicPr>
          <p:nvPr/>
        </p:nvPicPr>
        <p:blipFill>
          <a:blip r:embed="rId5"/>
          <a:stretch>
            <a:fillRect/>
          </a:stretch>
        </p:blipFill>
        <p:spPr>
          <a:xfrm>
            <a:off x="3471062" y="2940710"/>
            <a:ext cx="190195" cy="190195"/>
          </a:xfrm>
          <a:prstGeom prst="rect">
            <a:avLst/>
          </a:prstGeom>
        </p:spPr>
      </p:pic>
      <p:sp>
        <p:nvSpPr>
          <p:cNvPr id="27" name="Text 20"/>
          <p:cNvSpPr txBox="1"/>
          <p:nvPr/>
        </p:nvSpPr>
        <p:spPr>
          <a:xfrm>
            <a:off x="3840480" y="2871216"/>
            <a:ext cx="2011680" cy="329184"/>
          </a:xfrm>
          <a:prstGeom prst="rect">
            <a:avLst/>
          </a:prstGeom>
          <a:noFill/>
          <a:ln/>
        </p:spPr>
        <p:txBody>
          <a:bodyPr wrap="square" lIns="0" tIns="0" rIns="0" bIns="0" rtlCol="0" anchor="ctr"/>
          <a:lstStyle/>
          <a:p>
            <a:pPr indent="0" marL="0">
              <a:buNone/>
            </a:pPr>
            <a:r>
              <a:rPr lang="en-US" sz="1250" b="1" dirty="0">
                <a:solidFill>
                  <a:srgbClr val="2C2C2C"/>
                </a:solidFill>
                <a:latin typeface="Calibri" pitchFamily="34" charset="0"/>
                <a:ea typeface="Calibri" pitchFamily="34" charset="-122"/>
                <a:cs typeface="Calibri" pitchFamily="34" charset="-120"/>
              </a:rPr>
              <a:t>Validation double</a:t>
            </a:r>
            <a:endParaRPr lang="en-US" sz="1250" dirty="0"/>
          </a:p>
        </p:txBody>
      </p:sp>
      <p:sp>
        <p:nvSpPr>
          <p:cNvPr id="28" name="Text 21"/>
          <p:cNvSpPr txBox="1"/>
          <p:nvPr/>
        </p:nvSpPr>
        <p:spPr>
          <a:xfrm>
            <a:off x="3383280" y="3282696"/>
            <a:ext cx="2423160" cy="777240"/>
          </a:xfrm>
          <a:prstGeom prst="rect">
            <a:avLst/>
          </a:prstGeom>
          <a:noFill/>
          <a:ln/>
        </p:spPr>
        <p:txBody>
          <a:bodyPr wrap="square" lIns="0" tIns="0" rIns="0" bIns="0" rtlCol="0" anchor="t"/>
          <a:lstStyle/>
          <a:p>
            <a:pPr marL="152400" indent="-152400">
              <a:spcAft>
                <a:spcPts val="300"/>
              </a:spcAft>
              <a:buSzPct val="100000"/>
              <a:buChar char="•"/>
            </a:pPr>
            <a:r>
              <a:rPr lang="en-US" sz="950" dirty="0">
                <a:solidFill>
                  <a:srgbClr val="1E1E1E"/>
                </a:solidFill>
                <a:latin typeface="Calibri" pitchFamily="34" charset="0"/>
                <a:ea typeface="Calibri" pitchFamily="34" charset="-122"/>
                <a:cs typeface="Calibri" pitchFamily="34" charset="-120"/>
              </a:rPr>
              <a:t>Client pour l'UX, serveur comme autorité</a:t>
            </a:r>
            <a:endParaRPr lang="en-US" sz="950" dirty="0"/>
          </a:p>
          <a:p>
            <a:pPr marL="152400" indent="-152400">
              <a:spcAft>
                <a:spcPts val="300"/>
              </a:spcAft>
              <a:buSzPct val="100000"/>
              <a:buChar char="•"/>
            </a:pPr>
            <a:r>
              <a:rPr lang="en-US" sz="950" dirty="0">
                <a:solidFill>
                  <a:srgbClr val="1E1E1E"/>
                </a:solidFill>
                <a:latin typeface="Calibri" pitchFamily="34" charset="0"/>
                <a:ea typeface="Calibri" pitchFamily="34" charset="-122"/>
                <a:cs typeface="Calibri" pitchFamily="34" charset="-120"/>
              </a:rPr>
              <a:t>EF Core : requêtes paramétrées, zéro SQL brut</a:t>
            </a:r>
            <a:endParaRPr lang="en-US" sz="950" dirty="0"/>
          </a:p>
          <a:p>
            <a:pPr marL="152400" indent="-152400">
              <a:spcAft>
                <a:spcPts val="300"/>
              </a:spcAft>
              <a:buSzPct val="100000"/>
              <a:buChar char="•"/>
            </a:pPr>
            <a:r>
              <a:rPr lang="en-US" sz="950" dirty="0">
                <a:solidFill>
                  <a:srgbClr val="1E1E1E"/>
                </a:solidFill>
                <a:latin typeface="Calibri" pitchFamily="34" charset="0"/>
                <a:ea typeface="Calibri" pitchFamily="34" charset="-122"/>
                <a:cs typeface="Calibri" pitchFamily="34" charset="-120"/>
              </a:rPr>
              <a:t>CORS limité aux origines configurées</a:t>
            </a:r>
            <a:endParaRPr lang="en-US" sz="950" dirty="0"/>
          </a:p>
        </p:txBody>
      </p:sp>
      <p:sp>
        <p:nvSpPr>
          <p:cNvPr id="29" name="Shape 22"/>
          <p:cNvSpPr/>
          <p:nvPr/>
        </p:nvSpPr>
        <p:spPr>
          <a:xfrm>
            <a:off x="6035040" y="2715768"/>
            <a:ext cx="2651760" cy="1353312"/>
          </a:xfrm>
          <a:prstGeom prst="roundRect">
            <a:avLst>
              <a:gd name="adj" fmla="val 5405"/>
            </a:avLst>
          </a:prstGeom>
          <a:solidFill>
            <a:srgbClr val="FFF4EE"/>
          </a:solidFill>
          <a:ln w="6350">
            <a:solidFill>
              <a:srgbClr val="FFF4EE"/>
            </a:solidFill>
            <a:prstDash val="solid"/>
          </a:ln>
        </p:spPr>
      </p:sp>
      <p:sp>
        <p:nvSpPr>
          <p:cNvPr id="30" name="Shape 23"/>
          <p:cNvSpPr/>
          <p:nvPr/>
        </p:nvSpPr>
        <p:spPr>
          <a:xfrm>
            <a:off x="6172200" y="2852928"/>
            <a:ext cx="365760" cy="365760"/>
          </a:xfrm>
          <a:prstGeom prst="ellipse">
            <a:avLst/>
          </a:prstGeom>
          <a:solidFill>
            <a:srgbClr val="DE6262"/>
          </a:solidFill>
          <a:ln w="12700">
            <a:solidFill>
              <a:srgbClr val="DE6262"/>
            </a:solidFill>
            <a:prstDash val="solid"/>
          </a:ln>
        </p:spPr>
      </p:sp>
      <p:pic>
        <p:nvPicPr>
          <p:cNvPr id="31" name="Image 5" descr="preencoded.png">    </p:cNvPr>
          <p:cNvPicPr>
            <a:picLocks noChangeAspect="1"/>
          </p:cNvPicPr>
          <p:nvPr/>
        </p:nvPicPr>
        <p:blipFill>
          <a:blip r:embed="rId6"/>
          <a:stretch>
            <a:fillRect/>
          </a:stretch>
        </p:blipFill>
        <p:spPr>
          <a:xfrm>
            <a:off x="6259982" y="2940710"/>
            <a:ext cx="190195" cy="190195"/>
          </a:xfrm>
          <a:prstGeom prst="rect">
            <a:avLst/>
          </a:prstGeom>
        </p:spPr>
      </p:pic>
      <p:sp>
        <p:nvSpPr>
          <p:cNvPr id="32" name="Text 24"/>
          <p:cNvSpPr txBox="1"/>
          <p:nvPr/>
        </p:nvSpPr>
        <p:spPr>
          <a:xfrm>
            <a:off x="6629400" y="2871216"/>
            <a:ext cx="2011680" cy="329184"/>
          </a:xfrm>
          <a:prstGeom prst="rect">
            <a:avLst/>
          </a:prstGeom>
          <a:noFill/>
          <a:ln/>
        </p:spPr>
        <p:txBody>
          <a:bodyPr wrap="square" lIns="0" tIns="0" rIns="0" bIns="0" rtlCol="0" anchor="ctr"/>
          <a:lstStyle/>
          <a:p>
            <a:pPr indent="0" marL="0">
              <a:buNone/>
            </a:pPr>
            <a:r>
              <a:rPr lang="en-US" sz="1250" b="1" dirty="0">
                <a:solidFill>
                  <a:srgbClr val="2C2C2C"/>
                </a:solidFill>
                <a:latin typeface="Calibri" pitchFamily="34" charset="0"/>
                <a:ea typeface="Calibri" pitchFamily="34" charset="-122"/>
                <a:cs typeface="Calibri" pitchFamily="34" charset="-120"/>
              </a:rPr>
              <a:t>Secrets et logs</a:t>
            </a:r>
            <a:endParaRPr lang="en-US" sz="1250" dirty="0"/>
          </a:p>
        </p:txBody>
      </p:sp>
      <p:sp>
        <p:nvSpPr>
          <p:cNvPr id="33" name="Text 25"/>
          <p:cNvSpPr txBox="1"/>
          <p:nvPr/>
        </p:nvSpPr>
        <p:spPr>
          <a:xfrm>
            <a:off x="6172200" y="3282696"/>
            <a:ext cx="2423160" cy="777240"/>
          </a:xfrm>
          <a:prstGeom prst="rect">
            <a:avLst/>
          </a:prstGeom>
          <a:noFill/>
          <a:ln/>
        </p:spPr>
        <p:txBody>
          <a:bodyPr wrap="square" lIns="0" tIns="0" rIns="0" bIns="0" rtlCol="0" anchor="t"/>
          <a:lstStyle/>
          <a:p>
            <a:pPr marL="152400" indent="-152400">
              <a:spcAft>
                <a:spcPts val="300"/>
              </a:spcAft>
              <a:buSzPct val="100000"/>
              <a:buChar char="•"/>
            </a:pPr>
            <a:r>
              <a:rPr lang="en-US" sz="950" dirty="0">
                <a:solidFill>
                  <a:srgbClr val="1E1E1E"/>
                </a:solidFill>
                <a:latin typeface="Calibri" pitchFamily="34" charset="0"/>
                <a:ea typeface="Calibri" pitchFamily="34" charset="-122"/>
                <a:cs typeface="Calibri" pitchFamily="34" charset="-120"/>
              </a:rPr>
              <a:t>Aucun secret dans Git : .env / user-secrets</a:t>
            </a:r>
            <a:endParaRPr lang="en-US" sz="950" dirty="0"/>
          </a:p>
          <a:p>
            <a:pPr marL="152400" indent="-152400">
              <a:spcAft>
                <a:spcPts val="300"/>
              </a:spcAft>
              <a:buSzPct val="100000"/>
              <a:buChar char="•"/>
            </a:pPr>
            <a:r>
              <a:rPr lang="en-US" sz="950" dirty="0">
                <a:solidFill>
                  <a:srgbClr val="1E1E1E"/>
                </a:solidFill>
                <a:latin typeface="Calibri" pitchFamily="34" charset="0"/>
                <a:ea typeface="Calibri" pitchFamily="34" charset="-122"/>
                <a:cs typeface="Calibri" pitchFamily="34" charset="-120"/>
              </a:rPr>
              <a:t>Logs structurés sans mot de passe ni token</a:t>
            </a:r>
            <a:endParaRPr lang="en-US" sz="950" dirty="0"/>
          </a:p>
          <a:p>
            <a:pPr marL="152400" indent="-152400">
              <a:spcAft>
                <a:spcPts val="300"/>
              </a:spcAft>
              <a:buSzPct val="100000"/>
              <a:buChar char="•"/>
            </a:pPr>
            <a:r>
              <a:rPr lang="en-US" sz="950" dirty="0">
                <a:solidFill>
                  <a:srgbClr val="1E1E1E"/>
                </a:solidFill>
                <a:latin typeface="Calibri" pitchFamily="34" charset="0"/>
                <a:ea typeface="Calibri" pitchFamily="34" charset="-122"/>
                <a:cs typeface="Calibri" pitchFamily="34" charset="-120"/>
              </a:rPr>
              <a:t>Audit dépendances : 0 vulnérabilité (13/09)</a:t>
            </a:r>
            <a:endParaRPr lang="en-US" sz="950" dirty="0"/>
          </a:p>
        </p:txBody>
      </p:sp>
      <p:sp>
        <p:nvSpPr>
          <p:cNvPr id="34" name="Text 26"/>
          <p:cNvSpPr txBox="1"/>
          <p:nvPr/>
        </p:nvSpPr>
        <p:spPr>
          <a:xfrm>
            <a:off x="457200" y="4297680"/>
            <a:ext cx="8229600" cy="365760"/>
          </a:xfrm>
          <a:prstGeom prst="rect">
            <a:avLst/>
          </a:prstGeom>
          <a:noFill/>
          <a:ln/>
        </p:spPr>
        <p:txBody>
          <a:bodyPr wrap="square" lIns="0" tIns="0" rIns="0" bIns="0" rtlCol="0" anchor="ctr"/>
          <a:lstStyle/>
          <a:p>
            <a:pPr indent="0" marL="0">
              <a:buNone/>
            </a:pPr>
            <a:r>
              <a:rPr lang="en-US" sz="1050" b="1" dirty="0">
                <a:solidFill>
                  <a:srgbClr val="1E1E1E"/>
                </a:solidFill>
                <a:latin typeface="Calibri" pitchFamily="34" charset="0"/>
                <a:ea typeface="Calibri" pitchFamily="34" charset="-122"/>
                <a:cs typeface="Calibri" pitchFamily="34" charset="-120"/>
              </a:rPr>
              <a:t>Roadmap sécurité (hors MVP) : </a:t>
            </a:r>
            <a:pPr indent="0" marL="0">
              <a:buNone/>
            </a:pPr>
            <a:r>
              <a:rPr lang="en-US" sz="1050" dirty="0">
                <a:solidFill>
                  <a:srgbClr val="1E1E1E"/>
                </a:solidFill>
                <a:latin typeface="Calibri" pitchFamily="34" charset="0"/>
                <a:ea typeface="Calibri" pitchFamily="34" charset="-122"/>
                <a:cs typeface="Calibri" pitchFamily="34" charset="-120"/>
              </a:rPr>
              <a:t>HTTPS/HSTS sur le reverse proxy · rate limiting sur login et téléchargement · refresh tokens · scan antivirus des uploads</a:t>
            </a:r>
            <a:endParaRPr lang="en-US" sz="1050" dirty="0"/>
          </a:p>
        </p:txBody>
      </p:sp>
      <p:sp>
        <p:nvSpPr>
          <p:cNvPr id="35" name="Text 27"/>
          <p:cNvSpPr txBox="1"/>
          <p:nvPr/>
        </p:nvSpPr>
        <p:spPr>
          <a:xfrm>
            <a:off x="457200" y="4818888"/>
            <a:ext cx="4572000" cy="228600"/>
          </a:xfrm>
          <a:prstGeom prst="rect">
            <a:avLst/>
          </a:prstGeom>
          <a:noFill/>
          <a:ln/>
        </p:spPr>
        <p:txBody>
          <a:bodyPr wrap="square" lIns="0" tIns="0" rIns="0" bIns="0" rtlCol="0" anchor="ctr"/>
          <a:lstStyle/>
          <a:p>
            <a:pPr indent="0" marL="0">
              <a:buNone/>
            </a:pPr>
            <a:r>
              <a:rPr lang="en-US" sz="900" dirty="0">
                <a:solidFill>
                  <a:srgbClr val="A0A0A0"/>
                </a:solidFill>
                <a:latin typeface="Calibri" pitchFamily="34" charset="0"/>
                <a:ea typeface="Calibri" pitchFamily="34" charset="-122"/>
                <a:cs typeface="Calibri" pitchFamily="34" charset="-120"/>
              </a:rPr>
              <a:t>DataShare — Soutenance Projet 4</a:t>
            </a:r>
            <a:endParaRPr lang="en-US" sz="900" dirty="0"/>
          </a:p>
        </p:txBody>
      </p:sp>
      <p:sp>
        <p:nvSpPr>
          <p:cNvPr id="36" name="Text 28"/>
          <p:cNvSpPr txBox="1"/>
          <p:nvPr/>
        </p:nvSpPr>
        <p:spPr>
          <a:xfrm>
            <a:off x="8229600" y="4818888"/>
            <a:ext cx="457200" cy="228600"/>
          </a:xfrm>
          <a:prstGeom prst="rect">
            <a:avLst/>
          </a:prstGeom>
          <a:noFill/>
          <a:ln/>
        </p:spPr>
        <p:txBody>
          <a:bodyPr wrap="square" lIns="0" tIns="0" rIns="0" bIns="0" rtlCol="0" anchor="ctr"/>
          <a:lstStyle/>
          <a:p>
            <a:pPr algn="r" indent="0" marL="0">
              <a:buNone/>
            </a:pPr>
            <a:r>
              <a:rPr lang="en-US" sz="900" dirty="0">
                <a:solidFill>
                  <a:srgbClr val="A0A0A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3000" b="1" dirty="0">
                <a:solidFill>
                  <a:srgbClr val="2C2C2C"/>
                </a:solidFill>
                <a:latin typeface="Calibri" pitchFamily="34" charset="0"/>
                <a:ea typeface="Calibri" pitchFamily="34" charset="-122"/>
                <a:cs typeface="Calibri" pitchFamily="34" charset="-120"/>
              </a:rPr>
              <a:t>Démonstration</a:t>
            </a:r>
            <a:endParaRPr lang="en-US" sz="3000" dirty="0"/>
          </a:p>
        </p:txBody>
      </p:sp>
      <p:sp>
        <p:nvSpPr>
          <p:cNvPr id="3" name="Text 1"/>
          <p:cNvSpPr txBox="1"/>
          <p:nvPr/>
        </p:nvSpPr>
        <p:spPr>
          <a:xfrm>
            <a:off x="457200" y="804672"/>
            <a:ext cx="8229600" cy="292608"/>
          </a:xfrm>
          <a:prstGeom prst="rect">
            <a:avLst/>
          </a:prstGeom>
          <a:noFill/>
          <a:ln/>
        </p:spPr>
        <p:txBody>
          <a:bodyPr wrap="square" lIns="0" tIns="0" rIns="0" bIns="0" rtlCol="0" anchor="ctr"/>
          <a:lstStyle/>
          <a:p>
            <a:pPr indent="0" marL="0">
              <a:buNone/>
            </a:pPr>
            <a:r>
              <a:rPr lang="en-US" sz="1300" dirty="0">
                <a:solidFill>
                  <a:srgbClr val="6B6B6B"/>
                </a:solidFill>
                <a:latin typeface="Calibri" pitchFamily="34" charset="0"/>
                <a:ea typeface="Calibri" pitchFamily="34" charset="-122"/>
                <a:cs typeface="Calibri" pitchFamily="34" charset="-120"/>
              </a:rPr>
              <a:t>Parcours complet en direct sur http://localhost — fonctionnalités clés, expérience utilisateur, gestion des erreurs</a:t>
            </a:r>
            <a:endParaRPr lang="en-US" sz="1300" dirty="0"/>
          </a:p>
        </p:txBody>
      </p:sp>
      <p:sp>
        <p:nvSpPr>
          <p:cNvPr id="4" name="Shape 2"/>
          <p:cNvSpPr/>
          <p:nvPr/>
        </p:nvSpPr>
        <p:spPr>
          <a:xfrm>
            <a:off x="457200" y="1261872"/>
            <a:ext cx="347472" cy="347472"/>
          </a:xfrm>
          <a:prstGeom prst="ellipse">
            <a:avLst/>
          </a:prstGeom>
          <a:solidFill>
            <a:srgbClr val="2C2C2C"/>
          </a:solidFill>
          <a:ln w="12700">
            <a:solidFill>
              <a:srgbClr val="2C2C2C"/>
            </a:solidFill>
            <a:prstDash val="solid"/>
          </a:ln>
        </p:spPr>
      </p:sp>
      <p:sp>
        <p:nvSpPr>
          <p:cNvPr id="5" name="Text 3"/>
          <p:cNvSpPr txBox="1"/>
          <p:nvPr/>
        </p:nvSpPr>
        <p:spPr>
          <a:xfrm>
            <a:off x="457200" y="126187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6" name="Text 4"/>
          <p:cNvSpPr txBox="1"/>
          <p:nvPr/>
        </p:nvSpPr>
        <p:spPr>
          <a:xfrm>
            <a:off x="914400" y="1234440"/>
            <a:ext cx="4297680" cy="530352"/>
          </a:xfrm>
          <a:prstGeom prst="rect">
            <a:avLst/>
          </a:prstGeom>
          <a:noFill/>
          <a:ln/>
        </p:spPr>
        <p:txBody>
          <a:bodyPr wrap="square" lIns="0" tIns="0" rIns="0" bIns="0" rtlCol="0" anchor="t"/>
          <a:lstStyle/>
          <a:p>
            <a:pPr indent="0" marL="0">
              <a:buNone/>
            </a:pPr>
            <a:r>
              <a:rPr lang="en-US" sz="1200" b="1" dirty="0">
                <a:solidFill>
                  <a:srgbClr val="1E1E1E"/>
                </a:solidFill>
                <a:latin typeface="Calibri" pitchFamily="34" charset="0"/>
                <a:ea typeface="Calibri" pitchFamily="34" charset="-122"/>
                <a:cs typeface="Calibri" pitchFamily="34" charset="-120"/>
              </a:rPr>
              <a:t>Créer un compte, se connecter</a:t>
            </a:r>
            <a:endParaRPr lang="en-US" sz="1200" dirty="0"/>
          </a:p>
          <a:p>
            <a:pPr indent="0" marL="0">
              <a:buNone/>
            </a:pPr>
            <a:r>
              <a:rPr lang="en-US" sz="950" dirty="0">
                <a:solidFill>
                  <a:srgbClr val="6B6B6B"/>
                </a:solidFill>
                <a:latin typeface="Calibri" pitchFamily="34" charset="0"/>
                <a:ea typeface="Calibri" pitchFamily="34" charset="-122"/>
                <a:cs typeface="Calibri" pitchFamily="34" charset="-120"/>
              </a:rPr>
              <a:t>JWT côté client ; erreurs claires : email pris, mot de passe court, identifiants faux</a:t>
            </a:r>
            <a:endParaRPr lang="en-US" sz="1200" dirty="0"/>
          </a:p>
        </p:txBody>
      </p:sp>
      <p:sp>
        <p:nvSpPr>
          <p:cNvPr id="7" name="Shape 5"/>
          <p:cNvSpPr/>
          <p:nvPr/>
        </p:nvSpPr>
        <p:spPr>
          <a:xfrm>
            <a:off x="457200" y="1810512"/>
            <a:ext cx="347472" cy="347472"/>
          </a:xfrm>
          <a:prstGeom prst="ellipse">
            <a:avLst/>
          </a:prstGeom>
          <a:solidFill>
            <a:srgbClr val="2C2C2C"/>
          </a:solidFill>
          <a:ln w="12700">
            <a:solidFill>
              <a:srgbClr val="2C2C2C"/>
            </a:solidFill>
            <a:prstDash val="solid"/>
          </a:ln>
        </p:spPr>
      </p:sp>
      <p:sp>
        <p:nvSpPr>
          <p:cNvPr id="8" name="Text 6"/>
          <p:cNvSpPr txBox="1"/>
          <p:nvPr/>
        </p:nvSpPr>
        <p:spPr>
          <a:xfrm>
            <a:off x="457200" y="181051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9" name="Text 7"/>
          <p:cNvSpPr txBox="1"/>
          <p:nvPr/>
        </p:nvSpPr>
        <p:spPr>
          <a:xfrm>
            <a:off x="914400" y="1783080"/>
            <a:ext cx="4297680" cy="530352"/>
          </a:xfrm>
          <a:prstGeom prst="rect">
            <a:avLst/>
          </a:prstGeom>
          <a:noFill/>
          <a:ln/>
        </p:spPr>
        <p:txBody>
          <a:bodyPr wrap="square" lIns="0" tIns="0" rIns="0" bIns="0" rtlCol="0" anchor="t"/>
          <a:lstStyle/>
          <a:p>
            <a:pPr indent="0" marL="0">
              <a:buNone/>
            </a:pPr>
            <a:r>
              <a:rPr lang="en-US" sz="1200" b="1" dirty="0">
                <a:solidFill>
                  <a:srgbClr val="1E1E1E"/>
                </a:solidFill>
                <a:latin typeface="Calibri" pitchFamily="34" charset="0"/>
                <a:ea typeface="Calibri" pitchFamily="34" charset="-122"/>
                <a:cs typeface="Calibri" pitchFamily="34" charset="-120"/>
              </a:rPr>
              <a:t>Téléverser un fichier</a:t>
            </a:r>
            <a:endParaRPr lang="en-US" sz="1200" dirty="0"/>
          </a:p>
          <a:p>
            <a:pPr indent="0" marL="0">
              <a:buNone/>
            </a:pPr>
            <a:r>
              <a:rPr lang="en-US" sz="950" dirty="0">
                <a:solidFill>
                  <a:srgbClr val="6B6B6B"/>
                </a:solidFill>
                <a:latin typeface="Calibri" pitchFamily="34" charset="0"/>
                <a:ea typeface="Calibri" pitchFamily="34" charset="-122"/>
                <a:cs typeface="Calibri" pitchFamily="34" charset="-120"/>
              </a:rPr>
              <a:t>Expiration 3 jours, mot de passe, tags — lien de partage copié en un clic</a:t>
            </a:r>
            <a:endParaRPr lang="en-US" sz="1200" dirty="0"/>
          </a:p>
        </p:txBody>
      </p:sp>
      <p:sp>
        <p:nvSpPr>
          <p:cNvPr id="10" name="Shape 8"/>
          <p:cNvSpPr/>
          <p:nvPr/>
        </p:nvSpPr>
        <p:spPr>
          <a:xfrm>
            <a:off x="457200" y="2359152"/>
            <a:ext cx="347472" cy="347472"/>
          </a:xfrm>
          <a:prstGeom prst="ellipse">
            <a:avLst/>
          </a:prstGeom>
          <a:solidFill>
            <a:srgbClr val="2C2C2C"/>
          </a:solidFill>
          <a:ln w="12700">
            <a:solidFill>
              <a:srgbClr val="2C2C2C"/>
            </a:solidFill>
            <a:prstDash val="solid"/>
          </a:ln>
        </p:spPr>
      </p:sp>
      <p:sp>
        <p:nvSpPr>
          <p:cNvPr id="11" name="Text 9"/>
          <p:cNvSpPr txBox="1"/>
          <p:nvPr/>
        </p:nvSpPr>
        <p:spPr>
          <a:xfrm>
            <a:off x="457200" y="235915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2" name="Text 10"/>
          <p:cNvSpPr txBox="1"/>
          <p:nvPr/>
        </p:nvSpPr>
        <p:spPr>
          <a:xfrm>
            <a:off x="914400" y="2331720"/>
            <a:ext cx="4297680" cy="530352"/>
          </a:xfrm>
          <a:prstGeom prst="rect">
            <a:avLst/>
          </a:prstGeom>
          <a:noFill/>
          <a:ln/>
        </p:spPr>
        <p:txBody>
          <a:bodyPr wrap="square" lIns="0" tIns="0" rIns="0" bIns="0" rtlCol="0" anchor="t"/>
          <a:lstStyle/>
          <a:p>
            <a:pPr indent="0" marL="0">
              <a:buNone/>
            </a:pPr>
            <a:r>
              <a:rPr lang="en-US" sz="1200" b="1" dirty="0">
                <a:solidFill>
                  <a:srgbClr val="1E1E1E"/>
                </a:solidFill>
                <a:latin typeface="Calibri" pitchFamily="34" charset="0"/>
                <a:ea typeface="Calibri" pitchFamily="34" charset="-122"/>
                <a:cs typeface="Calibri" pitchFamily="34" charset="-120"/>
              </a:rPr>
              <a:t>Mon espace</a:t>
            </a:r>
            <a:endParaRPr lang="en-US" sz="1200" dirty="0"/>
          </a:p>
          <a:p>
            <a:pPr indent="0" marL="0">
              <a:buNone/>
            </a:pPr>
            <a:r>
              <a:rPr lang="en-US" sz="950" dirty="0">
                <a:solidFill>
                  <a:srgbClr val="6B6B6B"/>
                </a:solidFill>
                <a:latin typeface="Calibri" pitchFamily="34" charset="0"/>
                <a:ea typeface="Calibri" pitchFamily="34" charset="-122"/>
                <a:cs typeface="Calibri" pitchFamily="34" charset="-120"/>
              </a:rPr>
              <a:t>Historique, onglets actifs / expirés, filtre par tag, accès au lien</a:t>
            </a:r>
            <a:endParaRPr lang="en-US" sz="1200" dirty="0"/>
          </a:p>
        </p:txBody>
      </p:sp>
      <p:sp>
        <p:nvSpPr>
          <p:cNvPr id="13" name="Shape 11"/>
          <p:cNvSpPr/>
          <p:nvPr/>
        </p:nvSpPr>
        <p:spPr>
          <a:xfrm>
            <a:off x="457200" y="2907792"/>
            <a:ext cx="347472" cy="347472"/>
          </a:xfrm>
          <a:prstGeom prst="ellipse">
            <a:avLst/>
          </a:prstGeom>
          <a:solidFill>
            <a:srgbClr val="2C2C2C"/>
          </a:solidFill>
          <a:ln w="12700">
            <a:solidFill>
              <a:srgbClr val="2C2C2C"/>
            </a:solidFill>
            <a:prstDash val="solid"/>
          </a:ln>
        </p:spPr>
      </p:sp>
      <p:sp>
        <p:nvSpPr>
          <p:cNvPr id="14" name="Text 12"/>
          <p:cNvSpPr txBox="1"/>
          <p:nvPr/>
        </p:nvSpPr>
        <p:spPr>
          <a:xfrm>
            <a:off x="457200" y="290779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5" name="Text 13"/>
          <p:cNvSpPr txBox="1"/>
          <p:nvPr/>
        </p:nvSpPr>
        <p:spPr>
          <a:xfrm>
            <a:off x="914400" y="2880360"/>
            <a:ext cx="4297680" cy="530352"/>
          </a:xfrm>
          <a:prstGeom prst="rect">
            <a:avLst/>
          </a:prstGeom>
          <a:noFill/>
          <a:ln/>
        </p:spPr>
        <p:txBody>
          <a:bodyPr wrap="square" lIns="0" tIns="0" rIns="0" bIns="0" rtlCol="0" anchor="t"/>
          <a:lstStyle/>
          <a:p>
            <a:pPr indent="0" marL="0">
              <a:buNone/>
            </a:pPr>
            <a:r>
              <a:rPr lang="en-US" sz="1200" b="1" dirty="0">
                <a:solidFill>
                  <a:srgbClr val="1E1E1E"/>
                </a:solidFill>
                <a:latin typeface="Calibri" pitchFamily="34" charset="0"/>
                <a:ea typeface="Calibri" pitchFamily="34" charset="-122"/>
                <a:cs typeface="Calibri" pitchFamily="34" charset="-120"/>
              </a:rPr>
              <a:t>Côté destinataire (fenêtre privée)</a:t>
            </a:r>
            <a:endParaRPr lang="en-US" sz="1200" dirty="0"/>
          </a:p>
          <a:p>
            <a:pPr indent="0" marL="0">
              <a:buNone/>
            </a:pPr>
            <a:r>
              <a:rPr lang="en-US" sz="950" dirty="0">
                <a:solidFill>
                  <a:srgbClr val="6B6B6B"/>
                </a:solidFill>
                <a:latin typeface="Calibri" pitchFamily="34" charset="0"/>
                <a:ea typeface="Calibri" pitchFamily="34" charset="-122"/>
                <a:cs typeface="Calibri" pitchFamily="34" charset="-120"/>
              </a:rPr>
              <a:t>Lien → nom et taille → mot de passe → téléchargement, nom d'origine conservé</a:t>
            </a:r>
            <a:endParaRPr lang="en-US" sz="1200" dirty="0"/>
          </a:p>
        </p:txBody>
      </p:sp>
      <p:sp>
        <p:nvSpPr>
          <p:cNvPr id="16" name="Shape 14"/>
          <p:cNvSpPr/>
          <p:nvPr/>
        </p:nvSpPr>
        <p:spPr>
          <a:xfrm>
            <a:off x="457200" y="3456432"/>
            <a:ext cx="347472" cy="347472"/>
          </a:xfrm>
          <a:prstGeom prst="ellipse">
            <a:avLst/>
          </a:prstGeom>
          <a:solidFill>
            <a:srgbClr val="2C2C2C"/>
          </a:solidFill>
          <a:ln w="12700">
            <a:solidFill>
              <a:srgbClr val="2C2C2C"/>
            </a:solidFill>
            <a:prstDash val="solid"/>
          </a:ln>
        </p:spPr>
      </p:sp>
      <p:sp>
        <p:nvSpPr>
          <p:cNvPr id="17" name="Text 15"/>
          <p:cNvSpPr txBox="1"/>
          <p:nvPr/>
        </p:nvSpPr>
        <p:spPr>
          <a:xfrm>
            <a:off x="457200" y="345643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8" name="Text 16"/>
          <p:cNvSpPr txBox="1"/>
          <p:nvPr/>
        </p:nvSpPr>
        <p:spPr>
          <a:xfrm>
            <a:off x="914400" y="3429000"/>
            <a:ext cx="4297680" cy="530352"/>
          </a:xfrm>
          <a:prstGeom prst="rect">
            <a:avLst/>
          </a:prstGeom>
          <a:noFill/>
          <a:ln/>
        </p:spPr>
        <p:txBody>
          <a:bodyPr wrap="square" lIns="0" tIns="0" rIns="0" bIns="0" rtlCol="0" anchor="t"/>
          <a:lstStyle/>
          <a:p>
            <a:pPr indent="0" marL="0">
              <a:buNone/>
            </a:pPr>
            <a:r>
              <a:rPr lang="en-US" sz="1200" b="1" dirty="0">
                <a:solidFill>
                  <a:srgbClr val="1E1E1E"/>
                </a:solidFill>
                <a:latin typeface="Calibri" pitchFamily="34" charset="0"/>
                <a:ea typeface="Calibri" pitchFamily="34" charset="-122"/>
                <a:cs typeface="Calibri" pitchFamily="34" charset="-120"/>
              </a:rPr>
              <a:t>Gestion des erreurs</a:t>
            </a:r>
            <a:endParaRPr lang="en-US" sz="1200" dirty="0"/>
          </a:p>
          <a:p>
            <a:pPr indent="0" marL="0">
              <a:buNone/>
            </a:pPr>
            <a:r>
              <a:rPr lang="en-US" sz="950" dirty="0">
                <a:solidFill>
                  <a:srgbClr val="6B6B6B"/>
                </a:solidFill>
                <a:latin typeface="Calibri" pitchFamily="34" charset="0"/>
                <a:ea typeface="Calibri" pitchFamily="34" charset="-122"/>
                <a:cs typeface="Calibri" pitchFamily="34" charset="-120"/>
              </a:rPr>
              <a:t>Mauvais mot de passe · fichier .exe refusé · lien inconnu → messages explicites, jamais d'écran blanc</a:t>
            </a:r>
            <a:endParaRPr lang="en-US" sz="1200" dirty="0"/>
          </a:p>
        </p:txBody>
      </p:sp>
      <p:sp>
        <p:nvSpPr>
          <p:cNvPr id="19" name="Shape 17"/>
          <p:cNvSpPr/>
          <p:nvPr/>
        </p:nvSpPr>
        <p:spPr>
          <a:xfrm>
            <a:off x="457200" y="4005072"/>
            <a:ext cx="347472" cy="347472"/>
          </a:xfrm>
          <a:prstGeom prst="ellipse">
            <a:avLst/>
          </a:prstGeom>
          <a:solidFill>
            <a:srgbClr val="2C2C2C"/>
          </a:solidFill>
          <a:ln w="12700">
            <a:solidFill>
              <a:srgbClr val="2C2C2C"/>
            </a:solidFill>
            <a:prstDash val="solid"/>
          </a:ln>
        </p:spPr>
      </p:sp>
      <p:sp>
        <p:nvSpPr>
          <p:cNvPr id="20" name="Text 18"/>
          <p:cNvSpPr txBox="1"/>
          <p:nvPr/>
        </p:nvSpPr>
        <p:spPr>
          <a:xfrm>
            <a:off x="457200" y="400507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1" name="Text 19"/>
          <p:cNvSpPr txBox="1"/>
          <p:nvPr/>
        </p:nvSpPr>
        <p:spPr>
          <a:xfrm>
            <a:off x="914400" y="3977640"/>
            <a:ext cx="4297680" cy="530352"/>
          </a:xfrm>
          <a:prstGeom prst="rect">
            <a:avLst/>
          </a:prstGeom>
          <a:noFill/>
          <a:ln/>
        </p:spPr>
        <p:txBody>
          <a:bodyPr wrap="square" lIns="0" tIns="0" rIns="0" bIns="0" rtlCol="0" anchor="t"/>
          <a:lstStyle/>
          <a:p>
            <a:pPr indent="0" marL="0">
              <a:buNone/>
            </a:pPr>
            <a:r>
              <a:rPr lang="en-US" sz="1200" b="1" dirty="0">
                <a:solidFill>
                  <a:srgbClr val="1E1E1E"/>
                </a:solidFill>
                <a:latin typeface="Calibri" pitchFamily="34" charset="0"/>
                <a:ea typeface="Calibri" pitchFamily="34" charset="-122"/>
                <a:cs typeface="Calibri" pitchFamily="34" charset="-120"/>
              </a:rPr>
              <a:t>Supprimer, puis observer</a:t>
            </a:r>
            <a:endParaRPr lang="en-US" sz="1200" dirty="0"/>
          </a:p>
          <a:p>
            <a:pPr indent="0" marL="0">
              <a:buNone/>
            </a:pPr>
            <a:r>
              <a:rPr lang="en-US" sz="950" dirty="0">
                <a:solidFill>
                  <a:srgbClr val="6B6B6B"/>
                </a:solidFill>
                <a:latin typeface="Calibri" pitchFamily="34" charset="0"/>
                <a:ea typeface="Calibri" pitchFamily="34" charset="-122"/>
                <a:cs typeface="Calibri" pitchFamily="34" charset="-120"/>
              </a:rPr>
              <a:t>Le lien devient invalide ; docker compose logs api → métriques structurées de chaque requête</a:t>
            </a:r>
            <a:endParaRPr lang="en-US" sz="1200" dirty="0"/>
          </a:p>
        </p:txBody>
      </p:sp>
      <p:sp>
        <p:nvSpPr>
          <p:cNvPr id="22" name="Shape 20"/>
          <p:cNvSpPr/>
          <p:nvPr/>
        </p:nvSpPr>
        <p:spPr>
          <a:xfrm>
            <a:off x="5349240" y="1234440"/>
            <a:ext cx="3429000" cy="2697480"/>
          </a:xfrm>
          <a:prstGeom prst="roundRect">
            <a:avLst>
              <a:gd name="adj" fmla="val 3390"/>
            </a:avLst>
          </a:prstGeom>
          <a:solidFill>
            <a:srgbClr val="FFFFFF"/>
          </a:solidFill>
          <a:ln w="9525">
            <a:solidFill>
              <a:srgbClr val="E6E0DB"/>
            </a:solidFill>
            <a:prstDash val="solid"/>
          </a:ln>
          <a:effectLst>
            <a:outerShdw sx="100000" sy="100000" kx="0" ky="0" algn="bl" rotWithShape="0" blurRad="76200" dist="25400" dir="5400000">
              <a:srgbClr val="000000">
                <a:alpha val="18000"/>
              </a:srgbClr>
            </a:outerShdw>
          </a:effectLst>
        </p:spPr>
      </p:sp>
      <p:pic>
        <p:nvPicPr>
          <p:cNvPr id="23" name="Image 0" descr="/tmp/claude-0/-home-claude/d78ed772-074e-53f4-9eac-5137bea30025/scratchpad/deck/assets/login.png">    </p:cNvPr>
          <p:cNvPicPr>
            <a:picLocks noChangeAspect="1"/>
          </p:cNvPicPr>
          <p:nvPr/>
        </p:nvPicPr>
        <p:blipFill>
          <a:blip r:embed="rId1"/>
          <a:stretch>
            <a:fillRect/>
          </a:stretch>
        </p:blipFill>
        <p:spPr>
          <a:xfrm>
            <a:off x="5458968" y="1344168"/>
            <a:ext cx="3209544" cy="1938528"/>
          </a:xfrm>
          <a:prstGeom prst="rect">
            <a:avLst/>
          </a:prstGeom>
        </p:spPr>
      </p:pic>
      <p:sp>
        <p:nvSpPr>
          <p:cNvPr id="24" name="Text 21"/>
          <p:cNvSpPr txBox="1"/>
          <p:nvPr/>
        </p:nvSpPr>
        <p:spPr>
          <a:xfrm>
            <a:off x="5458968" y="3337560"/>
            <a:ext cx="3209544" cy="457200"/>
          </a:xfrm>
          <a:prstGeom prst="rect">
            <a:avLst/>
          </a:prstGeom>
          <a:noFill/>
          <a:ln/>
        </p:spPr>
        <p:txBody>
          <a:bodyPr wrap="square" lIns="0" tIns="0" rIns="0" bIns="0" rtlCol="0" anchor="ctr"/>
          <a:lstStyle/>
          <a:p>
            <a:pPr algn="ctr" indent="0" marL="0">
              <a:buNone/>
            </a:pPr>
            <a:r>
              <a:rPr lang="en-US" sz="1000" i="1" dirty="0">
                <a:solidFill>
                  <a:srgbClr val="6B6B6B"/>
                </a:solidFill>
                <a:latin typeface="Calibri" pitchFamily="34" charset="0"/>
                <a:ea typeface="Calibri" pitchFamily="34" charset="-122"/>
                <a:cs typeface="Calibri" pitchFamily="34" charset="-120"/>
              </a:rPr>
              <a:t>Écran de connexion (maquette Figma respectée)</a:t>
            </a:r>
            <a:endParaRPr lang="en-US" sz="1000" dirty="0"/>
          </a:p>
        </p:txBody>
      </p:sp>
      <p:sp>
        <p:nvSpPr>
          <p:cNvPr id="25" name="Text 22"/>
          <p:cNvSpPr txBox="1"/>
          <p:nvPr/>
        </p:nvSpPr>
        <p:spPr>
          <a:xfrm>
            <a:off x="5349240" y="4069080"/>
            <a:ext cx="3429000" cy="502920"/>
          </a:xfrm>
          <a:prstGeom prst="rect">
            <a:avLst/>
          </a:prstGeom>
          <a:solidFill>
            <a:srgbClr val="FFF4EE"/>
          </a:solidFill>
          <a:ln/>
        </p:spPr>
        <p:txBody>
          <a:bodyPr wrap="square" lIns="0" tIns="0" rIns="0" bIns="0" rtlCol="0" anchor="ctr"/>
          <a:lstStyle/>
          <a:p>
            <a:pPr indent="0" marL="0">
              <a:buNone/>
            </a:pPr>
            <a:r>
              <a:rPr lang="en-US" sz="1000" b="1" dirty="0">
                <a:solidFill>
                  <a:srgbClr val="1E1E1E"/>
                </a:solidFill>
                <a:latin typeface="Calibri" pitchFamily="34" charset="0"/>
                <a:ea typeface="Calibri" pitchFamily="34" charset="-122"/>
                <a:cs typeface="Calibri" pitchFamily="34" charset="-120"/>
              </a:rPr>
              <a:t>Plan B : </a:t>
            </a:r>
            <a:pPr indent="0" marL="0">
              <a:buNone/>
            </a:pPr>
            <a:r>
              <a:rPr lang="en-US" sz="1000" dirty="0">
                <a:solidFill>
                  <a:srgbClr val="1E1E1E"/>
                </a:solidFill>
                <a:latin typeface="Calibri" pitchFamily="34" charset="0"/>
                <a:ea typeface="Calibri" pitchFamily="34" charset="-122"/>
                <a:cs typeface="Calibri" pitchFamily="34" charset="-120"/>
              </a:rPr>
              <a:t>captures d'écran des 5 pages et de Swagger dans docs/soutenance/screenshots</a:t>
            </a:r>
            <a:endParaRPr lang="en-US" sz="1000" dirty="0"/>
          </a:p>
        </p:txBody>
      </p:sp>
      <p:sp>
        <p:nvSpPr>
          <p:cNvPr id="26" name="Text 23"/>
          <p:cNvSpPr txBox="1"/>
          <p:nvPr/>
        </p:nvSpPr>
        <p:spPr>
          <a:xfrm>
            <a:off x="457200" y="4818888"/>
            <a:ext cx="4572000" cy="228600"/>
          </a:xfrm>
          <a:prstGeom prst="rect">
            <a:avLst/>
          </a:prstGeom>
          <a:noFill/>
          <a:ln/>
        </p:spPr>
        <p:txBody>
          <a:bodyPr wrap="square" lIns="0" tIns="0" rIns="0" bIns="0" rtlCol="0" anchor="ctr"/>
          <a:lstStyle/>
          <a:p>
            <a:pPr indent="0" marL="0">
              <a:buNone/>
            </a:pPr>
            <a:r>
              <a:rPr lang="en-US" sz="900" dirty="0">
                <a:solidFill>
                  <a:srgbClr val="A0A0A0"/>
                </a:solidFill>
                <a:latin typeface="Calibri" pitchFamily="34" charset="0"/>
                <a:ea typeface="Calibri" pitchFamily="34" charset="-122"/>
                <a:cs typeface="Calibri" pitchFamily="34" charset="-120"/>
              </a:rPr>
              <a:t>DataShare — Soutenance Projet 4</a:t>
            </a:r>
            <a:endParaRPr lang="en-US" sz="900" dirty="0"/>
          </a:p>
        </p:txBody>
      </p:sp>
      <p:sp>
        <p:nvSpPr>
          <p:cNvPr id="27" name="Text 24"/>
          <p:cNvSpPr txBox="1"/>
          <p:nvPr/>
        </p:nvSpPr>
        <p:spPr>
          <a:xfrm>
            <a:off x="8229600" y="4818888"/>
            <a:ext cx="457200" cy="228600"/>
          </a:xfrm>
          <a:prstGeom prst="rect">
            <a:avLst/>
          </a:prstGeom>
          <a:noFill/>
          <a:ln/>
        </p:spPr>
        <p:txBody>
          <a:bodyPr wrap="square" lIns="0" tIns="0" rIns="0" bIns="0" rtlCol="0" anchor="ctr"/>
          <a:lstStyle/>
          <a:p>
            <a:pPr algn="r" indent="0" marL="0">
              <a:buNone/>
            </a:pPr>
            <a:r>
              <a:rPr lang="en-US" sz="900" dirty="0">
                <a:solidFill>
                  <a:srgbClr val="A0A0A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3000" b="1" dirty="0">
                <a:solidFill>
                  <a:srgbClr val="2C2C2C"/>
                </a:solidFill>
                <a:latin typeface="Calibri" pitchFamily="34" charset="0"/>
                <a:ea typeface="Calibri" pitchFamily="34" charset="-122"/>
                <a:cs typeface="Calibri" pitchFamily="34" charset="-120"/>
              </a:rPr>
              <a:t>Qualité : tests et couverture</a:t>
            </a:r>
            <a:endParaRPr lang="en-US" sz="3000" dirty="0"/>
          </a:p>
        </p:txBody>
      </p:sp>
      <p:sp>
        <p:nvSpPr>
          <p:cNvPr id="3" name="Text 1"/>
          <p:cNvSpPr txBox="1"/>
          <p:nvPr/>
        </p:nvSpPr>
        <p:spPr>
          <a:xfrm>
            <a:off x="457200" y="804672"/>
            <a:ext cx="8229600" cy="292608"/>
          </a:xfrm>
          <a:prstGeom prst="rect">
            <a:avLst/>
          </a:prstGeom>
          <a:noFill/>
          <a:ln/>
        </p:spPr>
        <p:txBody>
          <a:bodyPr wrap="square" lIns="0" tIns="0" rIns="0" bIns="0" rtlCol="0" anchor="ctr"/>
          <a:lstStyle/>
          <a:p>
            <a:pPr indent="0" marL="0">
              <a:buNone/>
            </a:pPr>
            <a:r>
              <a:rPr lang="en-US" sz="1300" dirty="0">
                <a:solidFill>
                  <a:srgbClr val="6B6B6B"/>
                </a:solidFill>
                <a:latin typeface="Calibri" pitchFamily="34" charset="0"/>
                <a:ea typeface="Calibri" pitchFamily="34" charset="-122"/>
                <a:cs typeface="Calibri" pitchFamily="34" charset="-120"/>
              </a:rPr>
              <a:t>Pyramide de tests exécutable — plan de tests par user story avec critères d'acceptation (TESTING.md)</a:t>
            </a:r>
            <a:endParaRPr lang="en-US" sz="1300" dirty="0"/>
          </a:p>
        </p:txBody>
      </p:sp>
      <p:sp>
        <p:nvSpPr>
          <p:cNvPr id="4" name="Shape 2"/>
          <p:cNvSpPr/>
          <p:nvPr/>
        </p:nvSpPr>
        <p:spPr>
          <a:xfrm>
            <a:off x="457200" y="1188720"/>
            <a:ext cx="1920240" cy="1051560"/>
          </a:xfrm>
          <a:prstGeom prst="roundRect">
            <a:avLst>
              <a:gd name="adj" fmla="val 6957"/>
            </a:avLst>
          </a:prstGeom>
          <a:solidFill>
            <a:srgbClr val="FFFFFF"/>
          </a:solidFill>
          <a:ln w="6350">
            <a:solidFill>
              <a:srgbClr val="E6E0DB"/>
            </a:solidFill>
            <a:prstDash val="solid"/>
          </a:ln>
          <a:effectLst>
            <a:outerShdw sx="100000" sy="100000" kx="0" ky="0" algn="bl" rotWithShape="0" blurRad="76200" dist="25400" dir="5400000">
              <a:srgbClr val="000000">
                <a:alpha val="18000"/>
              </a:srgbClr>
            </a:outerShdw>
          </a:effectLst>
        </p:spPr>
      </p:sp>
      <p:sp>
        <p:nvSpPr>
          <p:cNvPr id="5" name="Text 3"/>
          <p:cNvSpPr txBox="1"/>
          <p:nvPr/>
        </p:nvSpPr>
        <p:spPr>
          <a:xfrm>
            <a:off x="594360" y="1280160"/>
            <a:ext cx="1645920" cy="525780"/>
          </a:xfrm>
          <a:prstGeom prst="rect">
            <a:avLst/>
          </a:prstGeom>
          <a:noFill/>
          <a:ln/>
        </p:spPr>
        <p:txBody>
          <a:bodyPr wrap="square" lIns="0" tIns="0" rIns="0" bIns="0" rtlCol="0" anchor="b"/>
          <a:lstStyle/>
          <a:p>
            <a:pPr indent="0" marL="0">
              <a:buNone/>
            </a:pPr>
            <a:r>
              <a:rPr lang="en-US" sz="3000" b="1" dirty="0">
                <a:solidFill>
                  <a:srgbClr val="DE6262"/>
                </a:solidFill>
                <a:latin typeface="Calibri" pitchFamily="34" charset="0"/>
                <a:ea typeface="Calibri" pitchFamily="34" charset="-122"/>
                <a:cs typeface="Calibri" pitchFamily="34" charset="-120"/>
              </a:rPr>
              <a:t>41</a:t>
            </a:r>
            <a:endParaRPr lang="en-US" sz="3000" dirty="0"/>
          </a:p>
        </p:txBody>
      </p:sp>
      <p:sp>
        <p:nvSpPr>
          <p:cNvPr id="6" name="Text 4"/>
          <p:cNvSpPr txBox="1"/>
          <p:nvPr/>
        </p:nvSpPr>
        <p:spPr>
          <a:xfrm>
            <a:off x="594360" y="1798625"/>
            <a:ext cx="1691640" cy="420624"/>
          </a:xfrm>
          <a:prstGeom prst="rect">
            <a:avLst/>
          </a:prstGeom>
          <a:noFill/>
          <a:ln/>
        </p:spPr>
        <p:txBody>
          <a:bodyPr wrap="square" lIns="0" tIns="0" rIns="0" bIns="0" rtlCol="0" anchor="t"/>
          <a:lstStyle/>
          <a:p>
            <a:pPr indent="0" marL="0">
              <a:buNone/>
            </a:pPr>
            <a:r>
              <a:rPr lang="en-US" sz="1000" dirty="0">
                <a:solidFill>
                  <a:srgbClr val="6B6B6B"/>
                </a:solidFill>
                <a:latin typeface="Calibri" pitchFamily="34" charset="0"/>
                <a:ea typeface="Calibri" pitchFamily="34" charset="-122"/>
                <a:cs typeface="Calibri" pitchFamily="34" charset="-120"/>
              </a:rPr>
              <a:t>tests xUnit backend</a:t>
            </a:r>
            <a:endParaRPr lang="en-US" sz="1000" dirty="0"/>
          </a:p>
          <a:p>
            <a:pPr indent="0" marL="0">
              <a:buNone/>
            </a:pPr>
            <a:r>
              <a:rPr lang="en-US" sz="1000" dirty="0">
                <a:solidFill>
                  <a:srgbClr val="6B6B6B"/>
                </a:solidFill>
                <a:latin typeface="Calibri" pitchFamily="34" charset="0"/>
                <a:ea typeface="Calibri" pitchFamily="34" charset="-122"/>
                <a:cs typeface="Calibri" pitchFamily="34" charset="-120"/>
              </a:rPr>
              <a:t>2 unitaires · 39 d'intégration</a:t>
            </a:r>
            <a:endParaRPr lang="en-US" sz="1000" dirty="0"/>
          </a:p>
        </p:txBody>
      </p:sp>
      <p:sp>
        <p:nvSpPr>
          <p:cNvPr id="7" name="Shape 5"/>
          <p:cNvSpPr/>
          <p:nvPr/>
        </p:nvSpPr>
        <p:spPr>
          <a:xfrm>
            <a:off x="2560320" y="1188720"/>
            <a:ext cx="1920240" cy="1051560"/>
          </a:xfrm>
          <a:prstGeom prst="roundRect">
            <a:avLst>
              <a:gd name="adj" fmla="val 6957"/>
            </a:avLst>
          </a:prstGeom>
          <a:solidFill>
            <a:srgbClr val="FFFFFF"/>
          </a:solidFill>
          <a:ln w="6350">
            <a:solidFill>
              <a:srgbClr val="E6E0DB"/>
            </a:solidFill>
            <a:prstDash val="solid"/>
          </a:ln>
          <a:effectLst>
            <a:outerShdw sx="100000" sy="100000" kx="0" ky="0" algn="bl" rotWithShape="0" blurRad="76200" dist="25400" dir="5400000">
              <a:srgbClr val="000000">
                <a:alpha val="18000"/>
              </a:srgbClr>
            </a:outerShdw>
          </a:effectLst>
        </p:spPr>
      </p:sp>
      <p:sp>
        <p:nvSpPr>
          <p:cNvPr id="8" name="Text 6"/>
          <p:cNvSpPr txBox="1"/>
          <p:nvPr/>
        </p:nvSpPr>
        <p:spPr>
          <a:xfrm>
            <a:off x="2697480" y="1280160"/>
            <a:ext cx="1645920" cy="525780"/>
          </a:xfrm>
          <a:prstGeom prst="rect">
            <a:avLst/>
          </a:prstGeom>
          <a:noFill/>
          <a:ln/>
        </p:spPr>
        <p:txBody>
          <a:bodyPr wrap="square" lIns="0" tIns="0" rIns="0" bIns="0" rtlCol="0" anchor="b"/>
          <a:lstStyle/>
          <a:p>
            <a:pPr indent="0" marL="0">
              <a:buNone/>
            </a:pPr>
            <a:r>
              <a:rPr lang="en-US" sz="3000" b="1" dirty="0">
                <a:solidFill>
                  <a:srgbClr val="2E8B57"/>
                </a:solidFill>
                <a:latin typeface="Calibri" pitchFamily="34" charset="0"/>
                <a:ea typeface="Calibri" pitchFamily="34" charset="-122"/>
                <a:cs typeface="Calibri" pitchFamily="34" charset="-120"/>
              </a:rPr>
              <a:t>83 %</a:t>
            </a:r>
            <a:endParaRPr lang="en-US" sz="3000" dirty="0"/>
          </a:p>
        </p:txBody>
      </p:sp>
      <p:sp>
        <p:nvSpPr>
          <p:cNvPr id="9" name="Text 7"/>
          <p:cNvSpPr txBox="1"/>
          <p:nvPr/>
        </p:nvSpPr>
        <p:spPr>
          <a:xfrm>
            <a:off x="2697480" y="1798625"/>
            <a:ext cx="1691640" cy="420624"/>
          </a:xfrm>
          <a:prstGeom prst="rect">
            <a:avLst/>
          </a:prstGeom>
          <a:noFill/>
          <a:ln/>
        </p:spPr>
        <p:txBody>
          <a:bodyPr wrap="square" lIns="0" tIns="0" rIns="0" bIns="0" rtlCol="0" anchor="t"/>
          <a:lstStyle/>
          <a:p>
            <a:pPr indent="0" marL="0">
              <a:buNone/>
            </a:pPr>
            <a:r>
              <a:rPr lang="en-US" sz="1000" dirty="0">
                <a:solidFill>
                  <a:srgbClr val="6B6B6B"/>
                </a:solidFill>
                <a:latin typeface="Calibri" pitchFamily="34" charset="0"/>
                <a:ea typeface="Calibri" pitchFamily="34" charset="-122"/>
                <a:cs typeface="Calibri" pitchFamily="34" charset="-120"/>
              </a:rPr>
              <a:t>couverture du code métier</a:t>
            </a:r>
            <a:endParaRPr lang="en-US" sz="1000" dirty="0"/>
          </a:p>
          <a:p>
            <a:pPr indent="0" marL="0">
              <a:buNone/>
            </a:pPr>
            <a:r>
              <a:rPr lang="en-US" sz="1000" dirty="0">
                <a:solidFill>
                  <a:srgbClr val="6B6B6B"/>
                </a:solidFill>
                <a:latin typeface="Calibri" pitchFamily="34" charset="0"/>
                <a:ea typeface="Calibri" pitchFamily="34" charset="-122"/>
                <a:cs typeface="Calibri" pitchFamily="34" charset="-120"/>
              </a:rPr>
              <a:t>(cible ≥ 70 %, hors migrations)</a:t>
            </a:r>
            <a:endParaRPr lang="en-US" sz="1000" dirty="0"/>
          </a:p>
        </p:txBody>
      </p:sp>
      <p:sp>
        <p:nvSpPr>
          <p:cNvPr id="10" name="Shape 8"/>
          <p:cNvSpPr/>
          <p:nvPr/>
        </p:nvSpPr>
        <p:spPr>
          <a:xfrm>
            <a:off x="4663440" y="1188720"/>
            <a:ext cx="1920240" cy="1051560"/>
          </a:xfrm>
          <a:prstGeom prst="roundRect">
            <a:avLst>
              <a:gd name="adj" fmla="val 6957"/>
            </a:avLst>
          </a:prstGeom>
          <a:solidFill>
            <a:srgbClr val="FFFFFF"/>
          </a:solidFill>
          <a:ln w="6350">
            <a:solidFill>
              <a:srgbClr val="E6E0DB"/>
            </a:solidFill>
            <a:prstDash val="solid"/>
          </a:ln>
          <a:effectLst>
            <a:outerShdw sx="100000" sy="100000" kx="0" ky="0" algn="bl" rotWithShape="0" blurRad="76200" dist="25400" dir="5400000">
              <a:srgbClr val="000000">
                <a:alpha val="18000"/>
              </a:srgbClr>
            </a:outerShdw>
          </a:effectLst>
        </p:spPr>
      </p:sp>
      <p:sp>
        <p:nvSpPr>
          <p:cNvPr id="11" name="Text 9"/>
          <p:cNvSpPr txBox="1"/>
          <p:nvPr/>
        </p:nvSpPr>
        <p:spPr>
          <a:xfrm>
            <a:off x="4800600" y="1280160"/>
            <a:ext cx="1645920" cy="525780"/>
          </a:xfrm>
          <a:prstGeom prst="rect">
            <a:avLst/>
          </a:prstGeom>
          <a:noFill/>
          <a:ln/>
        </p:spPr>
        <p:txBody>
          <a:bodyPr wrap="square" lIns="0" tIns="0" rIns="0" bIns="0" rtlCol="0" anchor="b"/>
          <a:lstStyle/>
          <a:p>
            <a:pPr indent="0" marL="0">
              <a:buNone/>
            </a:pPr>
            <a:r>
              <a:rPr lang="en-US" sz="3000" b="1" dirty="0">
                <a:solidFill>
                  <a:srgbClr val="DE6262"/>
                </a:solidFill>
                <a:latin typeface="Calibri" pitchFamily="34" charset="0"/>
                <a:ea typeface="Calibri" pitchFamily="34" charset="-122"/>
                <a:cs typeface="Calibri" pitchFamily="34" charset="-120"/>
              </a:rPr>
              <a:t>5</a:t>
            </a:r>
            <a:endParaRPr lang="en-US" sz="3000" dirty="0"/>
          </a:p>
        </p:txBody>
      </p:sp>
      <p:sp>
        <p:nvSpPr>
          <p:cNvPr id="12" name="Text 10"/>
          <p:cNvSpPr txBox="1"/>
          <p:nvPr/>
        </p:nvSpPr>
        <p:spPr>
          <a:xfrm>
            <a:off x="4800600" y="1798625"/>
            <a:ext cx="1691640" cy="420624"/>
          </a:xfrm>
          <a:prstGeom prst="rect">
            <a:avLst/>
          </a:prstGeom>
          <a:noFill/>
          <a:ln/>
        </p:spPr>
        <p:txBody>
          <a:bodyPr wrap="square" lIns="0" tIns="0" rIns="0" bIns="0" rtlCol="0" anchor="t"/>
          <a:lstStyle/>
          <a:p>
            <a:pPr indent="0" marL="0">
              <a:buNone/>
            </a:pPr>
            <a:r>
              <a:rPr lang="en-US" sz="1000" dirty="0">
                <a:solidFill>
                  <a:srgbClr val="6B6B6B"/>
                </a:solidFill>
                <a:latin typeface="Calibri" pitchFamily="34" charset="0"/>
                <a:ea typeface="Calibri" pitchFamily="34" charset="-122"/>
                <a:cs typeface="Calibri" pitchFamily="34" charset="-120"/>
              </a:rPr>
              <a:t>scénarios Cypress end-to-end</a:t>
            </a:r>
            <a:endParaRPr lang="en-US" sz="1000" dirty="0"/>
          </a:p>
          <a:p>
            <a:pPr indent="0" marL="0">
              <a:buNone/>
            </a:pPr>
            <a:r>
              <a:rPr lang="en-US" sz="1000" dirty="0">
                <a:solidFill>
                  <a:srgbClr val="6B6B6B"/>
                </a:solidFill>
                <a:latin typeface="Calibri" pitchFamily="34" charset="0"/>
                <a:ea typeface="Calibri" pitchFamily="34" charset="-122"/>
                <a:cs typeface="Calibri" pitchFamily="34" charset="-120"/>
              </a:rPr>
              <a:t>contre la stack Docker</a:t>
            </a:r>
            <a:endParaRPr lang="en-US" sz="1000" dirty="0"/>
          </a:p>
        </p:txBody>
      </p:sp>
      <p:sp>
        <p:nvSpPr>
          <p:cNvPr id="13" name="Shape 11"/>
          <p:cNvSpPr/>
          <p:nvPr/>
        </p:nvSpPr>
        <p:spPr>
          <a:xfrm>
            <a:off x="6766560" y="1188720"/>
            <a:ext cx="1920240" cy="1051560"/>
          </a:xfrm>
          <a:prstGeom prst="roundRect">
            <a:avLst>
              <a:gd name="adj" fmla="val 6957"/>
            </a:avLst>
          </a:prstGeom>
          <a:solidFill>
            <a:srgbClr val="FFFFFF"/>
          </a:solidFill>
          <a:ln w="6350">
            <a:solidFill>
              <a:srgbClr val="E6E0DB"/>
            </a:solidFill>
            <a:prstDash val="solid"/>
          </a:ln>
          <a:effectLst>
            <a:outerShdw sx="100000" sy="100000" kx="0" ky="0" algn="bl" rotWithShape="0" blurRad="76200" dist="25400" dir="5400000">
              <a:srgbClr val="000000">
                <a:alpha val="18000"/>
              </a:srgbClr>
            </a:outerShdw>
          </a:effectLst>
        </p:spPr>
      </p:sp>
      <p:sp>
        <p:nvSpPr>
          <p:cNvPr id="14" name="Text 12"/>
          <p:cNvSpPr txBox="1"/>
          <p:nvPr/>
        </p:nvSpPr>
        <p:spPr>
          <a:xfrm>
            <a:off x="6903720" y="1280160"/>
            <a:ext cx="1645920" cy="525780"/>
          </a:xfrm>
          <a:prstGeom prst="rect">
            <a:avLst/>
          </a:prstGeom>
          <a:noFill/>
          <a:ln/>
        </p:spPr>
        <p:txBody>
          <a:bodyPr wrap="square" lIns="0" tIns="0" rIns="0" bIns="0" rtlCol="0" anchor="b"/>
          <a:lstStyle/>
          <a:p>
            <a:pPr indent="0" marL="0">
              <a:buNone/>
            </a:pPr>
            <a:r>
              <a:rPr lang="en-US" sz="3000" b="1" dirty="0">
                <a:solidFill>
                  <a:srgbClr val="2E8B57"/>
                </a:solidFill>
                <a:latin typeface="Calibri" pitchFamily="34" charset="0"/>
                <a:ea typeface="Calibri" pitchFamily="34" charset="-122"/>
                <a:cs typeface="Calibri" pitchFamily="34" charset="-120"/>
              </a:rPr>
              <a:t>0</a:t>
            </a:r>
            <a:endParaRPr lang="en-US" sz="3000" dirty="0"/>
          </a:p>
        </p:txBody>
      </p:sp>
      <p:sp>
        <p:nvSpPr>
          <p:cNvPr id="15" name="Text 13"/>
          <p:cNvSpPr txBox="1"/>
          <p:nvPr/>
        </p:nvSpPr>
        <p:spPr>
          <a:xfrm>
            <a:off x="6903720" y="1798625"/>
            <a:ext cx="1691640" cy="420624"/>
          </a:xfrm>
          <a:prstGeom prst="rect">
            <a:avLst/>
          </a:prstGeom>
          <a:noFill/>
          <a:ln/>
        </p:spPr>
        <p:txBody>
          <a:bodyPr wrap="square" lIns="0" tIns="0" rIns="0" bIns="0" rtlCol="0" anchor="t"/>
          <a:lstStyle/>
          <a:p>
            <a:pPr indent="0" marL="0">
              <a:buNone/>
            </a:pPr>
            <a:r>
              <a:rPr lang="en-US" sz="1000" dirty="0">
                <a:solidFill>
                  <a:srgbClr val="6B6B6B"/>
                </a:solidFill>
                <a:latin typeface="Calibri" pitchFamily="34" charset="0"/>
                <a:ea typeface="Calibri" pitchFamily="34" charset="-122"/>
                <a:cs typeface="Calibri" pitchFamily="34" charset="-120"/>
              </a:rPr>
              <a:t>erreur ESLint · type-check strict</a:t>
            </a:r>
            <a:endParaRPr lang="en-US" sz="1000" dirty="0"/>
          </a:p>
          <a:p>
            <a:pPr indent="0" marL="0">
              <a:buNone/>
            </a:pPr>
            <a:r>
              <a:rPr lang="en-US" sz="1000" dirty="0">
                <a:solidFill>
                  <a:srgbClr val="6B6B6B"/>
                </a:solidFill>
                <a:latin typeface="Calibri" pitchFamily="34" charset="0"/>
                <a:ea typeface="Calibri" pitchFamily="34" charset="-122"/>
                <a:cs typeface="Calibri" pitchFamily="34" charset="-120"/>
              </a:rPr>
              <a:t>nullable C# activé</a:t>
            </a:r>
            <a:endParaRPr lang="en-US" sz="1000" dirty="0"/>
          </a:p>
        </p:txBody>
      </p:sp>
      <p:sp>
        <p:nvSpPr>
          <p:cNvPr id="16" name="Shape 14"/>
          <p:cNvSpPr/>
          <p:nvPr/>
        </p:nvSpPr>
        <p:spPr>
          <a:xfrm>
            <a:off x="457200" y="2468880"/>
            <a:ext cx="2651760" cy="1691640"/>
          </a:xfrm>
          <a:prstGeom prst="roundRect">
            <a:avLst>
              <a:gd name="adj" fmla="val 4324"/>
            </a:avLst>
          </a:prstGeom>
          <a:solidFill>
            <a:srgbClr val="FFF4EE"/>
          </a:solidFill>
          <a:ln w="6350">
            <a:solidFill>
              <a:srgbClr val="FFF4EE"/>
            </a:solidFill>
            <a:prstDash val="solid"/>
          </a:ln>
        </p:spPr>
      </p:sp>
      <p:sp>
        <p:nvSpPr>
          <p:cNvPr id="17" name="Shape 15"/>
          <p:cNvSpPr/>
          <p:nvPr/>
        </p:nvSpPr>
        <p:spPr>
          <a:xfrm>
            <a:off x="594360" y="2606040"/>
            <a:ext cx="365760" cy="365760"/>
          </a:xfrm>
          <a:prstGeom prst="ellipse">
            <a:avLst/>
          </a:prstGeom>
          <a:solidFill>
            <a:srgbClr val="DE6262"/>
          </a:solidFill>
          <a:ln w="12700">
            <a:solidFill>
              <a:srgbClr val="DE6262"/>
            </a:solidFill>
            <a:prstDash val="solid"/>
          </a:ln>
        </p:spPr>
      </p:sp>
      <p:pic>
        <p:nvPicPr>
          <p:cNvPr id="18" name="Image 0" descr="preencoded.png">    </p:cNvPr>
          <p:cNvPicPr>
            <a:picLocks noChangeAspect="1"/>
          </p:cNvPicPr>
          <p:nvPr/>
        </p:nvPicPr>
        <p:blipFill>
          <a:blip r:embed="rId1"/>
          <a:stretch>
            <a:fillRect/>
          </a:stretch>
        </p:blipFill>
        <p:spPr>
          <a:xfrm>
            <a:off x="682142" y="2693822"/>
            <a:ext cx="190195" cy="190195"/>
          </a:xfrm>
          <a:prstGeom prst="rect">
            <a:avLst/>
          </a:prstGeom>
        </p:spPr>
      </p:pic>
      <p:sp>
        <p:nvSpPr>
          <p:cNvPr id="19" name="Text 16"/>
          <p:cNvSpPr txBox="1"/>
          <p:nvPr/>
        </p:nvSpPr>
        <p:spPr>
          <a:xfrm>
            <a:off x="1051560" y="2624328"/>
            <a:ext cx="2011680" cy="329184"/>
          </a:xfrm>
          <a:prstGeom prst="rect">
            <a:avLst/>
          </a:prstGeom>
          <a:noFill/>
          <a:ln/>
        </p:spPr>
        <p:txBody>
          <a:bodyPr wrap="square" lIns="0" tIns="0" rIns="0" bIns="0" rtlCol="0" anchor="ctr"/>
          <a:lstStyle/>
          <a:p>
            <a:pPr indent="0" marL="0">
              <a:buNone/>
            </a:pPr>
            <a:r>
              <a:rPr lang="en-US" sz="1250" b="1" dirty="0">
                <a:solidFill>
                  <a:srgbClr val="2C2C2C"/>
                </a:solidFill>
                <a:latin typeface="Calibri" pitchFamily="34" charset="0"/>
                <a:ea typeface="Calibri" pitchFamily="34" charset="-122"/>
                <a:cs typeface="Calibri" pitchFamily="34" charset="-120"/>
              </a:rPr>
              <a:t>Unitaires</a:t>
            </a:r>
            <a:endParaRPr lang="en-US" sz="1250" dirty="0"/>
          </a:p>
        </p:txBody>
      </p:sp>
      <p:sp>
        <p:nvSpPr>
          <p:cNvPr id="20" name="Text 17"/>
          <p:cNvSpPr txBox="1"/>
          <p:nvPr/>
        </p:nvSpPr>
        <p:spPr>
          <a:xfrm>
            <a:off x="594360" y="3035808"/>
            <a:ext cx="2423160" cy="1097280"/>
          </a:xfrm>
          <a:prstGeom prst="rect">
            <a:avLst/>
          </a:prstGeom>
          <a:noFill/>
          <a:ln/>
        </p:spPr>
        <p:txBody>
          <a:bodyPr wrap="square" lIns="0" tIns="0" rIns="0" bIns="0" rtlCol="0" anchor="t"/>
          <a:lstStyle/>
          <a:p>
            <a:pPr marL="152400" indent="-152400">
              <a:spcAft>
                <a:spcPts val="300"/>
              </a:spcAft>
              <a:buSzPct val="100000"/>
              <a:buChar char="•"/>
            </a:pPr>
            <a:r>
              <a:rPr lang="en-US" sz="950" dirty="0">
                <a:solidFill>
                  <a:srgbClr val="1E1E1E"/>
                </a:solidFill>
                <a:latin typeface="Calibri" pitchFamily="34" charset="0"/>
                <a:ea typeface="Calibri" pitchFamily="34" charset="-122"/>
                <a:cs typeface="Calibri" pitchFamily="34" charset="-120"/>
              </a:rPr>
              <a:t>ExpiredFilesCleanupService : purge disque + base</a:t>
            </a:r>
            <a:endParaRPr lang="en-US" sz="950" dirty="0"/>
          </a:p>
          <a:p>
            <a:pPr marL="152400" indent="-152400">
              <a:spcAft>
                <a:spcPts val="300"/>
              </a:spcAft>
              <a:buSzPct val="100000"/>
              <a:buChar char="•"/>
            </a:pPr>
            <a:r>
              <a:rPr lang="en-US" sz="950" dirty="0">
                <a:solidFill>
                  <a:srgbClr val="1E1E1E"/>
                </a:solidFill>
                <a:latin typeface="Calibri" pitchFamily="34" charset="0"/>
                <a:ea typeface="Calibri" pitchFamily="34" charset="-122"/>
                <a:cs typeface="Calibri" pitchFamily="34" charset="-120"/>
              </a:rPr>
              <a:t>Moq : le stockage en échec est logué, jamais fatal</a:t>
            </a:r>
            <a:endParaRPr lang="en-US" sz="950" dirty="0"/>
          </a:p>
        </p:txBody>
      </p:sp>
      <p:sp>
        <p:nvSpPr>
          <p:cNvPr id="21" name="Shape 18"/>
          <p:cNvSpPr/>
          <p:nvPr/>
        </p:nvSpPr>
        <p:spPr>
          <a:xfrm>
            <a:off x="3246120" y="2468880"/>
            <a:ext cx="2651760" cy="1691640"/>
          </a:xfrm>
          <a:prstGeom prst="roundRect">
            <a:avLst>
              <a:gd name="adj" fmla="val 4324"/>
            </a:avLst>
          </a:prstGeom>
          <a:solidFill>
            <a:srgbClr val="FFF4EE"/>
          </a:solidFill>
          <a:ln w="6350">
            <a:solidFill>
              <a:srgbClr val="FFF4EE"/>
            </a:solidFill>
            <a:prstDash val="solid"/>
          </a:ln>
        </p:spPr>
      </p:sp>
      <p:sp>
        <p:nvSpPr>
          <p:cNvPr id="22" name="Shape 19"/>
          <p:cNvSpPr/>
          <p:nvPr/>
        </p:nvSpPr>
        <p:spPr>
          <a:xfrm>
            <a:off x="3383280" y="2606040"/>
            <a:ext cx="365760" cy="365760"/>
          </a:xfrm>
          <a:prstGeom prst="ellipse">
            <a:avLst/>
          </a:prstGeom>
          <a:solidFill>
            <a:srgbClr val="DE6262"/>
          </a:solidFill>
          <a:ln w="12700">
            <a:solidFill>
              <a:srgbClr val="DE6262"/>
            </a:solidFill>
            <a:prstDash val="solid"/>
          </a:ln>
        </p:spPr>
      </p:sp>
      <p:pic>
        <p:nvPicPr>
          <p:cNvPr id="23" name="Image 1" descr="preencoded.png">    </p:cNvPr>
          <p:cNvPicPr>
            <a:picLocks noChangeAspect="1"/>
          </p:cNvPicPr>
          <p:nvPr/>
        </p:nvPicPr>
        <p:blipFill>
          <a:blip r:embed="rId2"/>
          <a:stretch>
            <a:fillRect/>
          </a:stretch>
        </p:blipFill>
        <p:spPr>
          <a:xfrm>
            <a:off x="3471062" y="2693822"/>
            <a:ext cx="190195" cy="190195"/>
          </a:xfrm>
          <a:prstGeom prst="rect">
            <a:avLst/>
          </a:prstGeom>
        </p:spPr>
      </p:pic>
      <p:sp>
        <p:nvSpPr>
          <p:cNvPr id="24" name="Text 20"/>
          <p:cNvSpPr txBox="1"/>
          <p:nvPr/>
        </p:nvSpPr>
        <p:spPr>
          <a:xfrm>
            <a:off x="3840480" y="2624328"/>
            <a:ext cx="2011680" cy="329184"/>
          </a:xfrm>
          <a:prstGeom prst="rect">
            <a:avLst/>
          </a:prstGeom>
          <a:noFill/>
          <a:ln/>
        </p:spPr>
        <p:txBody>
          <a:bodyPr wrap="square" lIns="0" tIns="0" rIns="0" bIns="0" rtlCol="0" anchor="ctr"/>
          <a:lstStyle/>
          <a:p>
            <a:pPr indent="0" marL="0">
              <a:buNone/>
            </a:pPr>
            <a:r>
              <a:rPr lang="en-US" sz="1250" b="1" dirty="0">
                <a:solidFill>
                  <a:srgbClr val="2C2C2C"/>
                </a:solidFill>
                <a:latin typeface="Calibri" pitchFamily="34" charset="0"/>
                <a:ea typeface="Calibri" pitchFamily="34" charset="-122"/>
                <a:cs typeface="Calibri" pitchFamily="34" charset="-120"/>
              </a:rPr>
              <a:t>Intégration HTTP</a:t>
            </a:r>
            <a:endParaRPr lang="en-US" sz="1250" dirty="0"/>
          </a:p>
        </p:txBody>
      </p:sp>
      <p:sp>
        <p:nvSpPr>
          <p:cNvPr id="25" name="Text 21"/>
          <p:cNvSpPr txBox="1"/>
          <p:nvPr/>
        </p:nvSpPr>
        <p:spPr>
          <a:xfrm>
            <a:off x="3383280" y="3035808"/>
            <a:ext cx="2423160" cy="1097280"/>
          </a:xfrm>
          <a:prstGeom prst="rect">
            <a:avLst/>
          </a:prstGeom>
          <a:noFill/>
          <a:ln/>
        </p:spPr>
        <p:txBody>
          <a:bodyPr wrap="square" lIns="0" tIns="0" rIns="0" bIns="0" rtlCol="0" anchor="t"/>
          <a:lstStyle/>
          <a:p>
            <a:pPr marL="152400" indent="-152400">
              <a:spcAft>
                <a:spcPts val="300"/>
              </a:spcAft>
              <a:buSzPct val="100000"/>
              <a:buChar char="•"/>
            </a:pPr>
            <a:r>
              <a:rPr lang="en-US" sz="950" dirty="0">
                <a:solidFill>
                  <a:srgbClr val="1E1E1E"/>
                </a:solidFill>
                <a:latin typeface="Calibri" pitchFamily="34" charset="0"/>
                <a:ea typeface="Calibri" pitchFamily="34" charset="-122"/>
                <a:cs typeface="Calibri" pitchFamily="34" charset="-120"/>
              </a:rPr>
              <a:t>WebApplicationFactory + EF Core InMemory</a:t>
            </a:r>
            <a:endParaRPr lang="en-US" sz="950" dirty="0"/>
          </a:p>
          <a:p>
            <a:pPr marL="152400" indent="-152400">
              <a:spcAft>
                <a:spcPts val="300"/>
              </a:spcAft>
              <a:buSzPct val="100000"/>
              <a:buChar char="•"/>
            </a:pPr>
            <a:r>
              <a:rPr lang="en-US" sz="950" dirty="0">
                <a:solidFill>
                  <a:srgbClr val="1E1E1E"/>
                </a:solidFill>
                <a:latin typeface="Calibri" pitchFamily="34" charset="0"/>
                <a:ea typeface="Calibri" pitchFamily="34" charset="-122"/>
                <a:cs typeface="Calibri" pitchFamily="34" charset="-120"/>
              </a:rPr>
              <a:t>TestAuthHandler multi-utilisateurs (X-Test-UserId)</a:t>
            </a:r>
            <a:endParaRPr lang="en-US" sz="950" dirty="0"/>
          </a:p>
          <a:p>
            <a:pPr marL="152400" indent="-152400">
              <a:spcAft>
                <a:spcPts val="300"/>
              </a:spcAft>
              <a:buSzPct val="100000"/>
              <a:buChar char="•"/>
            </a:pPr>
            <a:r>
              <a:rPr lang="en-US" sz="950" dirty="0">
                <a:solidFill>
                  <a:srgbClr val="1E1E1E"/>
                </a:solidFill>
                <a:latin typeface="Calibri" pitchFamily="34" charset="0"/>
                <a:ea typeface="Calibri" pitchFamily="34" charset="-122"/>
                <a:cs typeface="Calibri" pitchFamily="34" charset="-120"/>
              </a:rPr>
              <a:t>Tous les endpoints, codes d'erreur, isolation, 410</a:t>
            </a:r>
            <a:endParaRPr lang="en-US" sz="950" dirty="0"/>
          </a:p>
        </p:txBody>
      </p:sp>
      <p:sp>
        <p:nvSpPr>
          <p:cNvPr id="26" name="Shape 22"/>
          <p:cNvSpPr/>
          <p:nvPr/>
        </p:nvSpPr>
        <p:spPr>
          <a:xfrm>
            <a:off x="6035040" y="2468880"/>
            <a:ext cx="2651760" cy="1691640"/>
          </a:xfrm>
          <a:prstGeom prst="roundRect">
            <a:avLst>
              <a:gd name="adj" fmla="val 4324"/>
            </a:avLst>
          </a:prstGeom>
          <a:solidFill>
            <a:srgbClr val="FFF4EE"/>
          </a:solidFill>
          <a:ln w="6350">
            <a:solidFill>
              <a:srgbClr val="FFF4EE"/>
            </a:solidFill>
            <a:prstDash val="solid"/>
          </a:ln>
        </p:spPr>
      </p:sp>
      <p:sp>
        <p:nvSpPr>
          <p:cNvPr id="27" name="Shape 23"/>
          <p:cNvSpPr/>
          <p:nvPr/>
        </p:nvSpPr>
        <p:spPr>
          <a:xfrm>
            <a:off x="6172200" y="2606040"/>
            <a:ext cx="365760" cy="365760"/>
          </a:xfrm>
          <a:prstGeom prst="ellipse">
            <a:avLst/>
          </a:prstGeom>
          <a:solidFill>
            <a:srgbClr val="DE6262"/>
          </a:solidFill>
          <a:ln w="12700">
            <a:solidFill>
              <a:srgbClr val="DE6262"/>
            </a:solidFill>
            <a:prstDash val="solid"/>
          </a:ln>
        </p:spPr>
      </p:sp>
      <p:pic>
        <p:nvPicPr>
          <p:cNvPr id="28" name="Image 2" descr="preencoded.png">    </p:cNvPr>
          <p:cNvPicPr>
            <a:picLocks noChangeAspect="1"/>
          </p:cNvPicPr>
          <p:nvPr/>
        </p:nvPicPr>
        <p:blipFill>
          <a:blip r:embed="rId3"/>
          <a:stretch>
            <a:fillRect/>
          </a:stretch>
        </p:blipFill>
        <p:spPr>
          <a:xfrm>
            <a:off x="6259982" y="2693822"/>
            <a:ext cx="190195" cy="190195"/>
          </a:xfrm>
          <a:prstGeom prst="rect">
            <a:avLst/>
          </a:prstGeom>
        </p:spPr>
      </p:pic>
      <p:sp>
        <p:nvSpPr>
          <p:cNvPr id="29" name="Text 24"/>
          <p:cNvSpPr txBox="1"/>
          <p:nvPr/>
        </p:nvSpPr>
        <p:spPr>
          <a:xfrm>
            <a:off x="6629400" y="2624328"/>
            <a:ext cx="2011680" cy="329184"/>
          </a:xfrm>
          <a:prstGeom prst="rect">
            <a:avLst/>
          </a:prstGeom>
          <a:noFill/>
          <a:ln/>
        </p:spPr>
        <p:txBody>
          <a:bodyPr wrap="square" lIns="0" tIns="0" rIns="0" bIns="0" rtlCol="0" anchor="ctr"/>
          <a:lstStyle/>
          <a:p>
            <a:pPr indent="0" marL="0">
              <a:buNone/>
            </a:pPr>
            <a:r>
              <a:rPr lang="en-US" sz="1250" b="1" dirty="0">
                <a:solidFill>
                  <a:srgbClr val="2C2C2C"/>
                </a:solidFill>
                <a:latin typeface="Calibri" pitchFamily="34" charset="0"/>
                <a:ea typeface="Calibri" pitchFamily="34" charset="-122"/>
                <a:cs typeface="Calibri" pitchFamily="34" charset="-120"/>
              </a:rPr>
              <a:t>End-to-end</a:t>
            </a:r>
            <a:endParaRPr lang="en-US" sz="1250" dirty="0"/>
          </a:p>
        </p:txBody>
      </p:sp>
      <p:sp>
        <p:nvSpPr>
          <p:cNvPr id="30" name="Text 25"/>
          <p:cNvSpPr txBox="1"/>
          <p:nvPr/>
        </p:nvSpPr>
        <p:spPr>
          <a:xfrm>
            <a:off x="6172200" y="3035808"/>
            <a:ext cx="2423160" cy="1097280"/>
          </a:xfrm>
          <a:prstGeom prst="rect">
            <a:avLst/>
          </a:prstGeom>
          <a:noFill/>
          <a:ln/>
        </p:spPr>
        <p:txBody>
          <a:bodyPr wrap="square" lIns="0" tIns="0" rIns="0" bIns="0" rtlCol="0" anchor="t"/>
          <a:lstStyle/>
          <a:p>
            <a:pPr marL="152400" indent="-152400">
              <a:spcAft>
                <a:spcPts val="300"/>
              </a:spcAft>
              <a:buSzPct val="100000"/>
              <a:buChar char="•"/>
            </a:pPr>
            <a:r>
              <a:rPr lang="en-US" sz="950" dirty="0">
                <a:solidFill>
                  <a:srgbClr val="1E1E1E"/>
                </a:solidFill>
                <a:latin typeface="Calibri" pitchFamily="34" charset="0"/>
                <a:ea typeface="Calibri" pitchFamily="34" charset="-122"/>
                <a:cs typeface="Calibri" pitchFamily="34" charset="-120"/>
              </a:rPr>
              <a:t>Inscription → upload → lien → téléchargement tiers</a:t>
            </a:r>
            <a:endParaRPr lang="en-US" sz="950" dirty="0"/>
          </a:p>
          <a:p>
            <a:pPr marL="152400" indent="-152400">
              <a:spcAft>
                <a:spcPts val="300"/>
              </a:spcAft>
              <a:buSzPct val="100000"/>
              <a:buChar char="•"/>
            </a:pPr>
            <a:r>
              <a:rPr lang="en-US" sz="950" dirty="0">
                <a:solidFill>
                  <a:srgbClr val="1E1E1E"/>
                </a:solidFill>
                <a:latin typeface="Calibri" pitchFamily="34" charset="0"/>
                <a:ea typeface="Calibri" pitchFamily="34" charset="-122"/>
                <a:cs typeface="Calibri" pitchFamily="34" charset="-120"/>
              </a:rPr>
              <a:t>Tags, mot de passe, limites (vide, 5 Mo, &gt; 1 Go)</a:t>
            </a:r>
            <a:endParaRPr lang="en-US" sz="950" dirty="0"/>
          </a:p>
          <a:p>
            <a:pPr marL="152400" indent="-152400">
              <a:spcAft>
                <a:spcPts val="300"/>
              </a:spcAft>
              <a:buSzPct val="100000"/>
              <a:buChar char="•"/>
            </a:pPr>
            <a:r>
              <a:rPr lang="en-US" sz="950" dirty="0">
                <a:solidFill>
                  <a:srgbClr val="1E1E1E"/>
                </a:solidFill>
                <a:latin typeface="Calibri" pitchFamily="34" charset="0"/>
                <a:ea typeface="Calibri" pitchFamily="34" charset="-122"/>
                <a:cs typeface="Calibri" pitchFamily="34" charset="-120"/>
              </a:rPr>
              <a:t>Cypress sur http://localhost (nginx + API + BDD)</a:t>
            </a:r>
            <a:endParaRPr lang="en-US" sz="950" dirty="0"/>
          </a:p>
        </p:txBody>
      </p:sp>
      <p:sp>
        <p:nvSpPr>
          <p:cNvPr id="31" name="Text 26"/>
          <p:cNvSpPr txBox="1"/>
          <p:nvPr/>
        </p:nvSpPr>
        <p:spPr>
          <a:xfrm>
            <a:off x="457200" y="4297680"/>
            <a:ext cx="8229600" cy="411480"/>
          </a:xfrm>
          <a:prstGeom prst="rect">
            <a:avLst/>
          </a:prstGeom>
          <a:noFill/>
          <a:ln/>
        </p:spPr>
        <p:txBody>
          <a:bodyPr wrap="square" lIns="0" tIns="0" rIns="0" bIns="0" rtlCol="0" anchor="ctr"/>
          <a:lstStyle/>
          <a:p>
            <a:pPr indent="0" marL="0">
              <a:buNone/>
            </a:pPr>
            <a:r>
              <a:rPr lang="en-US" sz="950" i="1" dirty="0">
                <a:solidFill>
                  <a:srgbClr val="6B6B6B"/>
                </a:solidFill>
                <a:latin typeface="Calibri" pitchFamily="34" charset="0"/>
                <a:ea typeface="Calibri" pitchFamily="34" charset="-122"/>
                <a:cs typeface="Calibri" pitchFamily="34" charset="-120"/>
              </a:rPr>
              <a:t>Exemples de critères : fichier d'un autre utilisateur → 404 et fichier intact · lien expiré → 410 sur métadonnées et téléchargement · mauvais mot de passe → 401 · .exe → 400 « Forbidden file type »</a:t>
            </a:r>
            <a:endParaRPr lang="en-US" sz="950" dirty="0"/>
          </a:p>
        </p:txBody>
      </p:sp>
      <p:sp>
        <p:nvSpPr>
          <p:cNvPr id="32" name="Text 27"/>
          <p:cNvSpPr txBox="1"/>
          <p:nvPr/>
        </p:nvSpPr>
        <p:spPr>
          <a:xfrm>
            <a:off x="457200" y="4818888"/>
            <a:ext cx="4572000" cy="228600"/>
          </a:xfrm>
          <a:prstGeom prst="rect">
            <a:avLst/>
          </a:prstGeom>
          <a:noFill/>
          <a:ln/>
        </p:spPr>
        <p:txBody>
          <a:bodyPr wrap="square" lIns="0" tIns="0" rIns="0" bIns="0" rtlCol="0" anchor="ctr"/>
          <a:lstStyle/>
          <a:p>
            <a:pPr indent="0" marL="0">
              <a:buNone/>
            </a:pPr>
            <a:r>
              <a:rPr lang="en-US" sz="900" dirty="0">
                <a:solidFill>
                  <a:srgbClr val="A0A0A0"/>
                </a:solidFill>
                <a:latin typeface="Calibri" pitchFamily="34" charset="0"/>
                <a:ea typeface="Calibri" pitchFamily="34" charset="-122"/>
                <a:cs typeface="Calibri" pitchFamily="34" charset="-120"/>
              </a:rPr>
              <a:t>DataShare — Soutenance Projet 4</a:t>
            </a:r>
            <a:endParaRPr lang="en-US" sz="900" dirty="0"/>
          </a:p>
        </p:txBody>
      </p:sp>
      <p:sp>
        <p:nvSpPr>
          <p:cNvPr id="33" name="Text 28"/>
          <p:cNvSpPr txBox="1"/>
          <p:nvPr/>
        </p:nvSpPr>
        <p:spPr>
          <a:xfrm>
            <a:off x="8229600" y="4818888"/>
            <a:ext cx="457200" cy="228600"/>
          </a:xfrm>
          <a:prstGeom prst="rect">
            <a:avLst/>
          </a:prstGeom>
          <a:noFill/>
          <a:ln/>
        </p:spPr>
        <p:txBody>
          <a:bodyPr wrap="square" lIns="0" tIns="0" rIns="0" bIns="0" rtlCol="0" anchor="ctr"/>
          <a:lstStyle/>
          <a:p>
            <a:pPr algn="r" indent="0" marL="0">
              <a:buNone/>
            </a:pPr>
            <a:r>
              <a:rPr lang="en-US" sz="900" dirty="0">
                <a:solidFill>
                  <a:srgbClr val="A0A0A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3000" b="1" dirty="0">
                <a:solidFill>
                  <a:srgbClr val="2C2C2C"/>
                </a:solidFill>
                <a:latin typeface="Calibri" pitchFamily="34" charset="0"/>
                <a:ea typeface="Calibri" pitchFamily="34" charset="-122"/>
                <a:cs typeface="Calibri" pitchFamily="34" charset="-120"/>
              </a:rPr>
              <a:t>Performance et observabilité</a:t>
            </a:r>
            <a:endParaRPr lang="en-US" sz="3000" dirty="0"/>
          </a:p>
        </p:txBody>
      </p:sp>
      <p:sp>
        <p:nvSpPr>
          <p:cNvPr id="3" name="Text 1"/>
          <p:cNvSpPr txBox="1"/>
          <p:nvPr/>
        </p:nvSpPr>
        <p:spPr>
          <a:xfrm>
            <a:off x="457200" y="804672"/>
            <a:ext cx="8229600" cy="292608"/>
          </a:xfrm>
          <a:prstGeom prst="rect">
            <a:avLst/>
          </a:prstGeom>
          <a:noFill/>
          <a:ln/>
        </p:spPr>
        <p:txBody>
          <a:bodyPr wrap="square" lIns="0" tIns="0" rIns="0" bIns="0" rtlCol="0" anchor="ctr"/>
          <a:lstStyle/>
          <a:p>
            <a:pPr indent="0" marL="0">
              <a:buNone/>
            </a:pPr>
            <a:r>
              <a:rPr lang="en-US" sz="1300" dirty="0">
                <a:solidFill>
                  <a:srgbClr val="6B6B6B"/>
                </a:solidFill>
                <a:latin typeface="Calibri" pitchFamily="34" charset="0"/>
                <a:ea typeface="Calibri" pitchFamily="34" charset="-122"/>
                <a:cs typeface="Calibri" pitchFamily="34" charset="-120"/>
              </a:rPr>
              <a:t>Test de charge k6 · budget front Lighthouse · logs structurés exploitables (PERF.md)</a:t>
            </a:r>
            <a:endParaRPr lang="en-US" sz="1300" dirty="0"/>
          </a:p>
        </p:txBody>
      </p:sp>
      <p:sp>
        <p:nvSpPr>
          <p:cNvPr id="4" name="Text 2"/>
          <p:cNvSpPr txBox="1"/>
          <p:nvPr/>
        </p:nvSpPr>
        <p:spPr>
          <a:xfrm>
            <a:off x="457200" y="1188720"/>
            <a:ext cx="5029200" cy="274320"/>
          </a:xfrm>
          <a:prstGeom prst="rect">
            <a:avLst/>
          </a:prstGeom>
          <a:noFill/>
          <a:ln/>
        </p:spPr>
        <p:txBody>
          <a:bodyPr wrap="square" lIns="0" tIns="0" rIns="0" bIns="0" rtlCol="0" anchor="ctr"/>
          <a:lstStyle/>
          <a:p>
            <a:pPr indent="0" marL="0">
              <a:buNone/>
            </a:pPr>
            <a:r>
              <a:rPr lang="en-US" sz="1200" b="1" dirty="0">
                <a:solidFill>
                  <a:srgbClr val="2C2C2C"/>
                </a:solidFill>
                <a:latin typeface="Calibri" pitchFamily="34" charset="0"/>
                <a:ea typeface="Calibri" pitchFamily="34" charset="-122"/>
                <a:cs typeface="Calibri" pitchFamily="34" charset="-120"/>
              </a:rPr>
              <a:t>Backend — k6, 20 utilisateurs × 30 s, upload 100 Ko authentifié</a:t>
            </a:r>
            <a:endParaRPr lang="en-US" sz="1200" dirty="0"/>
          </a:p>
        </p:txBody>
      </p:sp>
      <p:sp>
        <p:nvSpPr>
          <p:cNvPr id="5" name="Shape 3"/>
          <p:cNvSpPr/>
          <p:nvPr/>
        </p:nvSpPr>
        <p:spPr>
          <a:xfrm>
            <a:off x="457200" y="1508760"/>
            <a:ext cx="1600200" cy="914400"/>
          </a:xfrm>
          <a:prstGeom prst="roundRect">
            <a:avLst>
              <a:gd name="adj" fmla="val 8000"/>
            </a:avLst>
          </a:prstGeom>
          <a:solidFill>
            <a:srgbClr val="FFFFFF"/>
          </a:solidFill>
          <a:ln w="6350">
            <a:solidFill>
              <a:srgbClr val="E6E0DB"/>
            </a:solidFill>
            <a:prstDash val="solid"/>
          </a:ln>
          <a:effectLst>
            <a:outerShdw sx="100000" sy="100000" kx="0" ky="0" algn="bl" rotWithShape="0" blurRad="76200" dist="25400" dir="5400000">
              <a:srgbClr val="000000">
                <a:alpha val="18000"/>
              </a:srgbClr>
            </a:outerShdw>
          </a:effectLst>
        </p:spPr>
      </p:sp>
      <p:sp>
        <p:nvSpPr>
          <p:cNvPr id="6" name="Text 4"/>
          <p:cNvSpPr txBox="1"/>
          <p:nvPr/>
        </p:nvSpPr>
        <p:spPr>
          <a:xfrm>
            <a:off x="594360" y="1600200"/>
            <a:ext cx="1325880" cy="457200"/>
          </a:xfrm>
          <a:prstGeom prst="rect">
            <a:avLst/>
          </a:prstGeom>
          <a:noFill/>
          <a:ln/>
        </p:spPr>
        <p:txBody>
          <a:bodyPr wrap="square" lIns="0" tIns="0" rIns="0" bIns="0" rtlCol="0" anchor="b"/>
          <a:lstStyle/>
          <a:p>
            <a:pPr indent="0" marL="0">
              <a:buNone/>
            </a:pPr>
            <a:r>
              <a:rPr lang="en-US" sz="3000" b="1" dirty="0">
                <a:solidFill>
                  <a:srgbClr val="2E8B57"/>
                </a:solidFill>
                <a:latin typeface="Calibri" pitchFamily="34" charset="0"/>
                <a:ea typeface="Calibri" pitchFamily="34" charset="-122"/>
                <a:cs typeface="Calibri" pitchFamily="34" charset="-120"/>
              </a:rPr>
              <a:t>125 ms</a:t>
            </a:r>
            <a:endParaRPr lang="en-US" sz="3000" dirty="0"/>
          </a:p>
        </p:txBody>
      </p:sp>
      <p:sp>
        <p:nvSpPr>
          <p:cNvPr id="7" name="Text 5"/>
          <p:cNvSpPr txBox="1"/>
          <p:nvPr/>
        </p:nvSpPr>
        <p:spPr>
          <a:xfrm>
            <a:off x="594360" y="2039112"/>
            <a:ext cx="1371600" cy="365760"/>
          </a:xfrm>
          <a:prstGeom prst="rect">
            <a:avLst/>
          </a:prstGeom>
          <a:noFill/>
          <a:ln/>
        </p:spPr>
        <p:txBody>
          <a:bodyPr wrap="square" lIns="0" tIns="0" rIns="0" bIns="0" rtlCol="0" anchor="t"/>
          <a:lstStyle/>
          <a:p>
            <a:pPr indent="0" marL="0">
              <a:buNone/>
            </a:pPr>
            <a:r>
              <a:rPr lang="en-US" sz="1000" dirty="0">
                <a:solidFill>
                  <a:srgbClr val="6B6B6B"/>
                </a:solidFill>
                <a:latin typeface="Calibri" pitchFamily="34" charset="0"/>
                <a:ea typeface="Calibri" pitchFamily="34" charset="-122"/>
                <a:cs typeface="Calibri" pitchFamily="34" charset="-120"/>
              </a:rPr>
              <a:t>P95 upload (cible &lt; 500)</a:t>
            </a:r>
            <a:endParaRPr lang="en-US" sz="1000" dirty="0"/>
          </a:p>
        </p:txBody>
      </p:sp>
      <p:sp>
        <p:nvSpPr>
          <p:cNvPr id="8" name="Shape 6"/>
          <p:cNvSpPr/>
          <p:nvPr/>
        </p:nvSpPr>
        <p:spPr>
          <a:xfrm>
            <a:off x="2194560" y="1508760"/>
            <a:ext cx="1600200" cy="914400"/>
          </a:xfrm>
          <a:prstGeom prst="roundRect">
            <a:avLst>
              <a:gd name="adj" fmla="val 8000"/>
            </a:avLst>
          </a:prstGeom>
          <a:solidFill>
            <a:srgbClr val="FFFFFF"/>
          </a:solidFill>
          <a:ln w="6350">
            <a:solidFill>
              <a:srgbClr val="E6E0DB"/>
            </a:solidFill>
            <a:prstDash val="solid"/>
          </a:ln>
          <a:effectLst>
            <a:outerShdw sx="100000" sy="100000" kx="0" ky="0" algn="bl" rotWithShape="0" blurRad="76200" dist="25400" dir="5400000">
              <a:srgbClr val="000000">
                <a:alpha val="18000"/>
              </a:srgbClr>
            </a:outerShdw>
          </a:effectLst>
        </p:spPr>
      </p:sp>
      <p:sp>
        <p:nvSpPr>
          <p:cNvPr id="9" name="Text 7"/>
          <p:cNvSpPr txBox="1"/>
          <p:nvPr/>
        </p:nvSpPr>
        <p:spPr>
          <a:xfrm>
            <a:off x="2331720" y="1600200"/>
            <a:ext cx="1325880" cy="457200"/>
          </a:xfrm>
          <a:prstGeom prst="rect">
            <a:avLst/>
          </a:prstGeom>
          <a:noFill/>
          <a:ln/>
        </p:spPr>
        <p:txBody>
          <a:bodyPr wrap="square" lIns="0" tIns="0" rIns="0" bIns="0" rtlCol="0" anchor="b"/>
          <a:lstStyle/>
          <a:p>
            <a:pPr indent="0" marL="0">
              <a:buNone/>
            </a:pPr>
            <a:r>
              <a:rPr lang="en-US" sz="3000" b="1" dirty="0">
                <a:solidFill>
                  <a:srgbClr val="2E8B57"/>
                </a:solidFill>
                <a:latin typeface="Calibri" pitchFamily="34" charset="0"/>
                <a:ea typeface="Calibri" pitchFamily="34" charset="-122"/>
                <a:cs typeface="Calibri" pitchFamily="34" charset="-120"/>
              </a:rPr>
              <a:t>0 %</a:t>
            </a:r>
            <a:endParaRPr lang="en-US" sz="3000" dirty="0"/>
          </a:p>
        </p:txBody>
      </p:sp>
      <p:sp>
        <p:nvSpPr>
          <p:cNvPr id="10" name="Text 8"/>
          <p:cNvSpPr txBox="1"/>
          <p:nvPr/>
        </p:nvSpPr>
        <p:spPr>
          <a:xfrm>
            <a:off x="2331720" y="2039112"/>
            <a:ext cx="1371600" cy="365760"/>
          </a:xfrm>
          <a:prstGeom prst="rect">
            <a:avLst/>
          </a:prstGeom>
          <a:noFill/>
          <a:ln/>
        </p:spPr>
        <p:txBody>
          <a:bodyPr wrap="square" lIns="0" tIns="0" rIns="0" bIns="0" rtlCol="0" anchor="t"/>
          <a:lstStyle/>
          <a:p>
            <a:pPr indent="0" marL="0">
              <a:buNone/>
            </a:pPr>
            <a:r>
              <a:rPr lang="en-US" sz="1000" dirty="0">
                <a:solidFill>
                  <a:srgbClr val="6B6B6B"/>
                </a:solidFill>
                <a:latin typeface="Calibri" pitchFamily="34" charset="0"/>
                <a:ea typeface="Calibri" pitchFamily="34" charset="-122"/>
                <a:cs typeface="Calibri" pitchFamily="34" charset="-120"/>
              </a:rPr>
              <a:t>erreurs sur 500 uploads</a:t>
            </a:r>
            <a:endParaRPr lang="en-US" sz="1000" dirty="0"/>
          </a:p>
        </p:txBody>
      </p:sp>
      <p:sp>
        <p:nvSpPr>
          <p:cNvPr id="11" name="Shape 9"/>
          <p:cNvSpPr/>
          <p:nvPr/>
        </p:nvSpPr>
        <p:spPr>
          <a:xfrm>
            <a:off x="3931920" y="1508760"/>
            <a:ext cx="1600200" cy="914400"/>
          </a:xfrm>
          <a:prstGeom prst="roundRect">
            <a:avLst>
              <a:gd name="adj" fmla="val 8000"/>
            </a:avLst>
          </a:prstGeom>
          <a:solidFill>
            <a:srgbClr val="FFFFFF"/>
          </a:solidFill>
          <a:ln w="6350">
            <a:solidFill>
              <a:srgbClr val="E6E0DB"/>
            </a:solidFill>
            <a:prstDash val="solid"/>
          </a:ln>
          <a:effectLst>
            <a:outerShdw sx="100000" sy="100000" kx="0" ky="0" algn="bl" rotWithShape="0" blurRad="76200" dist="25400" dir="5400000">
              <a:srgbClr val="000000">
                <a:alpha val="18000"/>
              </a:srgbClr>
            </a:outerShdw>
          </a:effectLst>
        </p:spPr>
      </p:sp>
      <p:sp>
        <p:nvSpPr>
          <p:cNvPr id="12" name="Text 10"/>
          <p:cNvSpPr txBox="1"/>
          <p:nvPr/>
        </p:nvSpPr>
        <p:spPr>
          <a:xfrm>
            <a:off x="4069080" y="1600200"/>
            <a:ext cx="1325880" cy="457200"/>
          </a:xfrm>
          <a:prstGeom prst="rect">
            <a:avLst/>
          </a:prstGeom>
          <a:noFill/>
          <a:ln/>
        </p:spPr>
        <p:txBody>
          <a:bodyPr wrap="square" lIns="0" tIns="0" rIns="0" bIns="0" rtlCol="0" anchor="b"/>
          <a:lstStyle/>
          <a:p>
            <a:pPr indent="0" marL="0">
              <a:buNone/>
            </a:pPr>
            <a:r>
              <a:rPr lang="en-US" sz="3000" b="1" dirty="0">
                <a:solidFill>
                  <a:srgbClr val="DE6262"/>
                </a:solidFill>
                <a:latin typeface="Calibri" pitchFamily="34" charset="0"/>
                <a:ea typeface="Calibri" pitchFamily="34" charset="-122"/>
                <a:cs typeface="Calibri" pitchFamily="34" charset="-120"/>
              </a:rPr>
              <a:t>32/s</a:t>
            </a:r>
            <a:endParaRPr lang="en-US" sz="3000" dirty="0"/>
          </a:p>
        </p:txBody>
      </p:sp>
      <p:sp>
        <p:nvSpPr>
          <p:cNvPr id="13" name="Text 11"/>
          <p:cNvSpPr txBox="1"/>
          <p:nvPr/>
        </p:nvSpPr>
        <p:spPr>
          <a:xfrm>
            <a:off x="4069080" y="2039112"/>
            <a:ext cx="1371600" cy="365760"/>
          </a:xfrm>
          <a:prstGeom prst="rect">
            <a:avLst/>
          </a:prstGeom>
          <a:noFill/>
          <a:ln/>
        </p:spPr>
        <p:txBody>
          <a:bodyPr wrap="square" lIns="0" tIns="0" rIns="0" bIns="0" rtlCol="0" anchor="t"/>
          <a:lstStyle/>
          <a:p>
            <a:pPr indent="0" marL="0">
              <a:buNone/>
            </a:pPr>
            <a:r>
              <a:rPr lang="en-US" sz="1000" dirty="0">
                <a:solidFill>
                  <a:srgbClr val="6B6B6B"/>
                </a:solidFill>
                <a:latin typeface="Calibri" pitchFamily="34" charset="0"/>
                <a:ea typeface="Calibri" pitchFamily="34" charset="-122"/>
                <a:cs typeface="Calibri" pitchFamily="34" charset="-120"/>
              </a:rPr>
              <a:t>requêtes par seconde</a:t>
            </a:r>
            <a:endParaRPr lang="en-US" sz="1000" dirty="0"/>
          </a:p>
        </p:txBody>
      </p:sp>
      <p:sp>
        <p:nvSpPr>
          <p:cNvPr id="14" name="Text 12"/>
          <p:cNvSpPr txBox="1"/>
          <p:nvPr/>
        </p:nvSpPr>
        <p:spPr>
          <a:xfrm>
            <a:off x="457200" y="2606040"/>
            <a:ext cx="5029200" cy="274320"/>
          </a:xfrm>
          <a:prstGeom prst="rect">
            <a:avLst/>
          </a:prstGeom>
          <a:noFill/>
          <a:ln/>
        </p:spPr>
        <p:txBody>
          <a:bodyPr wrap="square" lIns="0" tIns="0" rIns="0" bIns="0" rtlCol="0" anchor="ctr"/>
          <a:lstStyle/>
          <a:p>
            <a:pPr indent="0" marL="0">
              <a:buNone/>
            </a:pPr>
            <a:r>
              <a:rPr lang="en-US" sz="1200" b="1" dirty="0">
                <a:solidFill>
                  <a:srgbClr val="2C2C2C"/>
                </a:solidFill>
                <a:latin typeface="Calibri" pitchFamily="34" charset="0"/>
                <a:ea typeface="Calibri" pitchFamily="34" charset="-122"/>
                <a:cs typeface="Calibri" pitchFamily="34" charset="-120"/>
              </a:rPr>
              <a:t>Frontend — build de production</a:t>
            </a:r>
            <a:endParaRPr lang="en-US" sz="1200" dirty="0"/>
          </a:p>
        </p:txBody>
      </p:sp>
      <p:sp>
        <p:nvSpPr>
          <p:cNvPr id="15" name="Shape 13"/>
          <p:cNvSpPr/>
          <p:nvPr/>
        </p:nvSpPr>
        <p:spPr>
          <a:xfrm>
            <a:off x="457200" y="2926080"/>
            <a:ext cx="1600200" cy="914400"/>
          </a:xfrm>
          <a:prstGeom prst="roundRect">
            <a:avLst>
              <a:gd name="adj" fmla="val 8000"/>
            </a:avLst>
          </a:prstGeom>
          <a:solidFill>
            <a:srgbClr val="FFFFFF"/>
          </a:solidFill>
          <a:ln w="6350">
            <a:solidFill>
              <a:srgbClr val="E6E0DB"/>
            </a:solidFill>
            <a:prstDash val="solid"/>
          </a:ln>
          <a:effectLst>
            <a:outerShdw sx="100000" sy="100000" kx="0" ky="0" algn="bl" rotWithShape="0" blurRad="76200" dist="25400" dir="5400000">
              <a:srgbClr val="000000">
                <a:alpha val="18000"/>
              </a:srgbClr>
            </a:outerShdw>
          </a:effectLst>
        </p:spPr>
      </p:sp>
      <p:sp>
        <p:nvSpPr>
          <p:cNvPr id="16" name="Text 14"/>
          <p:cNvSpPr txBox="1"/>
          <p:nvPr/>
        </p:nvSpPr>
        <p:spPr>
          <a:xfrm>
            <a:off x="594360" y="3017520"/>
            <a:ext cx="1325880" cy="457200"/>
          </a:xfrm>
          <a:prstGeom prst="rect">
            <a:avLst/>
          </a:prstGeom>
          <a:noFill/>
          <a:ln/>
        </p:spPr>
        <p:txBody>
          <a:bodyPr wrap="square" lIns="0" tIns="0" rIns="0" bIns="0" rtlCol="0" anchor="b"/>
          <a:lstStyle/>
          <a:p>
            <a:pPr indent="0" marL="0">
              <a:buNone/>
            </a:pPr>
            <a:r>
              <a:rPr lang="en-US" sz="3000" b="1" dirty="0">
                <a:solidFill>
                  <a:srgbClr val="2E8B57"/>
                </a:solidFill>
                <a:latin typeface="Calibri" pitchFamily="34" charset="0"/>
                <a:ea typeface="Calibri" pitchFamily="34" charset="-122"/>
                <a:cs typeface="Calibri" pitchFamily="34" charset="-120"/>
              </a:rPr>
              <a:t>57 Ko</a:t>
            </a:r>
            <a:endParaRPr lang="en-US" sz="3000" dirty="0"/>
          </a:p>
        </p:txBody>
      </p:sp>
      <p:sp>
        <p:nvSpPr>
          <p:cNvPr id="17" name="Text 15"/>
          <p:cNvSpPr txBox="1"/>
          <p:nvPr/>
        </p:nvSpPr>
        <p:spPr>
          <a:xfrm>
            <a:off x="594360" y="3456432"/>
            <a:ext cx="1371600" cy="365760"/>
          </a:xfrm>
          <a:prstGeom prst="rect">
            <a:avLst/>
          </a:prstGeom>
          <a:noFill/>
          <a:ln/>
        </p:spPr>
        <p:txBody>
          <a:bodyPr wrap="square" lIns="0" tIns="0" rIns="0" bIns="0" rtlCol="0" anchor="t"/>
          <a:lstStyle/>
          <a:p>
            <a:pPr indent="0" marL="0">
              <a:buNone/>
            </a:pPr>
            <a:r>
              <a:rPr lang="en-US" sz="1000" dirty="0">
                <a:solidFill>
                  <a:srgbClr val="6B6B6B"/>
                </a:solidFill>
                <a:latin typeface="Calibri" pitchFamily="34" charset="0"/>
                <a:ea typeface="Calibri" pitchFamily="34" charset="-122"/>
                <a:cs typeface="Calibri" pitchFamily="34" charset="-120"/>
              </a:rPr>
              <a:t>JS initial gzip (budget &lt; 100)</a:t>
            </a:r>
            <a:endParaRPr lang="en-US" sz="1000" dirty="0"/>
          </a:p>
        </p:txBody>
      </p:sp>
      <p:sp>
        <p:nvSpPr>
          <p:cNvPr id="18" name="Shape 16"/>
          <p:cNvSpPr/>
          <p:nvPr/>
        </p:nvSpPr>
        <p:spPr>
          <a:xfrm>
            <a:off x="2194560" y="2926080"/>
            <a:ext cx="1600200" cy="914400"/>
          </a:xfrm>
          <a:prstGeom prst="roundRect">
            <a:avLst>
              <a:gd name="adj" fmla="val 8000"/>
            </a:avLst>
          </a:prstGeom>
          <a:solidFill>
            <a:srgbClr val="FFFFFF"/>
          </a:solidFill>
          <a:ln w="6350">
            <a:solidFill>
              <a:srgbClr val="E6E0DB"/>
            </a:solidFill>
            <a:prstDash val="solid"/>
          </a:ln>
          <a:effectLst>
            <a:outerShdw sx="100000" sy="100000" kx="0" ky="0" algn="bl" rotWithShape="0" blurRad="76200" dist="25400" dir="5400000">
              <a:srgbClr val="000000">
                <a:alpha val="18000"/>
              </a:srgbClr>
            </a:outerShdw>
          </a:effectLst>
        </p:spPr>
      </p:sp>
      <p:sp>
        <p:nvSpPr>
          <p:cNvPr id="19" name="Text 17"/>
          <p:cNvSpPr txBox="1"/>
          <p:nvPr/>
        </p:nvSpPr>
        <p:spPr>
          <a:xfrm>
            <a:off x="2331720" y="3017520"/>
            <a:ext cx="1325880" cy="457200"/>
          </a:xfrm>
          <a:prstGeom prst="rect">
            <a:avLst/>
          </a:prstGeom>
          <a:noFill/>
          <a:ln/>
        </p:spPr>
        <p:txBody>
          <a:bodyPr wrap="square" lIns="0" tIns="0" rIns="0" bIns="0" rtlCol="0" anchor="b"/>
          <a:lstStyle/>
          <a:p>
            <a:pPr indent="0" marL="0">
              <a:buNone/>
            </a:pPr>
            <a:r>
              <a:rPr lang="en-US" sz="3000" b="1" dirty="0">
                <a:solidFill>
                  <a:srgbClr val="2E8B57"/>
                </a:solidFill>
                <a:latin typeface="Calibri" pitchFamily="34" charset="0"/>
                <a:ea typeface="Calibri" pitchFamily="34" charset="-122"/>
                <a:cs typeface="Calibri" pitchFamily="34" charset="-120"/>
              </a:rPr>
              <a:t>96</a:t>
            </a:r>
            <a:endParaRPr lang="en-US" sz="3000" dirty="0"/>
          </a:p>
        </p:txBody>
      </p:sp>
      <p:sp>
        <p:nvSpPr>
          <p:cNvPr id="20" name="Text 18"/>
          <p:cNvSpPr txBox="1"/>
          <p:nvPr/>
        </p:nvSpPr>
        <p:spPr>
          <a:xfrm>
            <a:off x="2331720" y="3456432"/>
            <a:ext cx="1371600" cy="365760"/>
          </a:xfrm>
          <a:prstGeom prst="rect">
            <a:avLst/>
          </a:prstGeom>
          <a:noFill/>
          <a:ln/>
        </p:spPr>
        <p:txBody>
          <a:bodyPr wrap="square" lIns="0" tIns="0" rIns="0" bIns="0" rtlCol="0" anchor="t"/>
          <a:lstStyle/>
          <a:p>
            <a:pPr indent="0" marL="0">
              <a:buNone/>
            </a:pPr>
            <a:r>
              <a:rPr lang="en-US" sz="1000" dirty="0">
                <a:solidFill>
                  <a:srgbClr val="6B6B6B"/>
                </a:solidFill>
                <a:latin typeface="Calibri" pitchFamily="34" charset="0"/>
                <a:ea typeface="Calibri" pitchFamily="34" charset="-122"/>
                <a:cs typeface="Calibri" pitchFamily="34" charset="-120"/>
              </a:rPr>
              <a:t>Lighthouse Performance</a:t>
            </a:r>
            <a:endParaRPr lang="en-US" sz="1000" dirty="0"/>
          </a:p>
        </p:txBody>
      </p:sp>
      <p:sp>
        <p:nvSpPr>
          <p:cNvPr id="21" name="Shape 19"/>
          <p:cNvSpPr/>
          <p:nvPr/>
        </p:nvSpPr>
        <p:spPr>
          <a:xfrm>
            <a:off x="3931920" y="2926080"/>
            <a:ext cx="1600200" cy="914400"/>
          </a:xfrm>
          <a:prstGeom prst="roundRect">
            <a:avLst>
              <a:gd name="adj" fmla="val 8000"/>
            </a:avLst>
          </a:prstGeom>
          <a:solidFill>
            <a:srgbClr val="FFFFFF"/>
          </a:solidFill>
          <a:ln w="6350">
            <a:solidFill>
              <a:srgbClr val="E6E0DB"/>
            </a:solidFill>
            <a:prstDash val="solid"/>
          </a:ln>
          <a:effectLst>
            <a:outerShdw sx="100000" sy="100000" kx="0" ky="0" algn="bl" rotWithShape="0" blurRad="76200" dist="25400" dir="5400000">
              <a:srgbClr val="000000">
                <a:alpha val="18000"/>
              </a:srgbClr>
            </a:outerShdw>
          </a:effectLst>
        </p:spPr>
      </p:sp>
      <p:sp>
        <p:nvSpPr>
          <p:cNvPr id="22" name="Text 20"/>
          <p:cNvSpPr txBox="1"/>
          <p:nvPr/>
        </p:nvSpPr>
        <p:spPr>
          <a:xfrm>
            <a:off x="4069080" y="3017520"/>
            <a:ext cx="1325880" cy="457200"/>
          </a:xfrm>
          <a:prstGeom prst="rect">
            <a:avLst/>
          </a:prstGeom>
          <a:noFill/>
          <a:ln/>
        </p:spPr>
        <p:txBody>
          <a:bodyPr wrap="square" lIns="0" tIns="0" rIns="0" bIns="0" rtlCol="0" anchor="b"/>
          <a:lstStyle/>
          <a:p>
            <a:pPr indent="0" marL="0">
              <a:buNone/>
            </a:pPr>
            <a:r>
              <a:rPr lang="en-US" sz="3000" b="1" dirty="0">
                <a:solidFill>
                  <a:srgbClr val="C77700"/>
                </a:solidFill>
                <a:latin typeface="Calibri" pitchFamily="34" charset="0"/>
                <a:ea typeface="Calibri" pitchFamily="34" charset="-122"/>
                <a:cs typeface="Calibri" pitchFamily="34" charset="-120"/>
              </a:rPr>
              <a:t>76</a:t>
            </a:r>
            <a:endParaRPr lang="en-US" sz="3000" dirty="0"/>
          </a:p>
        </p:txBody>
      </p:sp>
      <p:sp>
        <p:nvSpPr>
          <p:cNvPr id="23" name="Text 21"/>
          <p:cNvSpPr txBox="1"/>
          <p:nvPr/>
        </p:nvSpPr>
        <p:spPr>
          <a:xfrm>
            <a:off x="4069080" y="3456432"/>
            <a:ext cx="1371600" cy="365760"/>
          </a:xfrm>
          <a:prstGeom prst="rect">
            <a:avLst/>
          </a:prstGeom>
          <a:noFill/>
          <a:ln/>
        </p:spPr>
        <p:txBody>
          <a:bodyPr wrap="square" lIns="0" tIns="0" rIns="0" bIns="0" rtlCol="0" anchor="t"/>
          <a:lstStyle/>
          <a:p>
            <a:pPr indent="0" marL="0">
              <a:buNone/>
            </a:pPr>
            <a:r>
              <a:rPr lang="en-US" sz="1000" dirty="0">
                <a:solidFill>
                  <a:srgbClr val="6B6B6B"/>
                </a:solidFill>
                <a:latin typeface="Calibri" pitchFamily="34" charset="0"/>
                <a:ea typeface="Calibri" pitchFamily="34" charset="-122"/>
                <a:cs typeface="Calibri" pitchFamily="34" charset="-120"/>
              </a:rPr>
              <a:t>Accessibility (contrastes charte)</a:t>
            </a:r>
            <a:endParaRPr lang="en-US" sz="1000" dirty="0"/>
          </a:p>
        </p:txBody>
      </p:sp>
      <p:sp>
        <p:nvSpPr>
          <p:cNvPr id="24" name="Shape 22"/>
          <p:cNvSpPr/>
          <p:nvPr/>
        </p:nvSpPr>
        <p:spPr>
          <a:xfrm>
            <a:off x="5669280" y="1188720"/>
            <a:ext cx="3108960" cy="3246120"/>
          </a:xfrm>
          <a:prstGeom prst="roundRect">
            <a:avLst>
              <a:gd name="adj" fmla="val 2353"/>
            </a:avLst>
          </a:prstGeom>
          <a:solidFill>
            <a:srgbClr val="2C2C2C"/>
          </a:solidFill>
          <a:ln w="12700">
            <a:solidFill>
              <a:srgbClr val="2C2C2C"/>
            </a:solidFill>
            <a:prstDash val="solid"/>
          </a:ln>
        </p:spPr>
      </p:sp>
      <p:sp>
        <p:nvSpPr>
          <p:cNvPr id="25" name="Text 23"/>
          <p:cNvSpPr txBox="1"/>
          <p:nvPr/>
        </p:nvSpPr>
        <p:spPr>
          <a:xfrm>
            <a:off x="5806440" y="1280160"/>
            <a:ext cx="2834640" cy="274320"/>
          </a:xfrm>
          <a:prstGeom prst="rect">
            <a:avLst/>
          </a:prstGeom>
          <a:noFill/>
          <a:ln/>
        </p:spPr>
        <p:txBody>
          <a:bodyPr wrap="square" lIns="0" tIns="0" rIns="0" bIns="0" rtlCol="0" anchor="ctr"/>
          <a:lstStyle/>
          <a:p>
            <a:pPr indent="0" marL="0">
              <a:buNone/>
            </a:pPr>
            <a:r>
              <a:rPr lang="en-US" sz="1100" b="1" dirty="0">
                <a:solidFill>
                  <a:srgbClr val="FFB88C"/>
                </a:solidFill>
                <a:latin typeface="Calibri" pitchFamily="34" charset="0"/>
                <a:ea typeface="Calibri" pitchFamily="34" charset="-122"/>
                <a:cs typeface="Calibri" pitchFamily="34" charset="-120"/>
              </a:rPr>
              <a:t>Logs structurés (JSON, une ligne par événement)</a:t>
            </a:r>
            <a:endParaRPr lang="en-US" sz="1100" dirty="0"/>
          </a:p>
        </p:txBody>
      </p:sp>
      <p:sp>
        <p:nvSpPr>
          <p:cNvPr id="26" name="Text 24"/>
          <p:cNvSpPr txBox="1"/>
          <p:nvPr/>
        </p:nvSpPr>
        <p:spPr>
          <a:xfrm>
            <a:off x="5806440" y="1600200"/>
            <a:ext cx="2834640" cy="1737360"/>
          </a:xfrm>
          <a:prstGeom prst="rect">
            <a:avLst/>
          </a:prstGeom>
          <a:noFill/>
          <a:ln/>
        </p:spPr>
        <p:txBody>
          <a:bodyPr wrap="square" lIns="0" tIns="0" rIns="0" bIns="0" rtlCol="0" anchor="t"/>
          <a:lstStyle/>
          <a:p>
            <a:pPr indent="0" marL="0">
              <a:buNone/>
            </a:pPr>
            <a:r>
              <a:rPr lang="en-US" sz="800" dirty="0">
                <a:solidFill>
                  <a:srgbClr val="E8E8E8"/>
                </a:solidFill>
                <a:latin typeface="Courier New" pitchFamily="34" charset="0"/>
                <a:ea typeface="Courier New" pitchFamily="34" charset="-122"/>
                <a:cs typeface="Courier New" pitchFamily="34" charset="-120"/>
              </a:rPr>
              <a:t>"Category":"…RequestMetricsMiddleware"</a:t>
            </a:r>
            <a:endParaRPr lang="en-US" sz="800" dirty="0"/>
          </a:p>
          <a:p>
            <a:pPr indent="0" marL="0">
              <a:buNone/>
            </a:pPr>
            <a:r>
              <a:rPr lang="en-US" sz="800" dirty="0">
                <a:solidFill>
                  <a:srgbClr val="E8E8E8"/>
                </a:solidFill>
                <a:latin typeface="Courier New" pitchFamily="34" charset="0"/>
                <a:ea typeface="Courier New" pitchFamily="34" charset="-122"/>
                <a:cs typeface="Courier New" pitchFamily="34" charset="-120"/>
              </a:rPr>
              <a:t>"Method":"POST","Path":"/api/files"</a:t>
            </a:r>
            <a:endParaRPr lang="en-US" sz="800" dirty="0"/>
          </a:p>
          <a:p>
            <a:pPr indent="0" marL="0">
              <a:buNone/>
            </a:pPr>
            <a:r>
              <a:rPr lang="en-US" sz="800" dirty="0">
                <a:solidFill>
                  <a:srgbClr val="FFB88C"/>
                </a:solidFill>
                <a:latin typeface="Courier New" pitchFamily="34" charset="0"/>
                <a:ea typeface="Courier New" pitchFamily="34" charset="-122"/>
                <a:cs typeface="Courier New" pitchFamily="34" charset="-120"/>
              </a:rPr>
              <a:t>"StatusCode":201,"ElapsedMs":96.4</a:t>
            </a:r>
            <a:endParaRPr lang="en-US" sz="800" dirty="0"/>
          </a:p>
          <a:p>
            <a:pPr indent="0" marL="0">
              <a:buNone/>
            </a:pPr>
            <a:r>
              <a:rPr lang="en-US" sz="800" dirty="0">
                <a:solidFill>
                  <a:srgbClr val="E8E8E8"/>
                </a:solidFill>
                <a:latin typeface="Courier New" pitchFamily="34" charset="0"/>
                <a:ea typeface="Courier New" pitchFamily="34" charset="-122"/>
                <a:cs typeface="Courier New" pitchFamily="34" charset="-120"/>
              </a:rPr>
              <a:t>"RequestBytes":205112</a:t>
            </a:r>
            <a:endParaRPr lang="en-US" sz="800" dirty="0"/>
          </a:p>
          <a:p>
            <a:pPr indent="0" marL="0">
              <a:buNone/>
            </a:pPr>
            <a:r>
              <a:rPr lang="en-US" sz="800" dirty="0">
                <a:solidFill>
                  <a:srgbClr val="E8E8E8"/>
                </a:solidFill>
                <a:latin typeface="Courier New" pitchFamily="34" charset="0"/>
                <a:ea typeface="Courier New" pitchFamily="34" charset="-122"/>
                <a:cs typeface="Courier New" pitchFamily="34" charset="-120"/>
              </a:rPr>
              <a:t> </a:t>
            </a:r>
            <a:endParaRPr lang="en-US" sz="800" dirty="0"/>
          </a:p>
          <a:p>
            <a:pPr indent="0" marL="0">
              <a:buNone/>
            </a:pPr>
            <a:r>
              <a:rPr lang="en-US" sz="800" dirty="0">
                <a:solidFill>
                  <a:srgbClr val="E8E8E8"/>
                </a:solidFill>
                <a:latin typeface="Courier New" pitchFamily="34" charset="0"/>
                <a:ea typeface="Courier New" pitchFamily="34" charset="-122"/>
                <a:cs typeface="Courier New" pitchFamily="34" charset="-120"/>
              </a:rPr>
              <a:t>"Message":"File uploaded 3fa8… (204800 bytes, application/pdf) by user 9b1d…, expires …, passwordProtected=True, tags=2"</a:t>
            </a:r>
            <a:endParaRPr lang="en-US" sz="800" dirty="0"/>
          </a:p>
        </p:txBody>
      </p:sp>
      <p:sp>
        <p:nvSpPr>
          <p:cNvPr id="27" name="Text 25"/>
          <p:cNvSpPr txBox="1"/>
          <p:nvPr/>
        </p:nvSpPr>
        <p:spPr>
          <a:xfrm>
            <a:off x="5806440" y="3154680"/>
            <a:ext cx="2834640" cy="1188720"/>
          </a:xfrm>
          <a:prstGeom prst="rect">
            <a:avLst/>
          </a:prstGeom>
          <a:noFill/>
          <a:ln/>
        </p:spPr>
        <p:txBody>
          <a:bodyPr wrap="square" lIns="0" tIns="0" rIns="0" bIns="0" rtlCol="0" anchor="t"/>
          <a:lstStyle/>
          <a:p>
            <a:pPr marL="152400" indent="-152400">
              <a:spcAft>
                <a:spcPts val="400"/>
              </a:spcAft>
              <a:buSzPct val="100000"/>
              <a:buChar char="•"/>
            </a:pPr>
            <a:r>
              <a:rPr lang="en-US" sz="950" dirty="0">
                <a:solidFill>
                  <a:srgbClr val="E8E8E8"/>
                </a:solidFill>
                <a:latin typeface="Calibri" pitchFamily="34" charset="0"/>
                <a:ea typeface="Calibri" pitchFamily="34" charset="-122"/>
                <a:cs typeface="Calibri" pitchFamily="34" charset="-120"/>
              </a:rPr>
              <a:t>Chaque requête : méthode, route, statut, durée, octets</a:t>
            </a:r>
            <a:endParaRPr lang="en-US" sz="950" dirty="0"/>
          </a:p>
          <a:p>
            <a:pPr marL="152400" indent="-152400">
              <a:spcAft>
                <a:spcPts val="400"/>
              </a:spcAft>
              <a:buSzPct val="100000"/>
              <a:buChar char="•"/>
            </a:pPr>
            <a:r>
              <a:rPr lang="en-US" sz="950" dirty="0">
                <a:solidFill>
                  <a:srgbClr val="E8E8E8"/>
                </a:solidFill>
                <a:latin typeface="Calibri" pitchFamily="34" charset="0"/>
                <a:ea typeface="Calibri" pitchFamily="34" charset="-122"/>
                <a:cs typeface="Calibri" pitchFamily="34" charset="-120"/>
              </a:rPr>
              <a:t>Upload / téléchargement / suppression : id, taille, type</a:t>
            </a:r>
            <a:endParaRPr lang="en-US" sz="950" dirty="0"/>
          </a:p>
          <a:p>
            <a:pPr marL="152400" indent="-152400">
              <a:spcAft>
                <a:spcPts val="400"/>
              </a:spcAft>
              <a:buSzPct val="100000"/>
              <a:buChar char="•"/>
            </a:pPr>
            <a:r>
              <a:rPr lang="en-US" sz="950" dirty="0">
                <a:solidFill>
                  <a:srgbClr val="E8E8E8"/>
                </a:solidFill>
                <a:latin typeface="Calibri" pitchFamily="34" charset="0"/>
                <a:ea typeface="Calibri" pitchFamily="34" charset="-122"/>
                <a:cs typeface="Calibri" pitchFamily="34" charset="-120"/>
              </a:rPr>
              <a:t>Exploitables par grep (P95, volume) ou Seq / Loki / ELK</a:t>
            </a:r>
            <a:endParaRPr lang="en-US" sz="950" dirty="0"/>
          </a:p>
        </p:txBody>
      </p:sp>
      <p:sp>
        <p:nvSpPr>
          <p:cNvPr id="28" name="Text 26"/>
          <p:cNvSpPr txBox="1"/>
          <p:nvPr/>
        </p:nvSpPr>
        <p:spPr>
          <a:xfrm>
            <a:off x="457200" y="4023360"/>
            <a:ext cx="5074920" cy="548640"/>
          </a:xfrm>
          <a:prstGeom prst="rect">
            <a:avLst/>
          </a:prstGeom>
          <a:noFill/>
          <a:ln/>
        </p:spPr>
        <p:txBody>
          <a:bodyPr wrap="square" lIns="0" tIns="0" rIns="0" bIns="0" rtlCol="0" anchor="t"/>
          <a:lstStyle/>
          <a:p>
            <a:pPr indent="0" marL="0">
              <a:buNone/>
            </a:pPr>
            <a:r>
              <a:rPr lang="en-US" sz="950" i="1" dirty="0">
                <a:solidFill>
                  <a:srgbClr val="6B6B6B"/>
                </a:solidFill>
                <a:latin typeface="Calibri" pitchFamily="34" charset="0"/>
                <a:ea typeface="Calibri" pitchFamily="34" charset="-122"/>
                <a:cs typeface="Calibri" pitchFamily="34" charset="-120"/>
              </a:rPr>
              <a:t>Pistes : streaming des gros fichiers sans tampon, compression des réponses, pagination de /files/me, polices auto-hébergées (FCP), stockage S3 + CDN</a:t>
            </a:r>
            <a:endParaRPr lang="en-US" sz="950" dirty="0"/>
          </a:p>
        </p:txBody>
      </p:sp>
      <p:sp>
        <p:nvSpPr>
          <p:cNvPr id="29" name="Text 27"/>
          <p:cNvSpPr txBox="1"/>
          <p:nvPr/>
        </p:nvSpPr>
        <p:spPr>
          <a:xfrm>
            <a:off x="457200" y="4818888"/>
            <a:ext cx="4572000" cy="228600"/>
          </a:xfrm>
          <a:prstGeom prst="rect">
            <a:avLst/>
          </a:prstGeom>
          <a:noFill/>
          <a:ln/>
        </p:spPr>
        <p:txBody>
          <a:bodyPr wrap="square" lIns="0" tIns="0" rIns="0" bIns="0" rtlCol="0" anchor="ctr"/>
          <a:lstStyle/>
          <a:p>
            <a:pPr indent="0" marL="0">
              <a:buNone/>
            </a:pPr>
            <a:r>
              <a:rPr lang="en-US" sz="900" dirty="0">
                <a:solidFill>
                  <a:srgbClr val="A0A0A0"/>
                </a:solidFill>
                <a:latin typeface="Calibri" pitchFamily="34" charset="0"/>
                <a:ea typeface="Calibri" pitchFamily="34" charset="-122"/>
                <a:cs typeface="Calibri" pitchFamily="34" charset="-120"/>
              </a:rPr>
              <a:t>DataShare — Soutenance Projet 4</a:t>
            </a:r>
            <a:endParaRPr lang="en-US" sz="900" dirty="0"/>
          </a:p>
        </p:txBody>
      </p:sp>
      <p:sp>
        <p:nvSpPr>
          <p:cNvPr id="30" name="Text 28"/>
          <p:cNvSpPr txBox="1"/>
          <p:nvPr/>
        </p:nvSpPr>
        <p:spPr>
          <a:xfrm>
            <a:off x="8229600" y="4818888"/>
            <a:ext cx="457200" cy="228600"/>
          </a:xfrm>
          <a:prstGeom prst="rect">
            <a:avLst/>
          </a:prstGeom>
          <a:noFill/>
          <a:ln/>
        </p:spPr>
        <p:txBody>
          <a:bodyPr wrap="square" lIns="0" tIns="0" rIns="0" bIns="0" rtlCol="0" anchor="ctr"/>
          <a:lstStyle/>
          <a:p>
            <a:pPr algn="r" indent="0" marL="0">
              <a:buNone/>
            </a:pPr>
            <a:r>
              <a:rPr lang="en-US" sz="900" dirty="0">
                <a:solidFill>
                  <a:srgbClr val="A0A0A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3000" b="1" dirty="0">
                <a:solidFill>
                  <a:srgbClr val="2C2C2C"/>
                </a:solidFill>
                <a:latin typeface="Calibri" pitchFamily="34" charset="0"/>
                <a:ea typeface="Calibri" pitchFamily="34" charset="-122"/>
                <a:cs typeface="Calibri" pitchFamily="34" charset="-120"/>
              </a:rPr>
              <a:t>Documentation et maintenance</a:t>
            </a:r>
            <a:endParaRPr lang="en-US" sz="3000" dirty="0"/>
          </a:p>
        </p:txBody>
      </p:sp>
      <p:sp>
        <p:nvSpPr>
          <p:cNvPr id="3" name="Text 1"/>
          <p:cNvSpPr txBox="1"/>
          <p:nvPr/>
        </p:nvSpPr>
        <p:spPr>
          <a:xfrm>
            <a:off x="457200" y="804672"/>
            <a:ext cx="8229600" cy="292608"/>
          </a:xfrm>
          <a:prstGeom prst="rect">
            <a:avLst/>
          </a:prstGeom>
          <a:noFill/>
          <a:ln/>
        </p:spPr>
        <p:txBody>
          <a:bodyPr wrap="square" lIns="0" tIns="0" rIns="0" bIns="0" rtlCol="0" anchor="ctr"/>
          <a:lstStyle/>
          <a:p>
            <a:pPr indent="0" marL="0">
              <a:buNone/>
            </a:pPr>
            <a:r>
              <a:rPr lang="en-US" sz="1300" dirty="0">
                <a:solidFill>
                  <a:srgbClr val="6B6B6B"/>
                </a:solidFill>
                <a:latin typeface="Calibri" pitchFamily="34" charset="0"/>
                <a:ea typeface="Calibri" pitchFamily="34" charset="-122"/>
                <a:cs typeface="Calibri" pitchFamily="34" charset="-120"/>
              </a:rPr>
              <a:t>Tout est dans le dépôt GitHub — prise en main en une commande, procédures écrites pour la suite</a:t>
            </a:r>
            <a:endParaRPr lang="en-US" sz="1300" dirty="0"/>
          </a:p>
        </p:txBody>
      </p:sp>
      <p:sp>
        <p:nvSpPr>
          <p:cNvPr id="4" name="Shape 2"/>
          <p:cNvSpPr/>
          <p:nvPr/>
        </p:nvSpPr>
        <p:spPr>
          <a:xfrm>
            <a:off x="457200" y="1252728"/>
            <a:ext cx="329184" cy="329184"/>
          </a:xfrm>
          <a:prstGeom prst="ellipse">
            <a:avLst/>
          </a:prstGeom>
          <a:solidFill>
            <a:srgbClr val="DE6262"/>
          </a:solidFill>
          <a:ln w="12700">
            <a:solidFill>
              <a:srgbClr val="DE6262"/>
            </a:solidFill>
            <a:prstDash val="solid"/>
          </a:ln>
        </p:spPr>
      </p:sp>
      <p:pic>
        <p:nvPicPr>
          <p:cNvPr id="5" name="Image 0" descr="preencoded.png">    </p:cNvPr>
          <p:cNvPicPr>
            <a:picLocks noChangeAspect="1"/>
          </p:cNvPicPr>
          <p:nvPr/>
        </p:nvPicPr>
        <p:blipFill>
          <a:blip r:embed="rId1"/>
          <a:stretch>
            <a:fillRect/>
          </a:stretch>
        </p:blipFill>
        <p:spPr>
          <a:xfrm>
            <a:off x="536204" y="1331732"/>
            <a:ext cx="171176" cy="171176"/>
          </a:xfrm>
          <a:prstGeom prst="rect">
            <a:avLst/>
          </a:prstGeom>
        </p:spPr>
      </p:pic>
      <p:sp>
        <p:nvSpPr>
          <p:cNvPr id="6" name="Text 3"/>
          <p:cNvSpPr txBox="1"/>
          <p:nvPr/>
        </p:nvSpPr>
        <p:spPr>
          <a:xfrm>
            <a:off x="896112" y="1234440"/>
            <a:ext cx="4023360" cy="502920"/>
          </a:xfrm>
          <a:prstGeom prst="rect">
            <a:avLst/>
          </a:prstGeom>
          <a:noFill/>
          <a:ln/>
        </p:spPr>
        <p:txBody>
          <a:bodyPr wrap="square" lIns="0" tIns="0" rIns="0" bIns="0" rtlCol="0" anchor="t"/>
          <a:lstStyle/>
          <a:p>
            <a:pPr indent="0" marL="0">
              <a:buNone/>
            </a:pPr>
            <a:r>
              <a:rPr lang="en-US" sz="1100" b="1" dirty="0">
                <a:solidFill>
                  <a:srgbClr val="1E1E1E"/>
                </a:solidFill>
                <a:latin typeface="Calibri" pitchFamily="34" charset="0"/>
                <a:ea typeface="Calibri" pitchFamily="34" charset="-122"/>
                <a:cs typeface="Calibri" pitchFamily="34" charset="-120"/>
              </a:rPr>
              <a:t>README</a:t>
            </a:r>
            <a:endParaRPr lang="en-US" sz="1100" dirty="0"/>
          </a:p>
          <a:p>
            <a:pPr indent="0" marL="0">
              <a:buNone/>
            </a:pPr>
            <a:r>
              <a:rPr lang="en-US" sz="950" dirty="0">
                <a:solidFill>
                  <a:srgbClr val="6B6B6B"/>
                </a:solidFill>
                <a:latin typeface="Calibri" pitchFamily="34" charset="0"/>
                <a:ea typeface="Calibri" pitchFamily="34" charset="-122"/>
                <a:cs typeface="Calibri" pitchFamily="34" charset="-120"/>
              </a:rPr>
              <a:t>prérequis, docker compose up en 1 commande, dev local, utilisation</a:t>
            </a:r>
            <a:endParaRPr lang="en-US" sz="1100" dirty="0"/>
          </a:p>
        </p:txBody>
      </p:sp>
      <p:sp>
        <p:nvSpPr>
          <p:cNvPr id="7" name="Shape 4"/>
          <p:cNvSpPr/>
          <p:nvPr/>
        </p:nvSpPr>
        <p:spPr>
          <a:xfrm>
            <a:off x="457200" y="1783080"/>
            <a:ext cx="329184" cy="329184"/>
          </a:xfrm>
          <a:prstGeom prst="ellipse">
            <a:avLst/>
          </a:prstGeom>
          <a:solidFill>
            <a:srgbClr val="DE6262"/>
          </a:solidFill>
          <a:ln w="12700">
            <a:solidFill>
              <a:srgbClr val="DE6262"/>
            </a:solidFill>
            <a:prstDash val="solid"/>
          </a:ln>
        </p:spPr>
      </p:sp>
      <p:pic>
        <p:nvPicPr>
          <p:cNvPr id="8" name="Image 1" descr="preencoded.png">    </p:cNvPr>
          <p:cNvPicPr>
            <a:picLocks noChangeAspect="1"/>
          </p:cNvPicPr>
          <p:nvPr/>
        </p:nvPicPr>
        <p:blipFill>
          <a:blip r:embed="rId2"/>
          <a:stretch>
            <a:fillRect/>
          </a:stretch>
        </p:blipFill>
        <p:spPr>
          <a:xfrm>
            <a:off x="536204" y="1862084"/>
            <a:ext cx="171176" cy="171176"/>
          </a:xfrm>
          <a:prstGeom prst="rect">
            <a:avLst/>
          </a:prstGeom>
        </p:spPr>
      </p:pic>
      <p:sp>
        <p:nvSpPr>
          <p:cNvPr id="9" name="Text 5"/>
          <p:cNvSpPr txBox="1"/>
          <p:nvPr/>
        </p:nvSpPr>
        <p:spPr>
          <a:xfrm>
            <a:off x="896112" y="1764792"/>
            <a:ext cx="4023360" cy="502920"/>
          </a:xfrm>
          <a:prstGeom prst="rect">
            <a:avLst/>
          </a:prstGeom>
          <a:noFill/>
          <a:ln/>
        </p:spPr>
        <p:txBody>
          <a:bodyPr wrap="square" lIns="0" tIns="0" rIns="0" bIns="0" rtlCol="0" anchor="t"/>
          <a:lstStyle/>
          <a:p>
            <a:pPr indent="0" marL="0">
              <a:buNone/>
            </a:pPr>
            <a:r>
              <a:rPr lang="en-US" sz="1100" b="1" dirty="0">
                <a:solidFill>
                  <a:srgbClr val="1E1E1E"/>
                </a:solidFill>
                <a:latin typeface="Calibri" pitchFamily="34" charset="0"/>
                <a:ea typeface="Calibri" pitchFamily="34" charset="-122"/>
                <a:cs typeface="Calibri" pitchFamily="34" charset="-120"/>
              </a:rPr>
              <a:t>Documentation technique (PDF, 29 p.)</a:t>
            </a:r>
            <a:endParaRPr lang="en-US" sz="1100" dirty="0"/>
          </a:p>
          <a:p>
            <a:pPr indent="0" marL="0">
              <a:buNone/>
            </a:pPr>
            <a:r>
              <a:rPr lang="en-US" sz="950" dirty="0">
                <a:solidFill>
                  <a:srgbClr val="6B6B6B"/>
                </a:solidFill>
                <a:latin typeface="Calibri" pitchFamily="34" charset="0"/>
                <a:ea typeface="Calibri" pitchFamily="34" charset="-122"/>
                <a:cs typeface="Calibri" pitchFamily="34" charset="-120"/>
              </a:rPr>
              <a:t>architecture, choix, modèle de données, API, sécurité, qualité, installation, IA</a:t>
            </a:r>
            <a:endParaRPr lang="en-US" sz="1100" dirty="0"/>
          </a:p>
        </p:txBody>
      </p:sp>
      <p:sp>
        <p:nvSpPr>
          <p:cNvPr id="10" name="Shape 6"/>
          <p:cNvSpPr/>
          <p:nvPr/>
        </p:nvSpPr>
        <p:spPr>
          <a:xfrm>
            <a:off x="457200" y="2313432"/>
            <a:ext cx="329184" cy="329184"/>
          </a:xfrm>
          <a:prstGeom prst="ellipse">
            <a:avLst/>
          </a:prstGeom>
          <a:solidFill>
            <a:srgbClr val="DE6262"/>
          </a:solidFill>
          <a:ln w="12700">
            <a:solidFill>
              <a:srgbClr val="DE6262"/>
            </a:solidFill>
            <a:prstDash val="solid"/>
          </a:ln>
        </p:spPr>
      </p:sp>
      <p:pic>
        <p:nvPicPr>
          <p:cNvPr id="11" name="Image 2" descr="preencoded.png">    </p:cNvPr>
          <p:cNvPicPr>
            <a:picLocks noChangeAspect="1"/>
          </p:cNvPicPr>
          <p:nvPr/>
        </p:nvPicPr>
        <p:blipFill>
          <a:blip r:embed="rId3"/>
          <a:stretch>
            <a:fillRect/>
          </a:stretch>
        </p:blipFill>
        <p:spPr>
          <a:xfrm>
            <a:off x="536204" y="2392436"/>
            <a:ext cx="171176" cy="171176"/>
          </a:xfrm>
          <a:prstGeom prst="rect">
            <a:avLst/>
          </a:prstGeom>
        </p:spPr>
      </p:pic>
      <p:sp>
        <p:nvSpPr>
          <p:cNvPr id="12" name="Text 7"/>
          <p:cNvSpPr txBox="1"/>
          <p:nvPr/>
        </p:nvSpPr>
        <p:spPr>
          <a:xfrm>
            <a:off x="896112" y="2295144"/>
            <a:ext cx="4023360" cy="502920"/>
          </a:xfrm>
          <a:prstGeom prst="rect">
            <a:avLst/>
          </a:prstGeom>
          <a:noFill/>
          <a:ln/>
        </p:spPr>
        <p:txBody>
          <a:bodyPr wrap="square" lIns="0" tIns="0" rIns="0" bIns="0" rtlCol="0" anchor="t"/>
          <a:lstStyle/>
          <a:p>
            <a:pPr indent="0" marL="0">
              <a:buNone/>
            </a:pPr>
            <a:r>
              <a:rPr lang="en-US" sz="1100" b="1" dirty="0">
                <a:solidFill>
                  <a:srgbClr val="1E1E1E"/>
                </a:solidFill>
                <a:latin typeface="Calibri" pitchFamily="34" charset="0"/>
                <a:ea typeface="Calibri" pitchFamily="34" charset="-122"/>
                <a:cs typeface="Calibri" pitchFamily="34" charset="-120"/>
              </a:rPr>
              <a:t>OpenAPI + API_REFERENCE.md</a:t>
            </a:r>
            <a:endParaRPr lang="en-US" sz="1100" dirty="0"/>
          </a:p>
          <a:p>
            <a:pPr indent="0" marL="0">
              <a:buNone/>
            </a:pPr>
            <a:r>
              <a:rPr lang="en-US" sz="950" dirty="0">
                <a:solidFill>
                  <a:srgbClr val="6B6B6B"/>
                </a:solidFill>
                <a:latin typeface="Calibri" pitchFamily="34" charset="0"/>
                <a:ea typeface="Calibri" pitchFamily="34" charset="-122"/>
                <a:cs typeface="Calibri" pitchFamily="34" charset="-120"/>
              </a:rPr>
              <a:t>contrat machine validé + référence lisible, Swagger en dev</a:t>
            </a:r>
            <a:endParaRPr lang="en-US" sz="1100" dirty="0"/>
          </a:p>
        </p:txBody>
      </p:sp>
      <p:sp>
        <p:nvSpPr>
          <p:cNvPr id="13" name="Shape 8"/>
          <p:cNvSpPr/>
          <p:nvPr/>
        </p:nvSpPr>
        <p:spPr>
          <a:xfrm>
            <a:off x="457200" y="2843784"/>
            <a:ext cx="329184" cy="329184"/>
          </a:xfrm>
          <a:prstGeom prst="ellipse">
            <a:avLst/>
          </a:prstGeom>
          <a:solidFill>
            <a:srgbClr val="DE6262"/>
          </a:solidFill>
          <a:ln w="12700">
            <a:solidFill>
              <a:srgbClr val="DE6262"/>
            </a:solidFill>
            <a:prstDash val="solid"/>
          </a:ln>
        </p:spPr>
      </p:sp>
      <p:pic>
        <p:nvPicPr>
          <p:cNvPr id="14" name="Image 3" descr="preencoded.png">    </p:cNvPr>
          <p:cNvPicPr>
            <a:picLocks noChangeAspect="1"/>
          </p:cNvPicPr>
          <p:nvPr/>
        </p:nvPicPr>
        <p:blipFill>
          <a:blip r:embed="rId4"/>
          <a:stretch>
            <a:fillRect/>
          </a:stretch>
        </p:blipFill>
        <p:spPr>
          <a:xfrm>
            <a:off x="536204" y="2922788"/>
            <a:ext cx="171176" cy="171176"/>
          </a:xfrm>
          <a:prstGeom prst="rect">
            <a:avLst/>
          </a:prstGeom>
        </p:spPr>
      </p:pic>
      <p:sp>
        <p:nvSpPr>
          <p:cNvPr id="15" name="Text 9"/>
          <p:cNvSpPr txBox="1"/>
          <p:nvPr/>
        </p:nvSpPr>
        <p:spPr>
          <a:xfrm>
            <a:off x="896112" y="2825496"/>
            <a:ext cx="4023360" cy="502920"/>
          </a:xfrm>
          <a:prstGeom prst="rect">
            <a:avLst/>
          </a:prstGeom>
          <a:noFill/>
          <a:ln/>
        </p:spPr>
        <p:txBody>
          <a:bodyPr wrap="square" lIns="0" tIns="0" rIns="0" bIns="0" rtlCol="0" anchor="t"/>
          <a:lstStyle/>
          <a:p>
            <a:pPr indent="0" marL="0">
              <a:buNone/>
            </a:pPr>
            <a:r>
              <a:rPr lang="en-US" sz="1100" b="1" dirty="0">
                <a:solidFill>
                  <a:srgbClr val="1E1E1E"/>
                </a:solidFill>
                <a:latin typeface="Calibri" pitchFamily="34" charset="0"/>
                <a:ea typeface="Calibri" pitchFamily="34" charset="-122"/>
                <a:cs typeface="Calibri" pitchFamily="34" charset="-120"/>
              </a:rPr>
              <a:t>TESTING · SECURITY · PERF · MAINTENANCE</a:t>
            </a:r>
            <a:endParaRPr lang="en-US" sz="1100" dirty="0"/>
          </a:p>
          <a:p>
            <a:pPr indent="0" marL="0">
              <a:buNone/>
            </a:pPr>
            <a:r>
              <a:rPr lang="en-US" sz="950" dirty="0">
                <a:solidFill>
                  <a:srgbClr val="6B6B6B"/>
                </a:solidFill>
                <a:latin typeface="Calibri" pitchFamily="34" charset="0"/>
                <a:ea typeface="Calibri" pitchFamily="34" charset="-122"/>
                <a:cs typeface="Calibri" pitchFamily="34" charset="-120"/>
              </a:rPr>
              <a:t>plan de tests, audits datés et décisions, k6/Lighthouse/logs, exploitation</a:t>
            </a:r>
            <a:endParaRPr lang="en-US" sz="1100" dirty="0"/>
          </a:p>
        </p:txBody>
      </p:sp>
      <p:sp>
        <p:nvSpPr>
          <p:cNvPr id="16" name="Shape 10"/>
          <p:cNvSpPr/>
          <p:nvPr/>
        </p:nvSpPr>
        <p:spPr>
          <a:xfrm>
            <a:off x="457200" y="3374136"/>
            <a:ext cx="329184" cy="329184"/>
          </a:xfrm>
          <a:prstGeom prst="ellipse">
            <a:avLst/>
          </a:prstGeom>
          <a:solidFill>
            <a:srgbClr val="DE6262"/>
          </a:solidFill>
          <a:ln w="12700">
            <a:solidFill>
              <a:srgbClr val="DE6262"/>
            </a:solidFill>
            <a:prstDash val="solid"/>
          </a:ln>
        </p:spPr>
      </p:sp>
      <p:pic>
        <p:nvPicPr>
          <p:cNvPr id="17" name="Image 4" descr="preencoded.png">    </p:cNvPr>
          <p:cNvPicPr>
            <a:picLocks noChangeAspect="1"/>
          </p:cNvPicPr>
          <p:nvPr/>
        </p:nvPicPr>
        <p:blipFill>
          <a:blip r:embed="rId5"/>
          <a:stretch>
            <a:fillRect/>
          </a:stretch>
        </p:blipFill>
        <p:spPr>
          <a:xfrm>
            <a:off x="536204" y="3453140"/>
            <a:ext cx="171176" cy="171176"/>
          </a:xfrm>
          <a:prstGeom prst="rect">
            <a:avLst/>
          </a:prstGeom>
        </p:spPr>
      </p:pic>
      <p:sp>
        <p:nvSpPr>
          <p:cNvPr id="18" name="Text 11"/>
          <p:cNvSpPr txBox="1"/>
          <p:nvPr/>
        </p:nvSpPr>
        <p:spPr>
          <a:xfrm>
            <a:off x="896112" y="3355848"/>
            <a:ext cx="4023360" cy="502920"/>
          </a:xfrm>
          <a:prstGeom prst="rect">
            <a:avLst/>
          </a:prstGeom>
          <a:noFill/>
          <a:ln/>
        </p:spPr>
        <p:txBody>
          <a:bodyPr wrap="square" lIns="0" tIns="0" rIns="0" bIns="0" rtlCol="0" anchor="t"/>
          <a:lstStyle/>
          <a:p>
            <a:pPr indent="0" marL="0">
              <a:buNone/>
            </a:pPr>
            <a:r>
              <a:rPr lang="en-US" sz="1100" b="1" dirty="0">
                <a:solidFill>
                  <a:srgbClr val="1E1E1E"/>
                </a:solidFill>
                <a:latin typeface="Calibri" pitchFamily="34" charset="0"/>
                <a:ea typeface="Calibri" pitchFamily="34" charset="-122"/>
                <a:cs typeface="Calibri" pitchFamily="34" charset="-120"/>
              </a:rPr>
              <a:t>scripts/</a:t>
            </a:r>
            <a:endParaRPr lang="en-US" sz="1100" dirty="0"/>
          </a:p>
          <a:p>
            <a:pPr indent="0" marL="0">
              <a:buNone/>
            </a:pPr>
            <a:r>
              <a:rPr lang="en-US" sz="950" dirty="0">
                <a:solidFill>
                  <a:srgbClr val="6B6B6B"/>
                </a:solidFill>
                <a:latin typeface="Calibri" pitchFamily="34" charset="0"/>
                <a:ea typeface="Calibri" pitchFamily="34" charset="-122"/>
                <a:cs typeface="Calibri" pitchFamily="34" charset="-120"/>
              </a:rPr>
              <a:t>deploy.ps1 / .sh, db-backup, db-restore, verify.ps1 (tests + couverture + audits)</a:t>
            </a:r>
            <a:endParaRPr lang="en-US" sz="1100" dirty="0"/>
          </a:p>
        </p:txBody>
      </p:sp>
      <p:sp>
        <p:nvSpPr>
          <p:cNvPr id="19" name="Shape 12"/>
          <p:cNvSpPr/>
          <p:nvPr/>
        </p:nvSpPr>
        <p:spPr>
          <a:xfrm>
            <a:off x="457200" y="3904488"/>
            <a:ext cx="329184" cy="329184"/>
          </a:xfrm>
          <a:prstGeom prst="ellipse">
            <a:avLst/>
          </a:prstGeom>
          <a:solidFill>
            <a:srgbClr val="DE6262"/>
          </a:solidFill>
          <a:ln w="12700">
            <a:solidFill>
              <a:srgbClr val="DE6262"/>
            </a:solidFill>
            <a:prstDash val="solid"/>
          </a:ln>
        </p:spPr>
      </p:sp>
      <p:pic>
        <p:nvPicPr>
          <p:cNvPr id="20" name="Image 5" descr="preencoded.png">    </p:cNvPr>
          <p:cNvPicPr>
            <a:picLocks noChangeAspect="1"/>
          </p:cNvPicPr>
          <p:nvPr/>
        </p:nvPicPr>
        <p:blipFill>
          <a:blip r:embed="rId6"/>
          <a:stretch>
            <a:fillRect/>
          </a:stretch>
        </p:blipFill>
        <p:spPr>
          <a:xfrm>
            <a:off x="536204" y="3983492"/>
            <a:ext cx="171176" cy="171176"/>
          </a:xfrm>
          <a:prstGeom prst="rect">
            <a:avLst/>
          </a:prstGeom>
        </p:spPr>
      </p:pic>
      <p:sp>
        <p:nvSpPr>
          <p:cNvPr id="21" name="Text 13"/>
          <p:cNvSpPr txBox="1"/>
          <p:nvPr/>
        </p:nvSpPr>
        <p:spPr>
          <a:xfrm>
            <a:off x="896112" y="3886200"/>
            <a:ext cx="4023360" cy="502920"/>
          </a:xfrm>
          <a:prstGeom prst="rect">
            <a:avLst/>
          </a:prstGeom>
          <a:noFill/>
          <a:ln/>
        </p:spPr>
        <p:txBody>
          <a:bodyPr wrap="square" lIns="0" tIns="0" rIns="0" bIns="0" rtlCol="0" anchor="t"/>
          <a:lstStyle/>
          <a:p>
            <a:pPr indent="0" marL="0">
              <a:buNone/>
            </a:pPr>
            <a:r>
              <a:rPr lang="en-US" sz="1100" b="1" dirty="0">
                <a:solidFill>
                  <a:srgbClr val="1E1E1E"/>
                </a:solidFill>
                <a:latin typeface="Calibri" pitchFamily="34" charset="0"/>
                <a:ea typeface="Calibri" pitchFamily="34" charset="-122"/>
                <a:cs typeface="Calibri" pitchFamily="34" charset="-120"/>
              </a:rPr>
              <a:t>Historique Git</a:t>
            </a:r>
            <a:endParaRPr lang="en-US" sz="1100" dirty="0"/>
          </a:p>
          <a:p>
            <a:pPr indent="0" marL="0">
              <a:buNone/>
            </a:pPr>
            <a:r>
              <a:rPr lang="en-US" sz="950" dirty="0">
                <a:solidFill>
                  <a:srgbClr val="6B6B6B"/>
                </a:solidFill>
                <a:latin typeface="Calibri" pitchFamily="34" charset="0"/>
                <a:ea typeface="Calibri" pitchFamily="34" charset="-122"/>
                <a:cs typeface="Calibri" pitchFamily="34" charset="-120"/>
              </a:rPr>
              <a:t>conventional commits, branches main / develop, contributions IA isolées</a:t>
            </a:r>
            <a:endParaRPr lang="en-US" sz="1100" dirty="0"/>
          </a:p>
        </p:txBody>
      </p:sp>
      <p:sp>
        <p:nvSpPr>
          <p:cNvPr id="22" name="Shape 14"/>
          <p:cNvSpPr/>
          <p:nvPr/>
        </p:nvSpPr>
        <p:spPr>
          <a:xfrm>
            <a:off x="5212080" y="1234440"/>
            <a:ext cx="3566160" cy="3154680"/>
          </a:xfrm>
          <a:prstGeom prst="roundRect">
            <a:avLst>
              <a:gd name="adj" fmla="val 2319"/>
            </a:avLst>
          </a:prstGeom>
          <a:solidFill>
            <a:srgbClr val="FFF4EE"/>
          </a:solidFill>
          <a:ln w="6350">
            <a:solidFill>
              <a:srgbClr val="FFF4EE"/>
            </a:solidFill>
            <a:prstDash val="solid"/>
          </a:ln>
        </p:spPr>
      </p:sp>
      <p:sp>
        <p:nvSpPr>
          <p:cNvPr id="23" name="Text 15"/>
          <p:cNvSpPr txBox="1"/>
          <p:nvPr/>
        </p:nvSpPr>
        <p:spPr>
          <a:xfrm>
            <a:off x="5394960" y="1325880"/>
            <a:ext cx="3200400" cy="292608"/>
          </a:xfrm>
          <a:prstGeom prst="rect">
            <a:avLst/>
          </a:prstGeom>
          <a:noFill/>
          <a:ln/>
        </p:spPr>
        <p:txBody>
          <a:bodyPr wrap="square" lIns="0" tIns="0" rIns="0" bIns="0" rtlCol="0" anchor="ctr"/>
          <a:lstStyle/>
          <a:p>
            <a:pPr indent="0" marL="0">
              <a:buNone/>
            </a:pPr>
            <a:r>
              <a:rPr lang="en-US" sz="1250" b="1" dirty="0">
                <a:solidFill>
                  <a:srgbClr val="2C2C2C"/>
                </a:solidFill>
                <a:latin typeface="Calibri" pitchFamily="34" charset="0"/>
                <a:ea typeface="Calibri" pitchFamily="34" charset="-122"/>
                <a:cs typeface="Calibri" pitchFamily="34" charset="-120"/>
              </a:rPr>
              <a:t>Maintenance (MAINTENANCE.md)</a:t>
            </a:r>
            <a:endParaRPr lang="en-US" sz="1250" dirty="0"/>
          </a:p>
        </p:txBody>
      </p:sp>
      <p:sp>
        <p:nvSpPr>
          <p:cNvPr id="24" name="Text 16"/>
          <p:cNvSpPr txBox="1"/>
          <p:nvPr/>
        </p:nvSpPr>
        <p:spPr>
          <a:xfrm>
            <a:off x="5394960" y="1691640"/>
            <a:ext cx="3246120" cy="2651760"/>
          </a:xfrm>
          <a:prstGeom prst="rect">
            <a:avLst/>
          </a:prstGeom>
          <a:noFill/>
          <a:ln/>
        </p:spPr>
        <p:txBody>
          <a:bodyPr wrap="square" lIns="0" tIns="0" rIns="0" bIns="0" rtlCol="0" anchor="t"/>
          <a:lstStyle/>
          <a:p>
            <a:pPr marL="152400" indent="-152400">
              <a:spcAft>
                <a:spcPts val="400"/>
              </a:spcAft>
              <a:buSzPct val="100000"/>
              <a:buChar char="•"/>
            </a:pPr>
            <a:r>
              <a:rPr lang="en-US" sz="950" dirty="0">
                <a:solidFill>
                  <a:srgbClr val="1E1E1E"/>
                </a:solidFill>
                <a:latin typeface="Calibri" pitchFamily="34" charset="0"/>
                <a:ea typeface="Calibri" pitchFamily="34" charset="-122"/>
                <a:cs typeface="Calibri" pitchFamily="34" charset="-120"/>
              </a:rPr>
              <a:t>Mises à jour : audit npm + NuGet à chaque livraison, patch/mineures mensuelles, majeures 1–2×/an sur branche dédiée</a:t>
            </a:r>
            <a:endParaRPr lang="en-US" sz="950" dirty="0"/>
          </a:p>
          <a:p>
            <a:pPr marL="152400" indent="-152400">
              <a:spcAft>
                <a:spcPts val="400"/>
              </a:spcAft>
              <a:buSzPct val="100000"/>
              <a:buChar char="•"/>
            </a:pPr>
            <a:r>
              <a:rPr lang="en-US" sz="950" dirty="0">
                <a:solidFill>
                  <a:srgbClr val="1E1E1E"/>
                </a:solidFill>
                <a:latin typeface="Calibri" pitchFamily="34" charset="0"/>
                <a:ea typeface="Calibri" pitchFamily="34" charset="-122"/>
                <a:cs typeface="Calibri" pitchFamily="34" charset="-120"/>
              </a:rPr>
              <a:t>Risques → parades : jamais npm audit fix --force ; pg_dump avant changement de majeure PostgreSQL ; dotnet test + build front après chaque mise à jour</a:t>
            </a:r>
            <a:endParaRPr lang="en-US" sz="950" dirty="0"/>
          </a:p>
          <a:p>
            <a:pPr marL="152400" indent="-152400">
              <a:spcAft>
                <a:spcPts val="400"/>
              </a:spcAft>
              <a:buSzPct val="100000"/>
              <a:buChar char="•"/>
            </a:pPr>
            <a:r>
              <a:rPr lang="en-US" sz="950" dirty="0">
                <a:solidFill>
                  <a:srgbClr val="1E1E1E"/>
                </a:solidFill>
                <a:latin typeface="Calibri" pitchFamily="34" charset="0"/>
                <a:ea typeface="Calibri" pitchFamily="34" charset="-122"/>
                <a:cs typeface="Calibri" pitchFamily="34" charset="-120"/>
              </a:rPr>
              <a:t>Bug : reproduire (test qui échoue) → isoler la couche → branche fix/ → tests → revue → merge</a:t>
            </a:r>
            <a:endParaRPr lang="en-US" sz="950" dirty="0"/>
          </a:p>
          <a:p>
            <a:pPr marL="152400" indent="-152400">
              <a:spcAft>
                <a:spcPts val="400"/>
              </a:spcAft>
              <a:buSzPct val="100000"/>
              <a:buChar char="•"/>
            </a:pPr>
            <a:r>
              <a:rPr lang="en-US" sz="950" dirty="0">
                <a:solidFill>
                  <a:srgbClr val="1E1E1E"/>
                </a:solidFill>
                <a:latin typeface="Calibri" pitchFamily="34" charset="0"/>
                <a:ea typeface="Calibri" pitchFamily="34" charset="-122"/>
                <a:cs typeface="Calibri" pitchFamily="34" charset="-120"/>
              </a:rPr>
              <a:t>Sauvegardes : base (pg_dump) + volume des fichiers, ensemble ; migrations EF appliquées au démarrage</a:t>
            </a:r>
            <a:endParaRPr lang="en-US" sz="950" dirty="0"/>
          </a:p>
          <a:p>
            <a:pPr marL="152400" indent="-152400">
              <a:spcAft>
                <a:spcPts val="400"/>
              </a:spcAft>
              <a:buSzPct val="100000"/>
              <a:buChar char="•"/>
            </a:pPr>
            <a:r>
              <a:rPr lang="en-US" sz="950" dirty="0">
                <a:solidFill>
                  <a:srgbClr val="1E1E1E"/>
                </a:solidFill>
                <a:latin typeface="Calibri" pitchFamily="34" charset="0"/>
                <a:ea typeface="Calibri" pitchFamily="34" charset="-122"/>
                <a:cs typeface="Calibri" pitchFamily="34" charset="-120"/>
              </a:rPr>
              <a:t>Cas réel : CVE Microsoft.OpenApi (08/2026) — risque évalué, patch mineur, tests verts ; 13 avis npm (09/2026) corrigés</a:t>
            </a:r>
            <a:endParaRPr lang="en-US" sz="950" dirty="0"/>
          </a:p>
        </p:txBody>
      </p:sp>
      <p:sp>
        <p:nvSpPr>
          <p:cNvPr id="25" name="Text 17"/>
          <p:cNvSpPr txBox="1"/>
          <p:nvPr/>
        </p:nvSpPr>
        <p:spPr>
          <a:xfrm>
            <a:off x="457200" y="4818888"/>
            <a:ext cx="4572000" cy="228600"/>
          </a:xfrm>
          <a:prstGeom prst="rect">
            <a:avLst/>
          </a:prstGeom>
          <a:noFill/>
          <a:ln/>
        </p:spPr>
        <p:txBody>
          <a:bodyPr wrap="square" lIns="0" tIns="0" rIns="0" bIns="0" rtlCol="0" anchor="ctr"/>
          <a:lstStyle/>
          <a:p>
            <a:pPr indent="0" marL="0">
              <a:buNone/>
            </a:pPr>
            <a:r>
              <a:rPr lang="en-US" sz="900" dirty="0">
                <a:solidFill>
                  <a:srgbClr val="A0A0A0"/>
                </a:solidFill>
                <a:latin typeface="Calibri" pitchFamily="34" charset="0"/>
                <a:ea typeface="Calibri" pitchFamily="34" charset="-122"/>
                <a:cs typeface="Calibri" pitchFamily="34" charset="-120"/>
              </a:rPr>
              <a:t>DataShare — Soutenance Projet 4</a:t>
            </a:r>
            <a:endParaRPr lang="en-US" sz="900" dirty="0"/>
          </a:p>
        </p:txBody>
      </p:sp>
      <p:sp>
        <p:nvSpPr>
          <p:cNvPr id="26" name="Text 18"/>
          <p:cNvSpPr txBox="1"/>
          <p:nvPr/>
        </p:nvSpPr>
        <p:spPr>
          <a:xfrm>
            <a:off x="8229600" y="4818888"/>
            <a:ext cx="457200" cy="228600"/>
          </a:xfrm>
          <a:prstGeom prst="rect">
            <a:avLst/>
          </a:prstGeom>
          <a:noFill/>
          <a:ln/>
        </p:spPr>
        <p:txBody>
          <a:bodyPr wrap="square" lIns="0" tIns="0" rIns="0" bIns="0" rtlCol="0" anchor="ctr"/>
          <a:lstStyle/>
          <a:p>
            <a:pPr algn="r" indent="0" marL="0">
              <a:buNone/>
            </a:pPr>
            <a:r>
              <a:rPr lang="en-US" sz="900" dirty="0">
                <a:solidFill>
                  <a:srgbClr val="A0A0A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3000" b="1" dirty="0">
                <a:solidFill>
                  <a:srgbClr val="2C2C2C"/>
                </a:solidFill>
                <a:latin typeface="Calibri" pitchFamily="34" charset="0"/>
                <a:ea typeface="Calibri" pitchFamily="34" charset="-122"/>
                <a:cs typeface="Calibri" pitchFamily="34" charset="-120"/>
              </a:rPr>
              <a:t>Pilotage du copilote IA — US08 « Tags »</a:t>
            </a:r>
            <a:endParaRPr lang="en-US" sz="3000" dirty="0"/>
          </a:p>
        </p:txBody>
      </p:sp>
      <p:sp>
        <p:nvSpPr>
          <p:cNvPr id="3" name="Text 1"/>
          <p:cNvSpPr txBox="1"/>
          <p:nvPr/>
        </p:nvSpPr>
        <p:spPr>
          <a:xfrm>
            <a:off x="457200" y="804672"/>
            <a:ext cx="8229600" cy="292608"/>
          </a:xfrm>
          <a:prstGeom prst="rect">
            <a:avLst/>
          </a:prstGeom>
          <a:noFill/>
          <a:ln/>
        </p:spPr>
        <p:txBody>
          <a:bodyPr wrap="square" lIns="0" tIns="0" rIns="0" bIns="0" rtlCol="0" anchor="ctr"/>
          <a:lstStyle/>
          <a:p>
            <a:pPr indent="0" marL="0">
              <a:buNone/>
            </a:pPr>
            <a:r>
              <a:rPr lang="en-US" sz="1300" dirty="0">
                <a:solidFill>
                  <a:srgbClr val="6B6B6B"/>
                </a:solidFill>
                <a:latin typeface="Calibri" pitchFamily="34" charset="0"/>
                <a:ea typeface="Calibri" pitchFamily="34" charset="-122"/>
                <a:cs typeface="Calibri" pitchFamily="34" charset="-120"/>
              </a:rPr>
              <a:t>Une user story confiée à l'IA comme à un développeur junior : cadrage, relecture, correctifs, traçabilité (AI_USAGE.md)</a:t>
            </a:r>
            <a:endParaRPr lang="en-US" sz="1300" dirty="0"/>
          </a:p>
        </p:txBody>
      </p:sp>
      <p:sp>
        <p:nvSpPr>
          <p:cNvPr id="4" name="Shape 2"/>
          <p:cNvSpPr/>
          <p:nvPr/>
        </p:nvSpPr>
        <p:spPr>
          <a:xfrm>
            <a:off x="457200" y="1234440"/>
            <a:ext cx="2651760" cy="3063240"/>
          </a:xfrm>
          <a:prstGeom prst="roundRect">
            <a:avLst>
              <a:gd name="adj" fmla="val 2759"/>
            </a:avLst>
          </a:prstGeom>
          <a:solidFill>
            <a:srgbClr val="FFF4EE"/>
          </a:solidFill>
          <a:ln w="6350">
            <a:solidFill>
              <a:srgbClr val="FFF4EE"/>
            </a:solidFill>
            <a:prstDash val="solid"/>
          </a:ln>
        </p:spPr>
      </p:sp>
      <p:sp>
        <p:nvSpPr>
          <p:cNvPr id="5" name="Shape 3"/>
          <p:cNvSpPr/>
          <p:nvPr/>
        </p:nvSpPr>
        <p:spPr>
          <a:xfrm>
            <a:off x="594360" y="1371600"/>
            <a:ext cx="365760" cy="365760"/>
          </a:xfrm>
          <a:prstGeom prst="ellipse">
            <a:avLst/>
          </a:prstGeom>
          <a:solidFill>
            <a:srgbClr val="DE6262"/>
          </a:solidFill>
          <a:ln w="12700">
            <a:solidFill>
              <a:srgbClr val="DE6262"/>
            </a:solidFill>
            <a:prstDash val="solid"/>
          </a:ln>
        </p:spPr>
      </p:sp>
      <p:pic>
        <p:nvPicPr>
          <p:cNvPr id="6" name="Image 0" descr="preencoded.png">    </p:cNvPr>
          <p:cNvPicPr>
            <a:picLocks noChangeAspect="1"/>
          </p:cNvPicPr>
          <p:nvPr/>
        </p:nvPicPr>
        <p:blipFill>
          <a:blip r:embed="rId1"/>
          <a:stretch>
            <a:fillRect/>
          </a:stretch>
        </p:blipFill>
        <p:spPr>
          <a:xfrm>
            <a:off x="682142" y="1459382"/>
            <a:ext cx="190195" cy="190195"/>
          </a:xfrm>
          <a:prstGeom prst="rect">
            <a:avLst/>
          </a:prstGeom>
        </p:spPr>
      </p:pic>
      <p:sp>
        <p:nvSpPr>
          <p:cNvPr id="7" name="Text 4"/>
          <p:cNvSpPr txBox="1"/>
          <p:nvPr/>
        </p:nvSpPr>
        <p:spPr>
          <a:xfrm>
            <a:off x="1051560" y="1389888"/>
            <a:ext cx="1920240" cy="329184"/>
          </a:xfrm>
          <a:prstGeom prst="rect">
            <a:avLst/>
          </a:prstGeom>
          <a:noFill/>
          <a:ln/>
        </p:spPr>
        <p:txBody>
          <a:bodyPr wrap="square" lIns="0" tIns="0" rIns="0" bIns="0" rtlCol="0" anchor="ctr"/>
          <a:lstStyle/>
          <a:p>
            <a:pPr indent="0" marL="0">
              <a:buNone/>
            </a:pPr>
            <a:r>
              <a:rPr lang="en-US" sz="1250" b="1" dirty="0">
                <a:solidFill>
                  <a:srgbClr val="2C2C2C"/>
                </a:solidFill>
                <a:latin typeface="Calibri" pitchFamily="34" charset="0"/>
                <a:ea typeface="Calibri" pitchFamily="34" charset="-122"/>
                <a:cs typeface="Calibri" pitchFamily="34" charset="-120"/>
              </a:rPr>
              <a:t>1 · Tâche assignée</a:t>
            </a:r>
            <a:endParaRPr lang="en-US" sz="1250" dirty="0"/>
          </a:p>
        </p:txBody>
      </p:sp>
      <p:sp>
        <p:nvSpPr>
          <p:cNvPr id="8" name="Text 5"/>
          <p:cNvSpPr txBox="1"/>
          <p:nvPr/>
        </p:nvSpPr>
        <p:spPr>
          <a:xfrm>
            <a:off x="594360" y="1801368"/>
            <a:ext cx="2377440" cy="384048"/>
          </a:xfrm>
          <a:prstGeom prst="rect">
            <a:avLst/>
          </a:prstGeom>
          <a:noFill/>
          <a:ln/>
        </p:spPr>
        <p:txBody>
          <a:bodyPr wrap="square" lIns="0" tIns="0" rIns="0" bIns="0" rtlCol="0" anchor="ctr"/>
          <a:lstStyle/>
          <a:p>
            <a:pPr indent="0" marL="0">
              <a:buNone/>
            </a:pPr>
            <a:r>
              <a:rPr lang="en-US" sz="950" dirty="0">
                <a:solidFill>
                  <a:srgbClr val="1E1E1E"/>
                </a:solidFill>
                <a:latin typeface="Calibri" pitchFamily="34" charset="0"/>
                <a:ea typeface="Calibri" pitchFamily="34" charset="-122"/>
                <a:cs typeface="Calibri" pitchFamily="34" charset="-120"/>
              </a:rPr>
              <a:t>Prompt tracé dans IA_Instructions.txt — front uniquement :</a:t>
            </a:r>
            <a:endParaRPr lang="en-US" sz="950" dirty="0"/>
          </a:p>
        </p:txBody>
      </p:sp>
      <p:sp>
        <p:nvSpPr>
          <p:cNvPr id="9" name="Shape 6"/>
          <p:cNvSpPr/>
          <p:nvPr/>
        </p:nvSpPr>
        <p:spPr>
          <a:xfrm>
            <a:off x="594360" y="2194560"/>
            <a:ext cx="2377440" cy="1051560"/>
          </a:xfrm>
          <a:prstGeom prst="roundRect">
            <a:avLst>
              <a:gd name="adj" fmla="val 4348"/>
            </a:avLst>
          </a:prstGeom>
          <a:solidFill>
            <a:srgbClr val="FFFFFF"/>
          </a:solidFill>
          <a:ln w="6350">
            <a:solidFill>
              <a:srgbClr val="E6E0DB"/>
            </a:solidFill>
            <a:prstDash val="solid"/>
          </a:ln>
        </p:spPr>
      </p:sp>
      <p:sp>
        <p:nvSpPr>
          <p:cNvPr id="10" name="Text 7"/>
          <p:cNvSpPr txBox="1"/>
          <p:nvPr/>
        </p:nvSpPr>
        <p:spPr>
          <a:xfrm>
            <a:off x="658368" y="2240280"/>
            <a:ext cx="2249424" cy="960120"/>
          </a:xfrm>
          <a:prstGeom prst="rect">
            <a:avLst/>
          </a:prstGeom>
          <a:noFill/>
          <a:ln/>
        </p:spPr>
        <p:txBody>
          <a:bodyPr wrap="square" lIns="0" tIns="0" rIns="0" bIns="0" rtlCol="0" anchor="t"/>
          <a:lstStyle/>
          <a:p>
            <a:pPr indent="0" marL="0">
              <a:buNone/>
            </a:pPr>
            <a:r>
              <a:rPr lang="en-US" sz="900" i="1" dirty="0">
                <a:solidFill>
                  <a:srgbClr val="1E1E1E"/>
                </a:solidFill>
                <a:latin typeface="Calibri" pitchFamily="34" charset="0"/>
                <a:ea typeface="Calibri" pitchFamily="34" charset="-122"/>
                <a:cs typeface="Calibri" pitchFamily="34" charset="-120"/>
              </a:rPr>
              <a:t>« Chips de tags à l'upload (Enter), affichage dans Mon espace, filtre local case-insensitive.</a:t>
            </a:r>
            <a:endParaRPr lang="en-US" sz="900" dirty="0"/>
          </a:p>
          <a:p>
            <a:pPr indent="0" marL="0">
              <a:buNone/>
            </a:pPr>
            <a:r>
              <a:rPr lang="en-US" sz="900" i="1" dirty="0">
                <a:solidFill>
                  <a:srgbClr val="1E1E1E"/>
                </a:solidFill>
                <a:latin typeface="Calibri" pitchFamily="34" charset="0"/>
                <a:ea typeface="Calibri" pitchFamily="34" charset="-122"/>
                <a:cs typeface="Calibri" pitchFamily="34" charset="-120"/>
              </a:rPr>
              <a:t>Contraintes : ne pas modifier le back, aucune nouvelle lib, style datashare.css, trim / pas de doublon / 24 caractères max. »</a:t>
            </a:r>
            <a:endParaRPr lang="en-US" sz="900" dirty="0"/>
          </a:p>
        </p:txBody>
      </p:sp>
      <p:sp>
        <p:nvSpPr>
          <p:cNvPr id="11" name="Text 8"/>
          <p:cNvSpPr txBox="1"/>
          <p:nvPr/>
        </p:nvSpPr>
        <p:spPr>
          <a:xfrm>
            <a:off x="594360" y="3364992"/>
            <a:ext cx="2377440" cy="868680"/>
          </a:xfrm>
          <a:prstGeom prst="rect">
            <a:avLst/>
          </a:prstGeom>
          <a:noFill/>
          <a:ln/>
        </p:spPr>
        <p:txBody>
          <a:bodyPr wrap="square" lIns="0" tIns="0" rIns="0" bIns="0" rtlCol="0" anchor="t"/>
          <a:lstStyle/>
          <a:p>
            <a:pPr marL="152400" indent="-152400">
              <a:spcAft>
                <a:spcPts val="400"/>
              </a:spcAft>
              <a:buSzPct val="100000"/>
              <a:buChar char="•"/>
            </a:pPr>
            <a:r>
              <a:rPr lang="en-US" sz="950" dirty="0">
                <a:solidFill>
                  <a:srgbClr val="1E1E1E"/>
                </a:solidFill>
                <a:latin typeface="Calibri" pitchFamily="34" charset="0"/>
                <a:ea typeface="Calibri" pitchFamily="34" charset="-122"/>
                <a:cs typeface="Calibri" pitchFamily="34" charset="-120"/>
              </a:rPr>
              <a:t>Livré en ~15 min pour ~200 lignes (≈ 2 h à la main)</a:t>
            </a:r>
            <a:endParaRPr lang="en-US" sz="950" dirty="0"/>
          </a:p>
          <a:p>
            <a:pPr marL="152400" indent="-152400">
              <a:spcAft>
                <a:spcPts val="400"/>
              </a:spcAft>
              <a:buSzPct val="100000"/>
              <a:buChar char="•"/>
            </a:pPr>
            <a:r>
              <a:rPr lang="en-US" sz="950" dirty="0">
                <a:solidFill>
                  <a:srgbClr val="1E1E1E"/>
                </a:solidFill>
                <a:latin typeface="Calibri" pitchFamily="34" charset="0"/>
                <a:ea typeface="Calibri" pitchFamily="34" charset="-122"/>
                <a:cs typeface="Calibri" pitchFamily="34" charset="-120"/>
              </a:rPr>
              <a:t>Fichiers : UploadView, MeView, datashare.css — back intact</a:t>
            </a:r>
            <a:endParaRPr lang="en-US" sz="950" dirty="0"/>
          </a:p>
        </p:txBody>
      </p:sp>
      <p:sp>
        <p:nvSpPr>
          <p:cNvPr id="12" name="Shape 9"/>
          <p:cNvSpPr/>
          <p:nvPr/>
        </p:nvSpPr>
        <p:spPr>
          <a:xfrm>
            <a:off x="3246120" y="1234440"/>
            <a:ext cx="2651760" cy="3063240"/>
          </a:xfrm>
          <a:prstGeom prst="roundRect">
            <a:avLst>
              <a:gd name="adj" fmla="val 2759"/>
            </a:avLst>
          </a:prstGeom>
          <a:solidFill>
            <a:srgbClr val="FFF4EE"/>
          </a:solidFill>
          <a:ln w="6350">
            <a:solidFill>
              <a:srgbClr val="FFF4EE"/>
            </a:solidFill>
            <a:prstDash val="solid"/>
          </a:ln>
        </p:spPr>
      </p:sp>
      <p:sp>
        <p:nvSpPr>
          <p:cNvPr id="13" name="Shape 10"/>
          <p:cNvSpPr/>
          <p:nvPr/>
        </p:nvSpPr>
        <p:spPr>
          <a:xfrm>
            <a:off x="3383280" y="1371600"/>
            <a:ext cx="365760" cy="365760"/>
          </a:xfrm>
          <a:prstGeom prst="ellipse">
            <a:avLst/>
          </a:prstGeom>
          <a:solidFill>
            <a:srgbClr val="DE6262"/>
          </a:solidFill>
          <a:ln w="12700">
            <a:solidFill>
              <a:srgbClr val="DE6262"/>
            </a:solidFill>
            <a:prstDash val="solid"/>
          </a:ln>
        </p:spPr>
      </p:sp>
      <p:pic>
        <p:nvPicPr>
          <p:cNvPr id="14" name="Image 1" descr="preencoded.png">    </p:cNvPr>
          <p:cNvPicPr>
            <a:picLocks noChangeAspect="1"/>
          </p:cNvPicPr>
          <p:nvPr/>
        </p:nvPicPr>
        <p:blipFill>
          <a:blip r:embed="rId2"/>
          <a:stretch>
            <a:fillRect/>
          </a:stretch>
        </p:blipFill>
        <p:spPr>
          <a:xfrm>
            <a:off x="3471062" y="1459382"/>
            <a:ext cx="190195" cy="190195"/>
          </a:xfrm>
          <a:prstGeom prst="rect">
            <a:avLst/>
          </a:prstGeom>
        </p:spPr>
      </p:pic>
      <p:sp>
        <p:nvSpPr>
          <p:cNvPr id="15" name="Text 11"/>
          <p:cNvSpPr txBox="1"/>
          <p:nvPr/>
        </p:nvSpPr>
        <p:spPr>
          <a:xfrm>
            <a:off x="3840480" y="1389888"/>
            <a:ext cx="2011680" cy="329184"/>
          </a:xfrm>
          <a:prstGeom prst="rect">
            <a:avLst/>
          </a:prstGeom>
          <a:noFill/>
          <a:ln/>
        </p:spPr>
        <p:txBody>
          <a:bodyPr wrap="square" lIns="0" tIns="0" rIns="0" bIns="0" rtlCol="0" anchor="ctr"/>
          <a:lstStyle/>
          <a:p>
            <a:pPr indent="0" marL="0">
              <a:buNone/>
            </a:pPr>
            <a:r>
              <a:rPr lang="en-US" sz="1250" b="1" dirty="0">
                <a:solidFill>
                  <a:srgbClr val="2C2C2C"/>
                </a:solidFill>
                <a:latin typeface="Calibri" pitchFamily="34" charset="0"/>
                <a:ea typeface="Calibri" pitchFamily="34" charset="-122"/>
                <a:cs typeface="Calibri" pitchFamily="34" charset="-120"/>
              </a:rPr>
              <a:t>2 · Supervision et correctifs</a:t>
            </a:r>
            <a:endParaRPr lang="en-US" sz="1250" dirty="0"/>
          </a:p>
        </p:txBody>
      </p:sp>
      <p:sp>
        <p:nvSpPr>
          <p:cNvPr id="16" name="Text 12"/>
          <p:cNvSpPr txBox="1"/>
          <p:nvPr/>
        </p:nvSpPr>
        <p:spPr>
          <a:xfrm>
            <a:off x="3383280" y="1801368"/>
            <a:ext cx="2377440" cy="2423160"/>
          </a:xfrm>
          <a:prstGeom prst="rect">
            <a:avLst/>
          </a:prstGeom>
          <a:noFill/>
          <a:ln/>
        </p:spPr>
        <p:txBody>
          <a:bodyPr wrap="square" lIns="0" tIns="0" rIns="0" bIns="0" rtlCol="0" anchor="t"/>
          <a:lstStyle/>
          <a:p>
            <a:pPr marL="152400" indent="-152400">
              <a:spcAft>
                <a:spcPts val="400"/>
              </a:spcAft>
              <a:buSzPct val="100000"/>
              <a:buChar char="•"/>
            </a:pPr>
            <a:r>
              <a:rPr lang="en-US" sz="950" dirty="0">
                <a:solidFill>
                  <a:srgbClr val="1E1E1E"/>
                </a:solidFill>
                <a:latin typeface="Calibri" pitchFamily="34" charset="0"/>
                <a:ea typeface="Calibri" pitchFamily="34" charset="-122"/>
                <a:cs typeface="Calibri" pitchFamily="34" charset="-120"/>
              </a:rPr>
              <a:t>Relecture complète du diff : back intact, pas de dépendance ajoutée, styles cohérents</a:t>
            </a:r>
            <a:endParaRPr lang="en-US" sz="950" dirty="0"/>
          </a:p>
          <a:p>
            <a:pPr marL="152400" indent="-152400">
              <a:spcAft>
                <a:spcPts val="400"/>
              </a:spcAft>
              <a:buSzPct val="100000"/>
              <a:buChar char="•"/>
            </a:pPr>
            <a:r>
              <a:rPr lang="en-US" sz="950" dirty="0">
                <a:solidFill>
                  <a:srgbClr val="1E1E1E"/>
                </a:solidFill>
                <a:latin typeface="Calibri" pitchFamily="34" charset="0"/>
                <a:ea typeface="Calibri" pitchFamily="34" charset="-122"/>
                <a:cs typeface="Calibri" pitchFamily="34" charset="-120"/>
              </a:rPr>
              <a:t>Tests manuels des cas limites : tag vide, &gt; 24 caractères, doublon exact et doublon de casse</a:t>
            </a:r>
            <a:endParaRPr lang="en-US" sz="950" dirty="0"/>
          </a:p>
          <a:p>
            <a:pPr marL="152400" indent="-152400">
              <a:spcAft>
                <a:spcPts val="400"/>
              </a:spcAft>
              <a:buSzPct val="100000"/>
              <a:buChar char="•"/>
            </a:pPr>
            <a:r>
              <a:rPr lang="en-US" sz="950" dirty="0">
                <a:solidFill>
                  <a:srgbClr val="1E1E1E"/>
                </a:solidFill>
                <a:latin typeface="Calibri" pitchFamily="34" charset="0"/>
                <a:ea typeface="Calibri" pitchFamily="34" charset="-122"/>
                <a:cs typeface="Calibri" pitchFamily="34" charset="-120"/>
              </a:rPr>
              <a:t>Manques trouvés : aucun message d'erreur utilisateur, validation UI incomplète</a:t>
            </a:r>
            <a:endParaRPr lang="en-US" sz="950" dirty="0"/>
          </a:p>
          <a:p>
            <a:pPr marL="152400" indent="-152400">
              <a:spcAft>
                <a:spcPts val="400"/>
              </a:spcAft>
              <a:buSzPct val="100000"/>
              <a:buChar char="•"/>
            </a:pPr>
            <a:r>
              <a:rPr lang="en-US" sz="950" dirty="0">
                <a:solidFill>
                  <a:srgbClr val="1E1E1E"/>
                </a:solidFill>
                <a:latin typeface="Calibri" pitchFamily="34" charset="0"/>
                <a:ea typeface="Calibri" pitchFamily="34" charset="-122"/>
                <a:cs typeface="Calibri" pitchFamily="34" charset="-120"/>
              </a:rPr>
              <a:t>Correctifs en commit séparé (revue humaine) ; le back reste l'autorité (déduplication, 20 max)</a:t>
            </a:r>
            <a:endParaRPr lang="en-US" sz="950" dirty="0"/>
          </a:p>
        </p:txBody>
      </p:sp>
      <p:sp>
        <p:nvSpPr>
          <p:cNvPr id="17" name="Shape 13"/>
          <p:cNvSpPr/>
          <p:nvPr/>
        </p:nvSpPr>
        <p:spPr>
          <a:xfrm>
            <a:off x="6035040" y="1234440"/>
            <a:ext cx="2743200" cy="3063240"/>
          </a:xfrm>
          <a:prstGeom prst="roundRect">
            <a:avLst>
              <a:gd name="adj" fmla="val 2667"/>
            </a:avLst>
          </a:prstGeom>
          <a:solidFill>
            <a:srgbClr val="FFF4EE"/>
          </a:solidFill>
          <a:ln w="6350">
            <a:solidFill>
              <a:srgbClr val="FFF4EE"/>
            </a:solidFill>
            <a:prstDash val="solid"/>
          </a:ln>
        </p:spPr>
      </p:sp>
      <p:sp>
        <p:nvSpPr>
          <p:cNvPr id="18" name="Shape 14"/>
          <p:cNvSpPr/>
          <p:nvPr/>
        </p:nvSpPr>
        <p:spPr>
          <a:xfrm>
            <a:off x="6172200" y="1371600"/>
            <a:ext cx="365760" cy="365760"/>
          </a:xfrm>
          <a:prstGeom prst="ellipse">
            <a:avLst/>
          </a:prstGeom>
          <a:solidFill>
            <a:srgbClr val="DE6262"/>
          </a:solidFill>
          <a:ln w="12700">
            <a:solidFill>
              <a:srgbClr val="DE6262"/>
            </a:solidFill>
            <a:prstDash val="solid"/>
          </a:ln>
        </p:spPr>
      </p:sp>
      <p:pic>
        <p:nvPicPr>
          <p:cNvPr id="19" name="Image 2" descr="preencoded.png">    </p:cNvPr>
          <p:cNvPicPr>
            <a:picLocks noChangeAspect="1"/>
          </p:cNvPicPr>
          <p:nvPr/>
        </p:nvPicPr>
        <p:blipFill>
          <a:blip r:embed="rId3"/>
          <a:stretch>
            <a:fillRect/>
          </a:stretch>
        </p:blipFill>
        <p:spPr>
          <a:xfrm>
            <a:off x="6259982" y="1459382"/>
            <a:ext cx="190195" cy="190195"/>
          </a:xfrm>
          <a:prstGeom prst="rect">
            <a:avLst/>
          </a:prstGeom>
        </p:spPr>
      </p:pic>
      <p:sp>
        <p:nvSpPr>
          <p:cNvPr id="20" name="Text 15"/>
          <p:cNvSpPr txBox="1"/>
          <p:nvPr/>
        </p:nvSpPr>
        <p:spPr>
          <a:xfrm>
            <a:off x="6629400" y="1389888"/>
            <a:ext cx="2103120" cy="329184"/>
          </a:xfrm>
          <a:prstGeom prst="rect">
            <a:avLst/>
          </a:prstGeom>
          <a:noFill/>
          <a:ln/>
        </p:spPr>
        <p:txBody>
          <a:bodyPr wrap="square" lIns="0" tIns="0" rIns="0" bIns="0" rtlCol="0" anchor="ctr"/>
          <a:lstStyle/>
          <a:p>
            <a:pPr indent="0" marL="0">
              <a:buNone/>
            </a:pPr>
            <a:r>
              <a:rPr lang="en-US" sz="1250" b="1" dirty="0">
                <a:solidFill>
                  <a:srgbClr val="2C2C2C"/>
                </a:solidFill>
                <a:latin typeface="Calibri" pitchFamily="34" charset="0"/>
                <a:ea typeface="Calibri" pitchFamily="34" charset="-122"/>
                <a:cs typeface="Calibri" pitchFamily="34" charset="-120"/>
              </a:rPr>
              <a:t>3 · Traçabilité et bilan</a:t>
            </a:r>
            <a:endParaRPr lang="en-US" sz="1250" dirty="0"/>
          </a:p>
        </p:txBody>
      </p:sp>
      <p:sp>
        <p:nvSpPr>
          <p:cNvPr id="21" name="Text 16"/>
          <p:cNvSpPr txBox="1"/>
          <p:nvPr/>
        </p:nvSpPr>
        <p:spPr>
          <a:xfrm>
            <a:off x="6172200" y="1801368"/>
            <a:ext cx="2468880" cy="566928"/>
          </a:xfrm>
          <a:prstGeom prst="rect">
            <a:avLst/>
          </a:prstGeom>
          <a:noFill/>
          <a:ln/>
        </p:spPr>
        <p:txBody>
          <a:bodyPr wrap="square" lIns="0" tIns="0" rIns="0" bIns="0" rtlCol="0" anchor="t"/>
          <a:lstStyle/>
          <a:p>
            <a:pPr indent="0" marL="0">
              <a:buNone/>
            </a:pPr>
            <a:r>
              <a:rPr lang="en-US" sz="850" b="1" dirty="0">
                <a:solidFill>
                  <a:srgbClr val="DE6262"/>
                </a:solidFill>
                <a:latin typeface="Courier New" pitchFamily="34" charset="0"/>
                <a:ea typeface="Courier New" pitchFamily="34" charset="-122"/>
                <a:cs typeface="Courier New" pitchFamily="34" charset="-120"/>
              </a:rPr>
              <a:t>56f411d </a:t>
            </a:r>
            <a:pPr indent="0" marL="0">
              <a:buNone/>
            </a:pPr>
            <a:r>
              <a:rPr lang="en-US" sz="850" dirty="0">
                <a:solidFill>
                  <a:srgbClr val="1E1E1E"/>
                </a:solidFill>
                <a:latin typeface="Courier New" pitchFamily="34" charset="0"/>
                <a:ea typeface="Courier New" pitchFamily="34" charset="-122"/>
                <a:cs typeface="Courier New" pitchFamily="34" charset="-120"/>
              </a:rPr>
              <a:t>feat(ai): add tags UI and filtering</a:t>
            </a:r>
            <a:endParaRPr lang="en-US" sz="850" dirty="0"/>
          </a:p>
          <a:p>
            <a:pPr indent="0" marL="0">
              <a:buNone/>
            </a:pPr>
            <a:r>
              <a:rPr lang="en-US" sz="850" b="1" dirty="0">
                <a:solidFill>
                  <a:srgbClr val="2E8B57"/>
                </a:solidFill>
                <a:latin typeface="Courier New" pitchFamily="34" charset="0"/>
                <a:ea typeface="Courier New" pitchFamily="34" charset="-122"/>
                <a:cs typeface="Courier New" pitchFamily="34" charset="-120"/>
              </a:rPr>
              <a:t>a8c23fc </a:t>
            </a:r>
            <a:pPr indent="0" marL="0">
              <a:buNone/>
            </a:pPr>
            <a:r>
              <a:rPr lang="en-US" sz="850" dirty="0">
                <a:solidFill>
                  <a:srgbClr val="1E1E1E"/>
                </a:solidFill>
                <a:latin typeface="Courier New" pitchFamily="34" charset="0"/>
                <a:ea typeface="Courier New" pitchFamily="34" charset="-122"/>
                <a:cs typeface="Courier New" pitchFamily="34" charset="-120"/>
              </a:rPr>
              <a:t>fix(tags): show clear UI errors…</a:t>
            </a:r>
            <a:endParaRPr lang="en-US" sz="850" dirty="0"/>
          </a:p>
        </p:txBody>
      </p:sp>
      <p:sp>
        <p:nvSpPr>
          <p:cNvPr id="22" name="Text 17"/>
          <p:cNvSpPr txBox="1"/>
          <p:nvPr/>
        </p:nvSpPr>
        <p:spPr>
          <a:xfrm>
            <a:off x="6172200" y="2423160"/>
            <a:ext cx="2468880" cy="1828800"/>
          </a:xfrm>
          <a:prstGeom prst="rect">
            <a:avLst/>
          </a:prstGeom>
          <a:noFill/>
          <a:ln/>
        </p:spPr>
        <p:txBody>
          <a:bodyPr wrap="square" lIns="0" tIns="0" rIns="0" bIns="0" rtlCol="0" anchor="t"/>
          <a:lstStyle/>
          <a:p>
            <a:pPr marL="152400" indent="-152400">
              <a:spcAft>
                <a:spcPts val="400"/>
              </a:spcAft>
              <a:buSzPct val="100000"/>
              <a:buChar char="•"/>
            </a:pPr>
            <a:r>
              <a:rPr lang="en-US" sz="950" dirty="0">
                <a:solidFill>
                  <a:srgbClr val="1E1E1E"/>
                </a:solidFill>
                <a:latin typeface="Calibri" pitchFamily="34" charset="0"/>
                <a:ea typeface="Calibri" pitchFamily="34" charset="-122"/>
                <a:cs typeface="Calibri" pitchFamily="34" charset="-120"/>
              </a:rPr>
              <a:t>Apports : gain de temps, code dans le style existant, bon en audit et recherche technique</a:t>
            </a:r>
            <a:endParaRPr lang="en-US" sz="950" dirty="0"/>
          </a:p>
          <a:p>
            <a:pPr marL="152400" indent="-152400">
              <a:spcAft>
                <a:spcPts val="400"/>
              </a:spcAft>
              <a:buSzPct val="100000"/>
              <a:buChar char="•"/>
            </a:pPr>
            <a:r>
              <a:rPr lang="en-US" sz="950" dirty="0">
                <a:solidFill>
                  <a:srgbClr val="1E1E1E"/>
                </a:solidFill>
                <a:latin typeface="Calibri" pitchFamily="34" charset="0"/>
                <a:ea typeface="Calibri" pitchFamily="34" charset="-122"/>
                <a:cs typeface="Calibri" pitchFamily="34" charset="-120"/>
              </a:rPr>
              <a:t>Limites : UX d'erreur oubliée, aucun test proposé, cas limites non traités</a:t>
            </a:r>
            <a:endParaRPr lang="en-US" sz="950" dirty="0"/>
          </a:p>
          <a:p>
            <a:pPr marL="152400" indent="-152400">
              <a:spcAft>
                <a:spcPts val="400"/>
              </a:spcAft>
              <a:buSzPct val="100000"/>
              <a:buChar char="•"/>
            </a:pPr>
            <a:r>
              <a:rPr lang="en-US" sz="950" dirty="0">
                <a:solidFill>
                  <a:srgbClr val="1E1E1E"/>
                </a:solidFill>
                <a:latin typeface="Calibri" pitchFamily="34" charset="0"/>
                <a:ea typeface="Calibri" pitchFamily="34" charset="-122"/>
                <a:cs typeface="Calibri" pitchFamily="34" charset="-120"/>
              </a:rPr>
              <a:t>Conclusion : l'IA accélère, la revue humaine décide — même posture pour l'audit, le debug et la doc</a:t>
            </a:r>
            <a:endParaRPr lang="en-US" sz="950" dirty="0"/>
          </a:p>
        </p:txBody>
      </p:sp>
      <p:sp>
        <p:nvSpPr>
          <p:cNvPr id="23" name="Text 18"/>
          <p:cNvSpPr txBox="1"/>
          <p:nvPr/>
        </p:nvSpPr>
        <p:spPr>
          <a:xfrm>
            <a:off x="457200" y="4818888"/>
            <a:ext cx="4572000" cy="228600"/>
          </a:xfrm>
          <a:prstGeom prst="rect">
            <a:avLst/>
          </a:prstGeom>
          <a:noFill/>
          <a:ln/>
        </p:spPr>
        <p:txBody>
          <a:bodyPr wrap="square" lIns="0" tIns="0" rIns="0" bIns="0" rtlCol="0" anchor="ctr"/>
          <a:lstStyle/>
          <a:p>
            <a:pPr indent="0" marL="0">
              <a:buNone/>
            </a:pPr>
            <a:r>
              <a:rPr lang="en-US" sz="900" dirty="0">
                <a:solidFill>
                  <a:srgbClr val="A0A0A0"/>
                </a:solidFill>
                <a:latin typeface="Calibri" pitchFamily="34" charset="0"/>
                <a:ea typeface="Calibri" pitchFamily="34" charset="-122"/>
                <a:cs typeface="Calibri" pitchFamily="34" charset="-120"/>
              </a:rPr>
              <a:t>DataShare — Soutenance Projet 4</a:t>
            </a:r>
            <a:endParaRPr lang="en-US" sz="900" dirty="0"/>
          </a:p>
        </p:txBody>
      </p:sp>
      <p:sp>
        <p:nvSpPr>
          <p:cNvPr id="24" name="Text 19"/>
          <p:cNvSpPr txBox="1"/>
          <p:nvPr/>
        </p:nvSpPr>
        <p:spPr>
          <a:xfrm>
            <a:off x="8229600" y="4818888"/>
            <a:ext cx="457200" cy="228600"/>
          </a:xfrm>
          <a:prstGeom prst="rect">
            <a:avLst/>
          </a:prstGeom>
          <a:noFill/>
          <a:ln/>
        </p:spPr>
        <p:txBody>
          <a:bodyPr wrap="square" lIns="0" tIns="0" rIns="0" bIns="0" rtlCol="0" anchor="ctr"/>
          <a:lstStyle/>
          <a:p>
            <a:pPr algn="r" indent="0" marL="0">
              <a:buNone/>
            </a:pPr>
            <a:r>
              <a:rPr lang="en-US" sz="900" dirty="0">
                <a:solidFill>
                  <a:srgbClr val="A0A0A0"/>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457200" y="292608"/>
            <a:ext cx="8229600" cy="548640"/>
          </a:xfrm>
          <a:prstGeom prst="rect">
            <a:avLst/>
          </a:prstGeom>
          <a:noFill/>
          <a:ln/>
        </p:spPr>
        <p:txBody>
          <a:bodyPr wrap="square" lIns="0" tIns="0" rIns="0" bIns="0" rtlCol="0" anchor="ctr"/>
          <a:lstStyle/>
          <a:p>
            <a:pPr indent="0" marL="0">
              <a:buNone/>
            </a:pPr>
            <a:r>
              <a:rPr lang="en-US" sz="3000" b="1" dirty="0">
                <a:solidFill>
                  <a:srgbClr val="2C2C2C"/>
                </a:solidFill>
                <a:latin typeface="Calibri" pitchFamily="34" charset="0"/>
                <a:ea typeface="Calibri" pitchFamily="34" charset="-122"/>
                <a:cs typeface="Calibri" pitchFamily="34" charset="-120"/>
              </a:rPr>
              <a:t>Difficultés rencontrées et solutions</a:t>
            </a:r>
            <a:endParaRPr lang="en-US" sz="3000" dirty="0"/>
          </a:p>
        </p:txBody>
      </p:sp>
      <p:sp>
        <p:nvSpPr>
          <p:cNvPr id="3" name="Text 1"/>
          <p:cNvSpPr txBox="1"/>
          <p:nvPr/>
        </p:nvSpPr>
        <p:spPr>
          <a:xfrm>
            <a:off x="457200" y="804672"/>
            <a:ext cx="8229600" cy="292608"/>
          </a:xfrm>
          <a:prstGeom prst="rect">
            <a:avLst/>
          </a:prstGeom>
          <a:noFill/>
          <a:ln/>
        </p:spPr>
        <p:txBody>
          <a:bodyPr wrap="square" lIns="0" tIns="0" rIns="0" bIns="0" rtlCol="0" anchor="ctr"/>
          <a:lstStyle/>
          <a:p>
            <a:pPr indent="0" marL="0">
              <a:buNone/>
            </a:pPr>
            <a:r>
              <a:rPr lang="en-US" sz="1300" dirty="0">
                <a:solidFill>
                  <a:srgbClr val="6B6B6B"/>
                </a:solidFill>
                <a:latin typeface="Calibri" pitchFamily="34" charset="0"/>
                <a:ea typeface="Calibri" pitchFamily="34" charset="-122"/>
                <a:cs typeface="Calibri" pitchFamily="34" charset="-120"/>
              </a:rPr>
              <a:t>Ce qui n'a pas marché du premier coup — et ce que j'en retiens</a:t>
            </a:r>
            <a:endParaRPr lang="en-US" sz="13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743200"/>
                <a:gridCol w="3291840"/>
                <a:gridCol w="2194560"/>
              </a:tblGrid>
              <a:tr h="29260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Difficulté</a:t>
                      </a:r>
                      <a:endParaRPr lang="en-US" sz="1050" dirty="0">
                        <a:latin typeface="Calibri" charset="0"/>
                        <a:ea typeface="Calibri" charset="0"/>
                        <a:cs typeface="Calibri" charset="0"/>
                      </a:endParaRPr>
                    </a:p>
                  </a:txBody>
                  <a:tcPr marL="45720" marR="45720" marT="45720" marB="45720" anchor="ctr">
                    <a:lnL w="6350" cap="flat" cmpd="sng" algn="ctr">
                      <a:solidFill>
                        <a:srgbClr val="E6E0DB"/>
                      </a:solidFill>
                      <a:prstDash val="solid"/>
                      <a:round/>
                      <a:headEnd type="none" w="med" len="med"/>
                      <a:tailEnd type="none" w="med" len="med"/>
                    </a:lnL>
                    <a:lnR w="6350" cap="flat" cmpd="sng" algn="ctr">
                      <a:solidFill>
                        <a:srgbClr val="E6E0DB"/>
                      </a:solidFill>
                      <a:prstDash val="solid"/>
                      <a:round/>
                      <a:headEnd type="none" w="med" len="med"/>
                      <a:tailEnd type="none" w="med" len="med"/>
                    </a:lnR>
                    <a:lnT w="6350" cap="flat" cmpd="sng" algn="ctr">
                      <a:solidFill>
                        <a:srgbClr val="E6E0DB"/>
                      </a:solidFill>
                      <a:prstDash val="solid"/>
                      <a:round/>
                      <a:headEnd type="none" w="med" len="med"/>
                      <a:tailEnd type="none" w="med" len="med"/>
                    </a:lnT>
                    <a:lnB w="6350" cap="flat" cmpd="sng" algn="ctr">
                      <a:solidFill>
                        <a:srgbClr val="E6E0DB"/>
                      </a:solidFill>
                      <a:prstDash val="solid"/>
                      <a:round/>
                      <a:headEnd type="none" w="med" len="med"/>
                      <a:tailEnd type="none" w="med" len="med"/>
                    </a:lnB>
                    <a:solidFill>
                      <a:srgbClr val="2C2C2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Solution apportée</a:t>
                      </a:r>
                      <a:endParaRPr lang="en-US" sz="1050" dirty="0">
                        <a:latin typeface="Calibri" charset="0"/>
                        <a:ea typeface="Calibri" charset="0"/>
                        <a:cs typeface="Calibri" charset="0"/>
                      </a:endParaRPr>
                    </a:p>
                  </a:txBody>
                  <a:tcPr marL="45720" marR="45720" marT="45720" marB="45720" anchor="ctr">
                    <a:lnL w="6350" cap="flat" cmpd="sng" algn="ctr">
                      <a:solidFill>
                        <a:srgbClr val="E6E0DB"/>
                      </a:solidFill>
                      <a:prstDash val="solid"/>
                      <a:round/>
                      <a:headEnd type="none" w="med" len="med"/>
                      <a:tailEnd type="none" w="med" len="med"/>
                    </a:lnL>
                    <a:lnR w="6350" cap="flat" cmpd="sng" algn="ctr">
                      <a:solidFill>
                        <a:srgbClr val="E6E0DB"/>
                      </a:solidFill>
                      <a:prstDash val="solid"/>
                      <a:round/>
                      <a:headEnd type="none" w="med" len="med"/>
                      <a:tailEnd type="none" w="med" len="med"/>
                    </a:lnR>
                    <a:lnT w="6350" cap="flat" cmpd="sng" algn="ctr">
                      <a:solidFill>
                        <a:srgbClr val="E6E0DB"/>
                      </a:solidFill>
                      <a:prstDash val="solid"/>
                      <a:round/>
                      <a:headEnd type="none" w="med" len="med"/>
                      <a:tailEnd type="none" w="med" len="med"/>
                    </a:lnT>
                    <a:lnB w="6350" cap="flat" cmpd="sng" algn="ctr">
                      <a:solidFill>
                        <a:srgbClr val="E6E0DB"/>
                      </a:solidFill>
                      <a:prstDash val="solid"/>
                      <a:round/>
                      <a:headEnd type="none" w="med" len="med"/>
                      <a:tailEnd type="none" w="med" len="med"/>
                    </a:lnB>
                    <a:solidFill>
                      <a:srgbClr val="2C2C2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Leçon</a:t>
                      </a:r>
                      <a:endParaRPr lang="en-US" sz="1050" dirty="0">
                        <a:latin typeface="Calibri" charset="0"/>
                        <a:ea typeface="Calibri" charset="0"/>
                        <a:cs typeface="Calibri" charset="0"/>
                      </a:endParaRPr>
                    </a:p>
                  </a:txBody>
                  <a:tcPr marL="45720" marR="45720" marT="45720" marB="45720" anchor="ctr">
                    <a:lnL w="6350" cap="flat" cmpd="sng" algn="ctr">
                      <a:solidFill>
                        <a:srgbClr val="E6E0DB"/>
                      </a:solidFill>
                      <a:prstDash val="solid"/>
                      <a:round/>
                      <a:headEnd type="none" w="med" len="med"/>
                      <a:tailEnd type="none" w="med" len="med"/>
                    </a:lnL>
                    <a:lnR w="6350" cap="flat" cmpd="sng" algn="ctr">
                      <a:solidFill>
                        <a:srgbClr val="E6E0DB"/>
                      </a:solidFill>
                      <a:prstDash val="solid"/>
                      <a:round/>
                      <a:headEnd type="none" w="med" len="med"/>
                      <a:tailEnd type="none" w="med" len="med"/>
                    </a:lnR>
                    <a:lnT w="6350" cap="flat" cmpd="sng" algn="ctr">
                      <a:solidFill>
                        <a:srgbClr val="E6E0DB"/>
                      </a:solidFill>
                      <a:prstDash val="solid"/>
                      <a:round/>
                      <a:headEnd type="none" w="med" len="med"/>
                      <a:tailEnd type="none" w="med" len="med"/>
                    </a:lnT>
                    <a:lnB w="6350" cap="flat" cmpd="sng" algn="ctr">
                      <a:solidFill>
                        <a:srgbClr val="E6E0DB"/>
                      </a:solidFill>
                      <a:prstDash val="solid"/>
                      <a:round/>
                      <a:headEnd type="none" w="med" len="med"/>
                      <a:tailEnd type="none" w="med" len="med"/>
                    </a:lnB>
                    <a:solidFill>
                      <a:srgbClr val="2C2C2C"/>
                    </a:solidFill>
                  </a:tcPr>
                </a:tc>
              </a:tr>
              <a:tr h="566928">
                <a:tc>
                  <a:txBody>
                    <a:bodyPr/>
                    <a:lstStyle/>
                    <a:p>
                      <a:pPr indent="0" marL="0">
                        <a:buNone/>
                      </a:pPr>
                      <a:r>
                        <a:rPr lang="en-US" sz="1000" dirty="0">
                          <a:solidFill>
                            <a:srgbClr val="1E1E1E"/>
                          </a:solidFill>
                          <a:latin typeface="Calibri" pitchFamily="34" charset="0"/>
                          <a:ea typeface="Calibri" pitchFamily="34" charset="-122"/>
                          <a:cs typeface="Calibri" pitchFamily="34" charset="-120"/>
                        </a:rPr>
                        <a:t>Upload anonyme (US07) : le modèle exigeait un propriétaire pour chaque fichier</a:t>
                      </a:r>
                      <a:endParaRPr lang="en-US" sz="1000" dirty="0">
                        <a:latin typeface="Calibri" charset="0"/>
                        <a:ea typeface="Calibri" charset="0"/>
                        <a:cs typeface="Calibri" charset="0"/>
                      </a:endParaRPr>
                    </a:p>
                  </a:txBody>
                  <a:tcPr marL="45720" marR="45720" marT="45720" marB="45720" anchor="ctr">
                    <a:lnL w="6350" cap="flat" cmpd="sng" algn="ctr">
                      <a:solidFill>
                        <a:srgbClr val="E6E0DB"/>
                      </a:solidFill>
                      <a:prstDash val="solid"/>
                      <a:round/>
                      <a:headEnd type="none" w="med" len="med"/>
                      <a:tailEnd type="none" w="med" len="med"/>
                    </a:lnL>
                    <a:lnR w="6350" cap="flat" cmpd="sng" algn="ctr">
                      <a:solidFill>
                        <a:srgbClr val="E6E0DB"/>
                      </a:solidFill>
                      <a:prstDash val="solid"/>
                      <a:round/>
                      <a:headEnd type="none" w="med" len="med"/>
                      <a:tailEnd type="none" w="med" len="med"/>
                    </a:lnR>
                    <a:lnT w="6350" cap="flat" cmpd="sng" algn="ctr">
                      <a:solidFill>
                        <a:srgbClr val="E6E0DB"/>
                      </a:solidFill>
                      <a:prstDash val="solid"/>
                      <a:round/>
                      <a:headEnd type="none" w="med" len="med"/>
                      <a:tailEnd type="none" w="med" len="med"/>
                    </a:lnT>
                    <a:lnB w="6350" cap="flat" cmpd="sng" algn="ctr">
                      <a:solidFill>
                        <a:srgbClr val="E6E0DB"/>
                      </a:solidFill>
                      <a:prstDash val="solid"/>
                      <a:round/>
                      <a:headEnd type="none" w="med" len="med"/>
                      <a:tailEnd type="none" w="med" len="med"/>
                    </a:lnB>
                  </a:tcPr>
                </a:tc>
                <a:tc>
                  <a:txBody>
                    <a:bodyPr/>
                    <a:lstStyle/>
                    <a:p>
                      <a:pPr indent="0" marL="0">
                        <a:buNone/>
                      </a:pPr>
                      <a:r>
                        <a:rPr lang="en-US" sz="1000" dirty="0">
                          <a:solidFill>
                            <a:srgbClr val="1E1E1E"/>
                          </a:solidFill>
                          <a:latin typeface="Calibri" pitchFamily="34" charset="0"/>
                          <a:ea typeface="Calibri" pitchFamily="34" charset="-122"/>
                          <a:cs typeface="Calibri" pitchFamily="34" charset="-120"/>
                        </a:rPr>
                        <a:t>OwnerId rendu nullable via deux migrations EF Core ; endpoint public dédié, refusé aux utilisateurs connectés (403)</a:t>
                      </a:r>
                      <a:endParaRPr lang="en-US" sz="1000" dirty="0">
                        <a:latin typeface="Calibri" charset="0"/>
                        <a:ea typeface="Calibri" charset="0"/>
                        <a:cs typeface="Calibri" charset="0"/>
                      </a:endParaRPr>
                    </a:p>
                  </a:txBody>
                  <a:tcPr marL="45720" marR="45720" marT="45720" marB="45720" anchor="ctr">
                    <a:lnL w="6350" cap="flat" cmpd="sng" algn="ctr">
                      <a:solidFill>
                        <a:srgbClr val="E6E0DB"/>
                      </a:solidFill>
                      <a:prstDash val="solid"/>
                      <a:round/>
                      <a:headEnd type="none" w="med" len="med"/>
                      <a:tailEnd type="none" w="med" len="med"/>
                    </a:lnL>
                    <a:lnR w="6350" cap="flat" cmpd="sng" algn="ctr">
                      <a:solidFill>
                        <a:srgbClr val="E6E0DB"/>
                      </a:solidFill>
                      <a:prstDash val="solid"/>
                      <a:round/>
                      <a:headEnd type="none" w="med" len="med"/>
                      <a:tailEnd type="none" w="med" len="med"/>
                    </a:lnR>
                    <a:lnT w="6350" cap="flat" cmpd="sng" algn="ctr">
                      <a:solidFill>
                        <a:srgbClr val="E6E0DB"/>
                      </a:solidFill>
                      <a:prstDash val="solid"/>
                      <a:round/>
                      <a:headEnd type="none" w="med" len="med"/>
                      <a:tailEnd type="none" w="med" len="med"/>
                    </a:lnT>
                    <a:lnB w="6350" cap="flat" cmpd="sng" algn="ctr">
                      <a:solidFill>
                        <a:srgbClr val="E6E0DB"/>
                      </a:solidFill>
                      <a:prstDash val="solid"/>
                      <a:round/>
                      <a:headEnd type="none" w="med" len="med"/>
                      <a:tailEnd type="none" w="med" len="med"/>
                    </a:lnB>
                  </a:tcPr>
                </a:tc>
                <a:tc>
                  <a:txBody>
                    <a:bodyPr/>
                    <a:lstStyle/>
                    <a:p>
                      <a:pPr indent="0" marL="0">
                        <a:buNone/>
                      </a:pPr>
                      <a:r>
                        <a:rPr lang="en-US" sz="1000" dirty="0">
                          <a:solidFill>
                            <a:srgbClr val="1E1E1E"/>
                          </a:solidFill>
                          <a:latin typeface="Calibri" pitchFamily="34" charset="0"/>
                          <a:ea typeface="Calibri" pitchFamily="34" charset="-122"/>
                          <a:cs typeface="Calibri" pitchFamily="34" charset="-120"/>
                        </a:rPr>
                        <a:t>Concevoir le modèle avec les US avancées en tête dès le MCD</a:t>
                      </a:r>
                      <a:endParaRPr lang="en-US" sz="1000" dirty="0">
                        <a:latin typeface="Calibri" charset="0"/>
                        <a:ea typeface="Calibri" charset="0"/>
                        <a:cs typeface="Calibri" charset="0"/>
                      </a:endParaRPr>
                    </a:p>
                  </a:txBody>
                  <a:tcPr marL="45720" marR="45720" marT="45720" marB="45720" anchor="ctr">
                    <a:lnL w="6350" cap="flat" cmpd="sng" algn="ctr">
                      <a:solidFill>
                        <a:srgbClr val="E6E0DB"/>
                      </a:solidFill>
                      <a:prstDash val="solid"/>
                      <a:round/>
                      <a:headEnd type="none" w="med" len="med"/>
                      <a:tailEnd type="none" w="med" len="med"/>
                    </a:lnL>
                    <a:lnR w="6350" cap="flat" cmpd="sng" algn="ctr">
                      <a:solidFill>
                        <a:srgbClr val="E6E0DB"/>
                      </a:solidFill>
                      <a:prstDash val="solid"/>
                      <a:round/>
                      <a:headEnd type="none" w="med" len="med"/>
                      <a:tailEnd type="none" w="med" len="med"/>
                    </a:lnR>
                    <a:lnT w="6350" cap="flat" cmpd="sng" algn="ctr">
                      <a:solidFill>
                        <a:srgbClr val="E6E0DB"/>
                      </a:solidFill>
                      <a:prstDash val="solid"/>
                      <a:round/>
                      <a:headEnd type="none" w="med" len="med"/>
                      <a:tailEnd type="none" w="med" len="med"/>
                    </a:lnT>
                    <a:lnB w="6350" cap="flat" cmpd="sng" algn="ctr">
                      <a:solidFill>
                        <a:srgbClr val="E6E0DB"/>
                      </a:solidFill>
                      <a:prstDash val="solid"/>
                      <a:round/>
                      <a:headEnd type="none" w="med" len="med"/>
                      <a:tailEnd type="none" w="med" len="med"/>
                    </a:lnB>
                  </a:tcPr>
                </a:tc>
              </a:tr>
              <a:tr h="603504">
                <a:tc>
                  <a:txBody>
                    <a:bodyPr/>
                    <a:lstStyle/>
                    <a:p>
                      <a:pPr indent="0" marL="0">
                        <a:buNone/>
                      </a:pPr>
                      <a:r>
                        <a:rPr lang="en-US" sz="1000" dirty="0">
                          <a:solidFill>
                            <a:srgbClr val="1E1E1E"/>
                          </a:solidFill>
                          <a:latin typeface="Calibri" pitchFamily="34" charset="0"/>
                          <a:ea typeface="Calibri" pitchFamily="34" charset="-122"/>
                          <a:cs typeface="Calibri" pitchFamily="34" charset="-120"/>
                        </a:rPr>
                        <a:t>Vulnérabilité CVE sur Microsoft.OpenApi et 16 avis npm en août</a:t>
                      </a:r>
                      <a:endParaRPr lang="en-US" sz="1000" dirty="0">
                        <a:latin typeface="Calibri" charset="0"/>
                        <a:ea typeface="Calibri" charset="0"/>
                        <a:cs typeface="Calibri" charset="0"/>
                      </a:endParaRPr>
                    </a:p>
                  </a:txBody>
                  <a:tcPr marL="45720" marR="45720" marT="45720" marB="45720" anchor="ctr">
                    <a:lnL w="6350" cap="flat" cmpd="sng" algn="ctr">
                      <a:solidFill>
                        <a:srgbClr val="E6E0DB"/>
                      </a:solidFill>
                      <a:prstDash val="solid"/>
                      <a:round/>
                      <a:headEnd type="none" w="med" len="med"/>
                      <a:tailEnd type="none" w="med" len="med"/>
                    </a:lnL>
                    <a:lnR w="6350" cap="flat" cmpd="sng" algn="ctr">
                      <a:solidFill>
                        <a:srgbClr val="E6E0DB"/>
                      </a:solidFill>
                      <a:prstDash val="solid"/>
                      <a:round/>
                      <a:headEnd type="none" w="med" len="med"/>
                      <a:tailEnd type="none" w="med" len="med"/>
                    </a:lnR>
                    <a:lnT w="6350" cap="flat" cmpd="sng" algn="ctr">
                      <a:solidFill>
                        <a:srgbClr val="E6E0DB"/>
                      </a:solidFill>
                      <a:prstDash val="solid"/>
                      <a:round/>
                      <a:headEnd type="none" w="med" len="med"/>
                      <a:tailEnd type="none" w="med" len="med"/>
                    </a:lnT>
                    <a:lnB w="6350" cap="flat" cmpd="sng" algn="ctr">
                      <a:solidFill>
                        <a:srgbClr val="E6E0DB"/>
                      </a:solidFill>
                      <a:prstDash val="solid"/>
                      <a:round/>
                      <a:headEnd type="none" w="med" len="med"/>
                      <a:tailEnd type="none" w="med" len="med"/>
                    </a:lnB>
                  </a:tcPr>
                </a:tc>
                <a:tc>
                  <a:txBody>
                    <a:bodyPr/>
                    <a:lstStyle/>
                    <a:p>
                      <a:pPr indent="0" marL="0">
                        <a:buNone/>
                      </a:pPr>
                      <a:r>
                        <a:rPr lang="en-US" sz="1000" dirty="0">
                          <a:solidFill>
                            <a:srgbClr val="1E1E1E"/>
                          </a:solidFill>
                          <a:latin typeface="Calibri" pitchFamily="34" charset="0"/>
                          <a:ea typeface="Calibri" pitchFamily="34" charset="-122"/>
                          <a:cs typeface="Calibri" pitchFamily="34" charset="-120"/>
                        </a:rPr>
                        <a:t>Analyse du risque réel, suppression d'une dépendance morte (react-router-dom), mise à jour ciblée, tests verts, décisions documentées</a:t>
                      </a:r>
                      <a:endParaRPr lang="en-US" sz="1000" dirty="0">
                        <a:latin typeface="Calibri" charset="0"/>
                        <a:ea typeface="Calibri" charset="0"/>
                        <a:cs typeface="Calibri" charset="0"/>
                      </a:endParaRPr>
                    </a:p>
                  </a:txBody>
                  <a:tcPr marL="45720" marR="45720" marT="45720" marB="45720" anchor="ctr">
                    <a:lnL w="6350" cap="flat" cmpd="sng" algn="ctr">
                      <a:solidFill>
                        <a:srgbClr val="E6E0DB"/>
                      </a:solidFill>
                      <a:prstDash val="solid"/>
                      <a:round/>
                      <a:headEnd type="none" w="med" len="med"/>
                      <a:tailEnd type="none" w="med" len="med"/>
                    </a:lnL>
                    <a:lnR w="6350" cap="flat" cmpd="sng" algn="ctr">
                      <a:solidFill>
                        <a:srgbClr val="E6E0DB"/>
                      </a:solidFill>
                      <a:prstDash val="solid"/>
                      <a:round/>
                      <a:headEnd type="none" w="med" len="med"/>
                      <a:tailEnd type="none" w="med" len="med"/>
                    </a:lnR>
                    <a:lnT w="6350" cap="flat" cmpd="sng" algn="ctr">
                      <a:solidFill>
                        <a:srgbClr val="E6E0DB"/>
                      </a:solidFill>
                      <a:prstDash val="solid"/>
                      <a:round/>
                      <a:headEnd type="none" w="med" len="med"/>
                      <a:tailEnd type="none" w="med" len="med"/>
                    </a:lnT>
                    <a:lnB w="6350" cap="flat" cmpd="sng" algn="ctr">
                      <a:solidFill>
                        <a:srgbClr val="E6E0DB"/>
                      </a:solidFill>
                      <a:prstDash val="solid"/>
                      <a:round/>
                      <a:headEnd type="none" w="med" len="med"/>
                      <a:tailEnd type="none" w="med" len="med"/>
                    </a:lnB>
                  </a:tcPr>
                </a:tc>
                <a:tc>
                  <a:txBody>
                    <a:bodyPr/>
                    <a:lstStyle/>
                    <a:p>
                      <a:pPr indent="0" marL="0">
                        <a:buNone/>
                      </a:pPr>
                      <a:r>
                        <a:rPr lang="en-US" sz="1000" dirty="0">
                          <a:solidFill>
                            <a:srgbClr val="1E1E1E"/>
                          </a:solidFill>
                          <a:latin typeface="Calibri" pitchFamily="34" charset="0"/>
                          <a:ea typeface="Calibri" pitchFamily="34" charset="-122"/>
                          <a:cs typeface="Calibri" pitchFamily="34" charset="-120"/>
                        </a:rPr>
                        <a:t>Auditer à chaque livraison ; moins de dépendances = moins de surface</a:t>
                      </a:r>
                      <a:endParaRPr lang="en-US" sz="1000" dirty="0">
                        <a:latin typeface="Calibri" charset="0"/>
                        <a:ea typeface="Calibri" charset="0"/>
                        <a:cs typeface="Calibri" charset="0"/>
                      </a:endParaRPr>
                    </a:p>
                  </a:txBody>
                  <a:tcPr marL="45720" marR="45720" marT="45720" marB="45720" anchor="ctr">
                    <a:lnL w="6350" cap="flat" cmpd="sng" algn="ctr">
                      <a:solidFill>
                        <a:srgbClr val="E6E0DB"/>
                      </a:solidFill>
                      <a:prstDash val="solid"/>
                      <a:round/>
                      <a:headEnd type="none" w="med" len="med"/>
                      <a:tailEnd type="none" w="med" len="med"/>
                    </a:lnL>
                    <a:lnR w="6350" cap="flat" cmpd="sng" algn="ctr">
                      <a:solidFill>
                        <a:srgbClr val="E6E0DB"/>
                      </a:solidFill>
                      <a:prstDash val="solid"/>
                      <a:round/>
                      <a:headEnd type="none" w="med" len="med"/>
                      <a:tailEnd type="none" w="med" len="med"/>
                    </a:lnR>
                    <a:lnT w="6350" cap="flat" cmpd="sng" algn="ctr">
                      <a:solidFill>
                        <a:srgbClr val="E6E0DB"/>
                      </a:solidFill>
                      <a:prstDash val="solid"/>
                      <a:round/>
                      <a:headEnd type="none" w="med" len="med"/>
                      <a:tailEnd type="none" w="med" len="med"/>
                    </a:lnT>
                    <a:lnB w="6350" cap="flat" cmpd="sng" algn="ctr">
                      <a:solidFill>
                        <a:srgbClr val="E6E0DB"/>
                      </a:solidFill>
                      <a:prstDash val="solid"/>
                      <a:round/>
                      <a:headEnd type="none" w="med" len="med"/>
                      <a:tailEnd type="none" w="med" len="med"/>
                    </a:lnB>
                  </a:tcPr>
                </a:tc>
              </a:tr>
              <a:tr h="457200">
                <a:tc>
                  <a:txBody>
                    <a:bodyPr/>
                    <a:lstStyle/>
                    <a:p>
                      <a:pPr indent="0" marL="0">
                        <a:buNone/>
                      </a:pPr>
                      <a:r>
                        <a:rPr lang="en-US" sz="1000" dirty="0">
                          <a:solidFill>
                            <a:srgbClr val="1E1E1E"/>
                          </a:solidFill>
                          <a:latin typeface="Calibri" pitchFamily="34" charset="0"/>
                          <a:ea typeface="Calibri" pitchFamily="34" charset="-122"/>
                          <a:cs typeface="Calibri" pitchFamily="34" charset="-120"/>
                        </a:rPr>
                        <a:t>Une mise à jour de sécurité d'axios a cassé le type-check</a:t>
                      </a:r>
                      <a:endParaRPr lang="en-US" sz="1000" dirty="0">
                        <a:latin typeface="Calibri" charset="0"/>
                        <a:ea typeface="Calibri" charset="0"/>
                        <a:cs typeface="Calibri" charset="0"/>
                      </a:endParaRPr>
                    </a:p>
                  </a:txBody>
                  <a:tcPr marL="45720" marR="45720" marT="45720" marB="45720" anchor="ctr">
                    <a:lnL w="6350" cap="flat" cmpd="sng" algn="ctr">
                      <a:solidFill>
                        <a:srgbClr val="E6E0DB"/>
                      </a:solidFill>
                      <a:prstDash val="solid"/>
                      <a:round/>
                      <a:headEnd type="none" w="med" len="med"/>
                      <a:tailEnd type="none" w="med" len="med"/>
                    </a:lnL>
                    <a:lnR w="6350" cap="flat" cmpd="sng" algn="ctr">
                      <a:solidFill>
                        <a:srgbClr val="E6E0DB"/>
                      </a:solidFill>
                      <a:prstDash val="solid"/>
                      <a:round/>
                      <a:headEnd type="none" w="med" len="med"/>
                      <a:tailEnd type="none" w="med" len="med"/>
                    </a:lnR>
                    <a:lnT w="6350" cap="flat" cmpd="sng" algn="ctr">
                      <a:solidFill>
                        <a:srgbClr val="E6E0DB"/>
                      </a:solidFill>
                      <a:prstDash val="solid"/>
                      <a:round/>
                      <a:headEnd type="none" w="med" len="med"/>
                      <a:tailEnd type="none" w="med" len="med"/>
                    </a:lnT>
                    <a:lnB w="6350" cap="flat" cmpd="sng" algn="ctr">
                      <a:solidFill>
                        <a:srgbClr val="E6E0DB"/>
                      </a:solidFill>
                      <a:prstDash val="solid"/>
                      <a:round/>
                      <a:headEnd type="none" w="med" len="med"/>
                      <a:tailEnd type="none" w="med" len="med"/>
                    </a:lnB>
                  </a:tcPr>
                </a:tc>
                <a:tc>
                  <a:txBody>
                    <a:bodyPr/>
                    <a:lstStyle/>
                    <a:p>
                      <a:pPr indent="0" marL="0">
                        <a:buNone/>
                      </a:pPr>
                      <a:r>
                        <a:rPr lang="en-US" sz="1000" dirty="0">
                          <a:solidFill>
                            <a:srgbClr val="1E1E1E"/>
                          </a:solidFill>
                          <a:latin typeface="Calibri" pitchFamily="34" charset="0"/>
                          <a:ea typeface="Calibri" pitchFamily="34" charset="-122"/>
                          <a:cs typeface="Calibri" pitchFamily="34" charset="-120"/>
                        </a:rPr>
                        <a:t>Détecté par npm run build, corrigé en une ligne</a:t>
                      </a:r>
                      <a:endParaRPr lang="en-US" sz="1000" dirty="0">
                        <a:latin typeface="Calibri" charset="0"/>
                        <a:ea typeface="Calibri" charset="0"/>
                        <a:cs typeface="Calibri" charset="0"/>
                      </a:endParaRPr>
                    </a:p>
                  </a:txBody>
                  <a:tcPr marL="45720" marR="45720" marT="45720" marB="45720" anchor="ctr">
                    <a:lnL w="6350" cap="flat" cmpd="sng" algn="ctr">
                      <a:solidFill>
                        <a:srgbClr val="E6E0DB"/>
                      </a:solidFill>
                      <a:prstDash val="solid"/>
                      <a:round/>
                      <a:headEnd type="none" w="med" len="med"/>
                      <a:tailEnd type="none" w="med" len="med"/>
                    </a:lnL>
                    <a:lnR w="6350" cap="flat" cmpd="sng" algn="ctr">
                      <a:solidFill>
                        <a:srgbClr val="E6E0DB"/>
                      </a:solidFill>
                      <a:prstDash val="solid"/>
                      <a:round/>
                      <a:headEnd type="none" w="med" len="med"/>
                      <a:tailEnd type="none" w="med" len="med"/>
                    </a:lnR>
                    <a:lnT w="6350" cap="flat" cmpd="sng" algn="ctr">
                      <a:solidFill>
                        <a:srgbClr val="E6E0DB"/>
                      </a:solidFill>
                      <a:prstDash val="solid"/>
                      <a:round/>
                      <a:headEnd type="none" w="med" len="med"/>
                      <a:tailEnd type="none" w="med" len="med"/>
                    </a:lnT>
                    <a:lnB w="6350" cap="flat" cmpd="sng" algn="ctr">
                      <a:solidFill>
                        <a:srgbClr val="E6E0DB"/>
                      </a:solidFill>
                      <a:prstDash val="solid"/>
                      <a:round/>
                      <a:headEnd type="none" w="med" len="med"/>
                      <a:tailEnd type="none" w="med" len="med"/>
                    </a:lnB>
                  </a:tcPr>
                </a:tc>
                <a:tc>
                  <a:txBody>
                    <a:bodyPr/>
                    <a:lstStyle/>
                    <a:p>
                      <a:pPr indent="0" marL="0">
                        <a:buNone/>
                      </a:pPr>
                      <a:r>
                        <a:rPr lang="en-US" sz="1000" dirty="0">
                          <a:solidFill>
                            <a:srgbClr val="1E1E1E"/>
                          </a:solidFill>
                          <a:latin typeface="Calibri" pitchFamily="34" charset="0"/>
                          <a:ea typeface="Calibri" pitchFamily="34" charset="-122"/>
                          <a:cs typeface="Calibri" pitchFamily="34" charset="-120"/>
                        </a:rPr>
                        <a:t>Le typage strict est un filet de sécurité, pas une contrainte</a:t>
                      </a:r>
                      <a:endParaRPr lang="en-US" sz="1000" dirty="0">
                        <a:latin typeface="Calibri" charset="0"/>
                        <a:ea typeface="Calibri" charset="0"/>
                        <a:cs typeface="Calibri" charset="0"/>
                      </a:endParaRPr>
                    </a:p>
                  </a:txBody>
                  <a:tcPr marL="45720" marR="45720" marT="45720" marB="45720" anchor="ctr">
                    <a:lnL w="6350" cap="flat" cmpd="sng" algn="ctr">
                      <a:solidFill>
                        <a:srgbClr val="E6E0DB"/>
                      </a:solidFill>
                      <a:prstDash val="solid"/>
                      <a:round/>
                      <a:headEnd type="none" w="med" len="med"/>
                      <a:tailEnd type="none" w="med" len="med"/>
                    </a:lnL>
                    <a:lnR w="6350" cap="flat" cmpd="sng" algn="ctr">
                      <a:solidFill>
                        <a:srgbClr val="E6E0DB"/>
                      </a:solidFill>
                      <a:prstDash val="solid"/>
                      <a:round/>
                      <a:headEnd type="none" w="med" len="med"/>
                      <a:tailEnd type="none" w="med" len="med"/>
                    </a:lnR>
                    <a:lnT w="6350" cap="flat" cmpd="sng" algn="ctr">
                      <a:solidFill>
                        <a:srgbClr val="E6E0DB"/>
                      </a:solidFill>
                      <a:prstDash val="solid"/>
                      <a:round/>
                      <a:headEnd type="none" w="med" len="med"/>
                      <a:tailEnd type="none" w="med" len="med"/>
                    </a:lnT>
                    <a:lnB w="6350" cap="flat" cmpd="sng" algn="ctr">
                      <a:solidFill>
                        <a:srgbClr val="E6E0DB"/>
                      </a:solidFill>
                      <a:prstDash val="solid"/>
                      <a:round/>
                      <a:headEnd type="none" w="med" len="med"/>
                      <a:tailEnd type="none" w="med" len="med"/>
                    </a:lnB>
                  </a:tcPr>
                </a:tc>
              </a:tr>
              <a:tr h="566928">
                <a:tc>
                  <a:txBody>
                    <a:bodyPr/>
                    <a:lstStyle/>
                    <a:p>
                      <a:pPr indent="0" marL="0">
                        <a:buNone/>
                      </a:pPr>
                      <a:r>
                        <a:rPr lang="en-US" sz="1000" dirty="0">
                          <a:solidFill>
                            <a:srgbClr val="1E1E1E"/>
                          </a:solidFill>
                          <a:latin typeface="Calibri" pitchFamily="34" charset="0"/>
                          <a:ea typeface="Calibri" pitchFamily="34" charset="-122"/>
                          <a:cs typeface="Calibri" pitchFamily="34" charset="-120"/>
                        </a:rPr>
                        <a:t>Tester l'isolation entre utilisateurs avec un seul faux utilisateur de test</a:t>
                      </a:r>
                      <a:endParaRPr lang="en-US" sz="1000" dirty="0">
                        <a:latin typeface="Calibri" charset="0"/>
                        <a:ea typeface="Calibri" charset="0"/>
                        <a:cs typeface="Calibri" charset="0"/>
                      </a:endParaRPr>
                    </a:p>
                  </a:txBody>
                  <a:tcPr marL="45720" marR="45720" marT="45720" marB="45720" anchor="ctr">
                    <a:lnL w="6350" cap="flat" cmpd="sng" algn="ctr">
                      <a:solidFill>
                        <a:srgbClr val="E6E0DB"/>
                      </a:solidFill>
                      <a:prstDash val="solid"/>
                      <a:round/>
                      <a:headEnd type="none" w="med" len="med"/>
                      <a:tailEnd type="none" w="med" len="med"/>
                    </a:lnL>
                    <a:lnR w="6350" cap="flat" cmpd="sng" algn="ctr">
                      <a:solidFill>
                        <a:srgbClr val="E6E0DB"/>
                      </a:solidFill>
                      <a:prstDash val="solid"/>
                      <a:round/>
                      <a:headEnd type="none" w="med" len="med"/>
                      <a:tailEnd type="none" w="med" len="med"/>
                    </a:lnR>
                    <a:lnT w="6350" cap="flat" cmpd="sng" algn="ctr">
                      <a:solidFill>
                        <a:srgbClr val="E6E0DB"/>
                      </a:solidFill>
                      <a:prstDash val="solid"/>
                      <a:round/>
                      <a:headEnd type="none" w="med" len="med"/>
                      <a:tailEnd type="none" w="med" len="med"/>
                    </a:lnT>
                    <a:lnB w="6350" cap="flat" cmpd="sng" algn="ctr">
                      <a:solidFill>
                        <a:srgbClr val="E6E0DB"/>
                      </a:solidFill>
                      <a:prstDash val="solid"/>
                      <a:round/>
                      <a:headEnd type="none" w="med" len="med"/>
                      <a:tailEnd type="none" w="med" len="med"/>
                    </a:lnB>
                  </a:tcPr>
                </a:tc>
                <a:tc>
                  <a:txBody>
                    <a:bodyPr/>
                    <a:lstStyle/>
                    <a:p>
                      <a:pPr indent="0" marL="0">
                        <a:buNone/>
                      </a:pPr>
                      <a:r>
                        <a:rPr lang="en-US" sz="1000" dirty="0">
                          <a:solidFill>
                            <a:srgbClr val="1E1E1E"/>
                          </a:solidFill>
                          <a:latin typeface="Calibri" pitchFamily="34" charset="0"/>
                          <a:ea typeface="Calibri" pitchFamily="34" charset="-122"/>
                          <a:cs typeface="Calibri" pitchFamily="34" charset="-120"/>
                        </a:rPr>
                        <a:t>TestAuthHandler enrichi : en-tête X-Test-UserId pour incarner un second compte → 7 tests de sécurité réels</a:t>
                      </a:r>
                      <a:endParaRPr lang="en-US" sz="1000" dirty="0">
                        <a:latin typeface="Calibri" charset="0"/>
                        <a:ea typeface="Calibri" charset="0"/>
                        <a:cs typeface="Calibri" charset="0"/>
                      </a:endParaRPr>
                    </a:p>
                  </a:txBody>
                  <a:tcPr marL="45720" marR="45720" marT="45720" marB="45720" anchor="ctr">
                    <a:lnL w="6350" cap="flat" cmpd="sng" algn="ctr">
                      <a:solidFill>
                        <a:srgbClr val="E6E0DB"/>
                      </a:solidFill>
                      <a:prstDash val="solid"/>
                      <a:round/>
                      <a:headEnd type="none" w="med" len="med"/>
                      <a:tailEnd type="none" w="med" len="med"/>
                    </a:lnL>
                    <a:lnR w="6350" cap="flat" cmpd="sng" algn="ctr">
                      <a:solidFill>
                        <a:srgbClr val="E6E0DB"/>
                      </a:solidFill>
                      <a:prstDash val="solid"/>
                      <a:round/>
                      <a:headEnd type="none" w="med" len="med"/>
                      <a:tailEnd type="none" w="med" len="med"/>
                    </a:lnR>
                    <a:lnT w="6350" cap="flat" cmpd="sng" algn="ctr">
                      <a:solidFill>
                        <a:srgbClr val="E6E0DB"/>
                      </a:solidFill>
                      <a:prstDash val="solid"/>
                      <a:round/>
                      <a:headEnd type="none" w="med" len="med"/>
                      <a:tailEnd type="none" w="med" len="med"/>
                    </a:lnT>
                    <a:lnB w="6350" cap="flat" cmpd="sng" algn="ctr">
                      <a:solidFill>
                        <a:srgbClr val="E6E0DB"/>
                      </a:solidFill>
                      <a:prstDash val="solid"/>
                      <a:round/>
                      <a:headEnd type="none" w="med" len="med"/>
                      <a:tailEnd type="none" w="med" len="med"/>
                    </a:lnB>
                  </a:tcPr>
                </a:tc>
                <a:tc>
                  <a:txBody>
                    <a:bodyPr/>
                    <a:lstStyle/>
                    <a:p>
                      <a:pPr indent="0" marL="0">
                        <a:buNone/>
                      </a:pPr>
                      <a:r>
                        <a:rPr lang="en-US" sz="1000" dirty="0">
                          <a:solidFill>
                            <a:srgbClr val="1E1E1E"/>
                          </a:solidFill>
                          <a:latin typeface="Calibri" pitchFamily="34" charset="0"/>
                          <a:ea typeface="Calibri" pitchFamily="34" charset="-122"/>
                          <a:cs typeface="Calibri" pitchFamily="34" charset="-120"/>
                        </a:rPr>
                        <a:t>L'infrastructure de test doit permettre les scénarios de sécurité</a:t>
                      </a:r>
                      <a:endParaRPr lang="en-US" sz="1000" dirty="0">
                        <a:latin typeface="Calibri" charset="0"/>
                        <a:ea typeface="Calibri" charset="0"/>
                        <a:cs typeface="Calibri" charset="0"/>
                      </a:endParaRPr>
                    </a:p>
                  </a:txBody>
                  <a:tcPr marL="45720" marR="45720" marT="45720" marB="45720" anchor="ctr">
                    <a:lnL w="6350" cap="flat" cmpd="sng" algn="ctr">
                      <a:solidFill>
                        <a:srgbClr val="E6E0DB"/>
                      </a:solidFill>
                      <a:prstDash val="solid"/>
                      <a:round/>
                      <a:headEnd type="none" w="med" len="med"/>
                      <a:tailEnd type="none" w="med" len="med"/>
                    </a:lnL>
                    <a:lnR w="6350" cap="flat" cmpd="sng" algn="ctr">
                      <a:solidFill>
                        <a:srgbClr val="E6E0DB"/>
                      </a:solidFill>
                      <a:prstDash val="solid"/>
                      <a:round/>
                      <a:headEnd type="none" w="med" len="med"/>
                      <a:tailEnd type="none" w="med" len="med"/>
                    </a:lnR>
                    <a:lnT w="6350" cap="flat" cmpd="sng" algn="ctr">
                      <a:solidFill>
                        <a:srgbClr val="E6E0DB"/>
                      </a:solidFill>
                      <a:prstDash val="solid"/>
                      <a:round/>
                      <a:headEnd type="none" w="med" len="med"/>
                      <a:tailEnd type="none" w="med" len="med"/>
                    </a:lnT>
                    <a:lnB w="6350" cap="flat" cmpd="sng" algn="ctr">
                      <a:solidFill>
                        <a:srgbClr val="E6E0DB"/>
                      </a:solidFill>
                      <a:prstDash val="solid"/>
                      <a:round/>
                      <a:headEnd type="none" w="med" len="med"/>
                      <a:tailEnd type="none" w="med" len="med"/>
                    </a:lnB>
                  </a:tcPr>
                </a:tc>
              </a:tr>
              <a:tr h="566928">
                <a:tc>
                  <a:txBody>
                    <a:bodyPr/>
                    <a:lstStyle/>
                    <a:p>
                      <a:pPr indent="0" marL="0">
                        <a:buNone/>
                      </a:pPr>
                      <a:r>
                        <a:rPr lang="en-US" sz="1000" dirty="0">
                          <a:solidFill>
                            <a:srgbClr val="1E1E1E"/>
                          </a:solidFill>
                          <a:latin typeface="Calibri" pitchFamily="34" charset="0"/>
                          <a:ea typeface="Calibri" pitchFamily="34" charset="-122"/>
                          <a:cs typeface="Calibri" pitchFamily="34" charset="-120"/>
                        </a:rPr>
                        <a:t>Accessibility Lighthouse à 76 : contrastes issus de la charte Figma</a:t>
                      </a:r>
                      <a:endParaRPr lang="en-US" sz="1000" dirty="0">
                        <a:latin typeface="Calibri" charset="0"/>
                        <a:ea typeface="Calibri" charset="0"/>
                        <a:cs typeface="Calibri" charset="0"/>
                      </a:endParaRPr>
                    </a:p>
                  </a:txBody>
                  <a:tcPr marL="45720" marR="45720" marT="45720" marB="45720" anchor="ctr">
                    <a:lnL w="6350" cap="flat" cmpd="sng" algn="ctr">
                      <a:solidFill>
                        <a:srgbClr val="E6E0DB"/>
                      </a:solidFill>
                      <a:prstDash val="solid"/>
                      <a:round/>
                      <a:headEnd type="none" w="med" len="med"/>
                      <a:tailEnd type="none" w="med" len="med"/>
                    </a:lnL>
                    <a:lnR w="6350" cap="flat" cmpd="sng" algn="ctr">
                      <a:solidFill>
                        <a:srgbClr val="E6E0DB"/>
                      </a:solidFill>
                      <a:prstDash val="solid"/>
                      <a:round/>
                      <a:headEnd type="none" w="med" len="med"/>
                      <a:tailEnd type="none" w="med" len="med"/>
                    </a:lnR>
                    <a:lnT w="6350" cap="flat" cmpd="sng" algn="ctr">
                      <a:solidFill>
                        <a:srgbClr val="E6E0DB"/>
                      </a:solidFill>
                      <a:prstDash val="solid"/>
                      <a:round/>
                      <a:headEnd type="none" w="med" len="med"/>
                      <a:tailEnd type="none" w="med" len="med"/>
                    </a:lnT>
                    <a:lnB w="6350" cap="flat" cmpd="sng" algn="ctr">
                      <a:solidFill>
                        <a:srgbClr val="E6E0DB"/>
                      </a:solidFill>
                      <a:prstDash val="solid"/>
                      <a:round/>
                      <a:headEnd type="none" w="med" len="med"/>
                      <a:tailEnd type="none" w="med" len="med"/>
                    </a:lnB>
                  </a:tcPr>
                </a:tc>
                <a:tc>
                  <a:txBody>
                    <a:bodyPr/>
                    <a:lstStyle/>
                    <a:p>
                      <a:pPr indent="0" marL="0">
                        <a:buNone/>
                      </a:pPr>
                      <a:r>
                        <a:rPr lang="en-US" sz="1000" dirty="0">
                          <a:solidFill>
                            <a:srgbClr val="1E1E1E"/>
                          </a:solidFill>
                          <a:latin typeface="Calibri" pitchFamily="34" charset="0"/>
                          <a:ea typeface="Calibri" pitchFamily="34" charset="-122"/>
                          <a:cs typeface="Calibri" pitchFamily="34" charset="-120"/>
                        </a:rPr>
                        <a:t>Corrections hors charte (lang, titre, meta), point remonté à l'UX designer plutôt que modifié unilatéralement</a:t>
                      </a:r>
                      <a:endParaRPr lang="en-US" sz="1000" dirty="0">
                        <a:latin typeface="Calibri" charset="0"/>
                        <a:ea typeface="Calibri" charset="0"/>
                        <a:cs typeface="Calibri" charset="0"/>
                      </a:endParaRPr>
                    </a:p>
                  </a:txBody>
                  <a:tcPr marL="45720" marR="45720" marT="45720" marB="45720" anchor="ctr">
                    <a:lnL w="6350" cap="flat" cmpd="sng" algn="ctr">
                      <a:solidFill>
                        <a:srgbClr val="E6E0DB"/>
                      </a:solidFill>
                      <a:prstDash val="solid"/>
                      <a:round/>
                      <a:headEnd type="none" w="med" len="med"/>
                      <a:tailEnd type="none" w="med" len="med"/>
                    </a:lnL>
                    <a:lnR w="6350" cap="flat" cmpd="sng" algn="ctr">
                      <a:solidFill>
                        <a:srgbClr val="E6E0DB"/>
                      </a:solidFill>
                      <a:prstDash val="solid"/>
                      <a:round/>
                      <a:headEnd type="none" w="med" len="med"/>
                      <a:tailEnd type="none" w="med" len="med"/>
                    </a:lnR>
                    <a:lnT w="6350" cap="flat" cmpd="sng" algn="ctr">
                      <a:solidFill>
                        <a:srgbClr val="E6E0DB"/>
                      </a:solidFill>
                      <a:prstDash val="solid"/>
                      <a:round/>
                      <a:headEnd type="none" w="med" len="med"/>
                      <a:tailEnd type="none" w="med" len="med"/>
                    </a:lnT>
                    <a:lnB w="6350" cap="flat" cmpd="sng" algn="ctr">
                      <a:solidFill>
                        <a:srgbClr val="E6E0DB"/>
                      </a:solidFill>
                      <a:prstDash val="solid"/>
                      <a:round/>
                      <a:headEnd type="none" w="med" len="med"/>
                      <a:tailEnd type="none" w="med" len="med"/>
                    </a:lnB>
                  </a:tcPr>
                </a:tc>
                <a:tc>
                  <a:txBody>
                    <a:bodyPr/>
                    <a:lstStyle/>
                    <a:p>
                      <a:pPr indent="0" marL="0">
                        <a:buNone/>
                      </a:pPr>
                      <a:r>
                        <a:rPr lang="en-US" sz="1000" dirty="0">
                          <a:solidFill>
                            <a:srgbClr val="1E1E1E"/>
                          </a:solidFill>
                          <a:latin typeface="Calibri" pitchFamily="34" charset="0"/>
                          <a:ea typeface="Calibri" pitchFamily="34" charset="-122"/>
                          <a:cs typeface="Calibri" pitchFamily="34" charset="-120"/>
                        </a:rPr>
                        <a:t>Respecter la maquette n'exclut pas de la challenger</a:t>
                      </a:r>
                      <a:endParaRPr lang="en-US" sz="1000" dirty="0">
                        <a:latin typeface="Calibri" charset="0"/>
                        <a:ea typeface="Calibri" charset="0"/>
                        <a:cs typeface="Calibri" charset="0"/>
                      </a:endParaRPr>
                    </a:p>
                  </a:txBody>
                  <a:tcPr marL="45720" marR="45720" marT="45720" marB="45720" anchor="ctr">
                    <a:lnL w="6350" cap="flat" cmpd="sng" algn="ctr">
                      <a:solidFill>
                        <a:srgbClr val="E6E0DB"/>
                      </a:solidFill>
                      <a:prstDash val="solid"/>
                      <a:round/>
                      <a:headEnd type="none" w="med" len="med"/>
                      <a:tailEnd type="none" w="med" len="med"/>
                    </a:lnL>
                    <a:lnR w="6350" cap="flat" cmpd="sng" algn="ctr">
                      <a:solidFill>
                        <a:srgbClr val="E6E0DB"/>
                      </a:solidFill>
                      <a:prstDash val="solid"/>
                      <a:round/>
                      <a:headEnd type="none" w="med" len="med"/>
                      <a:tailEnd type="none" w="med" len="med"/>
                    </a:lnR>
                    <a:lnT w="6350" cap="flat" cmpd="sng" algn="ctr">
                      <a:solidFill>
                        <a:srgbClr val="E6E0DB"/>
                      </a:solidFill>
                      <a:prstDash val="solid"/>
                      <a:round/>
                      <a:headEnd type="none" w="med" len="med"/>
                      <a:tailEnd type="none" w="med" len="med"/>
                    </a:lnT>
                    <a:lnB w="6350" cap="flat" cmpd="sng" algn="ctr">
                      <a:solidFill>
                        <a:srgbClr val="E6E0DB"/>
                      </a:solidFill>
                      <a:prstDash val="solid"/>
                      <a:round/>
                      <a:headEnd type="none" w="med" len="med"/>
                      <a:tailEnd type="none" w="med" len="med"/>
                    </a:lnB>
                  </a:tcPr>
                </a:tc>
              </a:tr>
            </a:tbl>
          </a:graphicData>
        </a:graphic>
      </p:graphicFrame>
      <p:sp>
        <p:nvSpPr>
          <p:cNvPr id="5" name="Text 2"/>
          <p:cNvSpPr txBox="1"/>
          <p:nvPr/>
        </p:nvSpPr>
        <p:spPr>
          <a:xfrm>
            <a:off x="457200" y="4818888"/>
            <a:ext cx="4572000" cy="228600"/>
          </a:xfrm>
          <a:prstGeom prst="rect">
            <a:avLst/>
          </a:prstGeom>
          <a:noFill/>
          <a:ln/>
        </p:spPr>
        <p:txBody>
          <a:bodyPr wrap="square" lIns="0" tIns="0" rIns="0" bIns="0" rtlCol="0" anchor="ctr"/>
          <a:lstStyle/>
          <a:p>
            <a:pPr indent="0" marL="0">
              <a:buNone/>
            </a:pPr>
            <a:r>
              <a:rPr lang="en-US" sz="900" dirty="0">
                <a:solidFill>
                  <a:srgbClr val="A0A0A0"/>
                </a:solidFill>
                <a:latin typeface="Calibri" pitchFamily="34" charset="0"/>
                <a:ea typeface="Calibri" pitchFamily="34" charset="-122"/>
                <a:cs typeface="Calibri" pitchFamily="34" charset="-120"/>
              </a:rPr>
              <a:t>DataShare — Soutenance Projet 4</a:t>
            </a:r>
            <a:endParaRPr lang="en-US" sz="900" dirty="0"/>
          </a:p>
        </p:txBody>
      </p:sp>
      <p:sp>
        <p:nvSpPr>
          <p:cNvPr id="6" name="Text 3"/>
          <p:cNvSpPr txBox="1"/>
          <p:nvPr/>
        </p:nvSpPr>
        <p:spPr>
          <a:xfrm>
            <a:off x="8229600" y="4818888"/>
            <a:ext cx="457200" cy="228600"/>
          </a:xfrm>
          <a:prstGeom prst="rect">
            <a:avLst/>
          </a:prstGeom>
          <a:noFill/>
          <a:ln/>
        </p:spPr>
        <p:txBody>
          <a:bodyPr wrap="square" lIns="0" tIns="0" rIns="0" bIns="0" rtlCol="0" anchor="ctr"/>
          <a:lstStyle/>
          <a:p>
            <a:pPr algn="r" indent="0" marL="0">
              <a:buNone/>
            </a:pPr>
            <a:r>
              <a:rPr lang="en-US" sz="900" dirty="0">
                <a:solidFill>
                  <a:srgbClr val="A0A0A0"/>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84048"/>
            <a:ext cx="3657600" cy="457200"/>
          </a:xfrm>
          <a:prstGeom prst="rect">
            <a:avLst/>
          </a:prstGeom>
          <a:noFill/>
          <a:ln/>
        </p:spPr>
        <p:txBody>
          <a:bodyPr wrap="square" lIns="0" tIns="0" rIns="0" bIns="0" rtlCol="0" anchor="ctr"/>
          <a:lstStyle/>
          <a:p>
            <a:pPr indent="0" marL="0">
              <a:buNone/>
            </a:pPr>
            <a:r>
              <a:rPr lang="en-US" sz="2200" b="1" dirty="0">
                <a:solidFill>
                  <a:srgbClr val="2C2C2C"/>
                </a:solidFill>
                <a:latin typeface="Calibri" pitchFamily="34" charset="0"/>
                <a:ea typeface="Calibri" pitchFamily="34" charset="-122"/>
                <a:cs typeface="Calibri" pitchFamily="34" charset="-120"/>
              </a:rPr>
              <a:t>DataShare</a:t>
            </a:r>
            <a:endParaRPr lang="en-US" sz="2200" dirty="0"/>
          </a:p>
        </p:txBody>
      </p:sp>
      <p:sp>
        <p:nvSpPr>
          <p:cNvPr id="3" name="Shape 1"/>
          <p:cNvSpPr/>
          <p:nvPr/>
        </p:nvSpPr>
        <p:spPr>
          <a:xfrm>
            <a:off x="548640" y="1005840"/>
            <a:ext cx="3886200" cy="2606040"/>
          </a:xfrm>
          <a:prstGeom prst="roundRect">
            <a:avLst>
              <a:gd name="adj" fmla="val 5614"/>
            </a:avLst>
          </a:prstGeom>
          <a:solidFill>
            <a:srgbClr val="FFFFFF"/>
          </a:solidFill>
          <a:ln w="12700">
            <a:solidFill>
              <a:srgbClr val="FFFFFF"/>
            </a:solidFill>
            <a:prstDash val="solid"/>
          </a:ln>
          <a:effectLst>
            <a:outerShdw sx="100000" sy="100000" kx="0" ky="0" algn="bl" rotWithShape="0" blurRad="76200" dist="25400" dir="5400000">
              <a:srgbClr val="000000">
                <a:alpha val="18000"/>
              </a:srgbClr>
            </a:outerShdw>
          </a:effectLst>
        </p:spPr>
      </p:sp>
      <p:sp>
        <p:nvSpPr>
          <p:cNvPr id="4" name="Text 2"/>
          <p:cNvSpPr txBox="1"/>
          <p:nvPr/>
        </p:nvSpPr>
        <p:spPr>
          <a:xfrm>
            <a:off x="777240" y="1143000"/>
            <a:ext cx="3474720" cy="365760"/>
          </a:xfrm>
          <a:prstGeom prst="rect">
            <a:avLst/>
          </a:prstGeom>
          <a:noFill/>
          <a:ln/>
        </p:spPr>
        <p:txBody>
          <a:bodyPr wrap="square" lIns="0" tIns="0" rIns="0" bIns="0" rtlCol="0" anchor="ctr"/>
          <a:lstStyle/>
          <a:p>
            <a:pPr indent="0" marL="0">
              <a:buNone/>
            </a:pPr>
            <a:r>
              <a:rPr lang="en-US" sz="1600" b="1" dirty="0">
                <a:solidFill>
                  <a:srgbClr val="2C2C2C"/>
                </a:solidFill>
                <a:latin typeface="Calibri" pitchFamily="34" charset="0"/>
                <a:ea typeface="Calibri" pitchFamily="34" charset="-122"/>
                <a:cs typeface="Calibri" pitchFamily="34" charset="-120"/>
              </a:rPr>
              <a:t>Livré en 4 semaines</a:t>
            </a:r>
            <a:endParaRPr lang="en-US" sz="1600" dirty="0"/>
          </a:p>
        </p:txBody>
      </p:sp>
      <p:sp>
        <p:nvSpPr>
          <p:cNvPr id="5" name="Text 3"/>
          <p:cNvSpPr txBox="1"/>
          <p:nvPr/>
        </p:nvSpPr>
        <p:spPr>
          <a:xfrm>
            <a:off x="777240" y="1572768"/>
            <a:ext cx="3474720" cy="1965960"/>
          </a:xfrm>
          <a:prstGeom prst="rect">
            <a:avLst/>
          </a:prstGeom>
          <a:noFill/>
          <a:ln/>
        </p:spPr>
        <p:txBody>
          <a:bodyPr wrap="square" lIns="0" tIns="0" rIns="0" bIns="0" rtlCol="0" anchor="t"/>
          <a:lstStyle/>
          <a:p>
            <a:pPr marL="152400" indent="-152400">
              <a:spcAft>
                <a:spcPts val="600"/>
              </a:spcAft>
              <a:buSzPct val="100000"/>
              <a:buChar char="•"/>
            </a:pPr>
            <a:r>
              <a:rPr lang="en-US" sz="1200" dirty="0">
                <a:solidFill>
                  <a:srgbClr val="1E1E1E"/>
                </a:solidFill>
                <a:latin typeface="Calibri" pitchFamily="34" charset="0"/>
                <a:ea typeface="Calibri" pitchFamily="34" charset="-122"/>
                <a:cs typeface="Calibri" pitchFamily="34" charset="-120"/>
              </a:rPr>
              <a:t>10 / 10 user stories, écrans conformes aux maquettes</a:t>
            </a:r>
            <a:endParaRPr lang="en-US" sz="1200" dirty="0"/>
          </a:p>
          <a:p>
            <a:pPr marL="152400" indent="-152400">
              <a:spcAft>
                <a:spcPts val="600"/>
              </a:spcAft>
              <a:buSzPct val="100000"/>
              <a:buChar char="•"/>
            </a:pPr>
            <a:r>
              <a:rPr lang="en-US" sz="1200" dirty="0">
                <a:solidFill>
                  <a:srgbClr val="1E1E1E"/>
                </a:solidFill>
                <a:latin typeface="Calibri" pitchFamily="34" charset="0"/>
                <a:ea typeface="Calibri" pitchFamily="34" charset="-122"/>
                <a:cs typeface="Calibri" pitchFamily="34" charset="-120"/>
              </a:rPr>
              <a:t>Application conteneurisée, lancée en une commande</a:t>
            </a:r>
            <a:endParaRPr lang="en-US" sz="1200" dirty="0"/>
          </a:p>
          <a:p>
            <a:pPr marL="152400" indent="-152400">
              <a:spcAft>
                <a:spcPts val="600"/>
              </a:spcAft>
              <a:buSzPct val="100000"/>
              <a:buChar char="•"/>
            </a:pPr>
            <a:r>
              <a:rPr lang="en-US" sz="1200" dirty="0">
                <a:solidFill>
                  <a:srgbClr val="1E1E1E"/>
                </a:solidFill>
                <a:latin typeface="Calibri" pitchFamily="34" charset="0"/>
                <a:ea typeface="Calibri" pitchFamily="34" charset="-122"/>
                <a:cs typeface="Calibri" pitchFamily="34" charset="-120"/>
              </a:rPr>
              <a:t>41 tests, 83 % de couverture, 5 scénarios E2E, 0 vulnérabilité</a:t>
            </a:r>
            <a:endParaRPr lang="en-US" sz="1200" dirty="0"/>
          </a:p>
          <a:p>
            <a:pPr marL="152400" indent="-152400">
              <a:spcAft>
                <a:spcPts val="600"/>
              </a:spcAft>
              <a:buSzPct val="100000"/>
              <a:buChar char="•"/>
            </a:pPr>
            <a:r>
              <a:rPr lang="en-US" sz="1200" dirty="0">
                <a:solidFill>
                  <a:srgbClr val="1E1E1E"/>
                </a:solidFill>
                <a:latin typeface="Calibri" pitchFamily="34" charset="0"/>
                <a:ea typeface="Calibri" pitchFamily="34" charset="-122"/>
                <a:cs typeface="Calibri" pitchFamily="34" charset="-120"/>
              </a:rPr>
              <a:t>Sécurité et isolation vérifiées par des tests</a:t>
            </a:r>
            <a:endParaRPr lang="en-US" sz="1200" dirty="0"/>
          </a:p>
          <a:p>
            <a:pPr marL="152400" indent="-152400">
              <a:spcAft>
                <a:spcPts val="600"/>
              </a:spcAft>
              <a:buSzPct val="100000"/>
              <a:buChar char="•"/>
            </a:pPr>
            <a:r>
              <a:rPr lang="en-US" sz="1200" dirty="0">
                <a:solidFill>
                  <a:srgbClr val="1E1E1E"/>
                </a:solidFill>
                <a:latin typeface="Calibri" pitchFamily="34" charset="0"/>
                <a:ea typeface="Calibri" pitchFamily="34" charset="-122"/>
                <a:cs typeface="Calibri" pitchFamily="34" charset="-120"/>
              </a:rPr>
              <a:t>Documentation complète et alignée sur le code</a:t>
            </a:r>
            <a:endParaRPr lang="en-US" sz="1200" dirty="0"/>
          </a:p>
        </p:txBody>
      </p:sp>
      <p:sp>
        <p:nvSpPr>
          <p:cNvPr id="6" name="Shape 4"/>
          <p:cNvSpPr/>
          <p:nvPr/>
        </p:nvSpPr>
        <p:spPr>
          <a:xfrm>
            <a:off x="4709160" y="1005840"/>
            <a:ext cx="3886200" cy="2606040"/>
          </a:xfrm>
          <a:prstGeom prst="roundRect">
            <a:avLst>
              <a:gd name="adj" fmla="val 5614"/>
            </a:avLst>
          </a:prstGeom>
          <a:solidFill>
            <a:srgbClr val="FFFFFF"/>
          </a:solidFill>
          <a:ln w="12700">
            <a:solidFill>
              <a:srgbClr val="FFFFFF"/>
            </a:solidFill>
            <a:prstDash val="solid"/>
          </a:ln>
          <a:effectLst>
            <a:outerShdw sx="100000" sy="100000" kx="0" ky="0" algn="bl" rotWithShape="0" blurRad="76200" dist="25400" dir="5400000">
              <a:srgbClr val="000000">
                <a:alpha val="18000"/>
              </a:srgbClr>
            </a:outerShdw>
          </a:effectLst>
        </p:spPr>
      </p:sp>
      <p:sp>
        <p:nvSpPr>
          <p:cNvPr id="7" name="Text 5"/>
          <p:cNvSpPr txBox="1"/>
          <p:nvPr/>
        </p:nvSpPr>
        <p:spPr>
          <a:xfrm>
            <a:off x="4937760" y="1143000"/>
            <a:ext cx="3474720" cy="365760"/>
          </a:xfrm>
          <a:prstGeom prst="rect">
            <a:avLst/>
          </a:prstGeom>
          <a:noFill/>
          <a:ln/>
        </p:spPr>
        <p:txBody>
          <a:bodyPr wrap="square" lIns="0" tIns="0" rIns="0" bIns="0" rtlCol="0" anchor="ctr"/>
          <a:lstStyle/>
          <a:p>
            <a:pPr indent="0" marL="0">
              <a:buNone/>
            </a:pPr>
            <a:r>
              <a:rPr lang="en-US" sz="1600" b="1" dirty="0">
                <a:solidFill>
                  <a:srgbClr val="2C2C2C"/>
                </a:solidFill>
                <a:latin typeface="Calibri" pitchFamily="34" charset="0"/>
                <a:ea typeface="Calibri" pitchFamily="34" charset="-122"/>
                <a:cs typeface="Calibri" pitchFamily="34" charset="-120"/>
              </a:rPr>
              <a:t>Prochaines itérations</a:t>
            </a:r>
            <a:endParaRPr lang="en-US" sz="1600" dirty="0"/>
          </a:p>
        </p:txBody>
      </p:sp>
      <p:sp>
        <p:nvSpPr>
          <p:cNvPr id="8" name="Text 6"/>
          <p:cNvSpPr txBox="1"/>
          <p:nvPr/>
        </p:nvSpPr>
        <p:spPr>
          <a:xfrm>
            <a:off x="4937760" y="1572768"/>
            <a:ext cx="3474720" cy="1965960"/>
          </a:xfrm>
          <a:prstGeom prst="rect">
            <a:avLst/>
          </a:prstGeom>
          <a:noFill/>
          <a:ln/>
        </p:spPr>
        <p:txBody>
          <a:bodyPr wrap="square" lIns="0" tIns="0" rIns="0" bIns="0" rtlCol="0" anchor="t"/>
          <a:lstStyle/>
          <a:p>
            <a:pPr marL="152400" indent="-152400">
              <a:spcAft>
                <a:spcPts val="600"/>
              </a:spcAft>
              <a:buSzPct val="100000"/>
              <a:buChar char="•"/>
            </a:pPr>
            <a:r>
              <a:rPr lang="en-US" sz="1200" dirty="0">
                <a:solidFill>
                  <a:srgbClr val="1E1E1E"/>
                </a:solidFill>
                <a:latin typeface="Calibri" pitchFamily="34" charset="0"/>
                <a:ea typeface="Calibri" pitchFamily="34" charset="-122"/>
                <a:cs typeface="Calibri" pitchFamily="34" charset="-120"/>
              </a:rPr>
              <a:t>HTTPS sur le reverse proxy, rate limiting, refresh tokens</a:t>
            </a:r>
            <a:endParaRPr lang="en-US" sz="1200" dirty="0"/>
          </a:p>
          <a:p>
            <a:pPr marL="152400" indent="-152400">
              <a:spcAft>
                <a:spcPts val="600"/>
              </a:spcAft>
              <a:buSzPct val="100000"/>
              <a:buChar char="•"/>
            </a:pPr>
            <a:r>
              <a:rPr lang="en-US" sz="1200" dirty="0">
                <a:solidFill>
                  <a:srgbClr val="1E1E1E"/>
                </a:solidFill>
                <a:latin typeface="Calibri" pitchFamily="34" charset="0"/>
                <a:ea typeface="Calibri" pitchFamily="34" charset="-122"/>
                <a:cs typeface="Calibri" pitchFamily="34" charset="-120"/>
              </a:rPr>
              <a:t>Stockage S3 derrière IFileStorage, CDN pour les téléchargements</a:t>
            </a:r>
            <a:endParaRPr lang="en-US" sz="1200" dirty="0"/>
          </a:p>
          <a:p>
            <a:pPr marL="152400" indent="-152400">
              <a:spcAft>
                <a:spcPts val="600"/>
              </a:spcAft>
              <a:buSzPct val="100000"/>
              <a:buChar char="•"/>
            </a:pPr>
            <a:r>
              <a:rPr lang="en-US" sz="1200" dirty="0">
                <a:solidFill>
                  <a:srgbClr val="1E1E1E"/>
                </a:solidFill>
                <a:latin typeface="Calibri" pitchFamily="34" charset="0"/>
                <a:ea typeface="Calibri" pitchFamily="34" charset="-122"/>
                <a:cs typeface="Calibri" pitchFamily="34" charset="-120"/>
              </a:rPr>
              <a:t>Accessibilité : atelier contrastes avec l'UX designer</a:t>
            </a:r>
            <a:endParaRPr lang="en-US" sz="1200" dirty="0"/>
          </a:p>
          <a:p>
            <a:pPr marL="152400" indent="-152400">
              <a:spcAft>
                <a:spcPts val="600"/>
              </a:spcAft>
              <a:buSzPct val="100000"/>
              <a:buChar char="•"/>
            </a:pPr>
            <a:r>
              <a:rPr lang="en-US" sz="1200" dirty="0">
                <a:solidFill>
                  <a:srgbClr val="1E1E1E"/>
                </a:solidFill>
                <a:latin typeface="Calibri" pitchFamily="34" charset="0"/>
                <a:ea typeface="Calibri" pitchFamily="34" charset="-122"/>
                <a:cs typeface="Calibri" pitchFamily="34" charset="-120"/>
              </a:rPr>
              <a:t>Scan antivirus des uploads, streaming des gros fichiers</a:t>
            </a:r>
            <a:endParaRPr lang="en-US" sz="1200" dirty="0"/>
          </a:p>
          <a:p>
            <a:pPr marL="152400" indent="-152400">
              <a:spcAft>
                <a:spcPts val="600"/>
              </a:spcAft>
              <a:buSzPct val="100000"/>
              <a:buChar char="•"/>
            </a:pPr>
            <a:r>
              <a:rPr lang="en-US" sz="1200" dirty="0">
                <a:solidFill>
                  <a:srgbClr val="1E1E1E"/>
                </a:solidFill>
                <a:latin typeface="Calibri" pitchFamily="34" charset="0"/>
                <a:ea typeface="Calibri" pitchFamily="34" charset="-122"/>
                <a:cs typeface="Calibri" pitchFamily="34" charset="-120"/>
              </a:rPr>
              <a:t>Collecteur de logs (Seq / Loki) et tableau de bord des métriques</a:t>
            </a:r>
            <a:endParaRPr lang="en-US" sz="1200" dirty="0"/>
          </a:p>
        </p:txBody>
      </p:sp>
      <p:sp>
        <p:nvSpPr>
          <p:cNvPr id="9" name="Text 7"/>
          <p:cNvSpPr txBox="1"/>
          <p:nvPr/>
        </p:nvSpPr>
        <p:spPr>
          <a:xfrm>
            <a:off x="548640" y="3931920"/>
            <a:ext cx="8046720" cy="457200"/>
          </a:xfrm>
          <a:prstGeom prst="rect">
            <a:avLst/>
          </a:prstGeom>
          <a:noFill/>
          <a:ln/>
        </p:spPr>
        <p:txBody>
          <a:bodyPr wrap="square" lIns="0" tIns="0" rIns="0" bIns="0" rtlCol="0" anchor="ctr"/>
          <a:lstStyle/>
          <a:p>
            <a:pPr algn="ctr" indent="0" marL="0">
              <a:buNone/>
            </a:pPr>
            <a:r>
              <a:rPr lang="en-US" sz="2400" b="1" dirty="0">
                <a:solidFill>
                  <a:srgbClr val="2C2C2C"/>
                </a:solidFill>
                <a:latin typeface="Calibri" pitchFamily="34" charset="0"/>
                <a:ea typeface="Calibri" pitchFamily="34" charset="-122"/>
                <a:cs typeface="Calibri" pitchFamily="34" charset="-120"/>
              </a:rPr>
              <a:t>Merci — place aux questions</a:t>
            </a:r>
            <a:endParaRPr lang="en-US" sz="2400" dirty="0"/>
          </a:p>
        </p:txBody>
      </p:sp>
      <p:sp>
        <p:nvSpPr>
          <p:cNvPr id="10" name="Text 8"/>
          <p:cNvSpPr txBox="1"/>
          <p:nvPr/>
        </p:nvSpPr>
        <p:spPr>
          <a:xfrm>
            <a:off x="548640" y="4407408"/>
            <a:ext cx="8046720" cy="274320"/>
          </a:xfrm>
          <a:prstGeom prst="rect">
            <a:avLst/>
          </a:prstGeom>
          <a:noFill/>
          <a:ln/>
        </p:spPr>
        <p:txBody>
          <a:bodyPr wrap="square" lIns="0" tIns="0" rIns="0" bIns="0" rtlCol="0" anchor="ctr"/>
          <a:lstStyle/>
          <a:p>
            <a:pPr algn="ctr" indent="0" marL="0">
              <a:buNone/>
            </a:pPr>
            <a:r>
              <a:rPr lang="en-US" sz="1100" dirty="0">
                <a:solidFill>
                  <a:srgbClr val="2C2C2C"/>
                </a:solidFill>
                <a:latin typeface="Calibri" pitchFamily="34" charset="0"/>
                <a:ea typeface="Calibri" pitchFamily="34" charset="-122"/>
                <a:cs typeface="Calibri" pitchFamily="34" charset="-120"/>
              </a:rPr>
              <a:t>github.com/GadZouil/OC-P4-DataShare  ·  docs/documentation_technique.pdf</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DataShare — Soutenance Projet 4</dc:title>
  <dc:subject>PptxGenJS Presentation</dc:subject>
  <dc:creator>Ethan Legros</dc:creator>
  <cp:lastModifiedBy>Ethan Legros</cp:lastModifiedBy>
  <cp:revision>1</cp:revision>
  <dcterms:created xsi:type="dcterms:W3CDTF">2026-09-13T15:56:47Z</dcterms:created>
  <dcterms:modified xsi:type="dcterms:W3CDTF">2026-09-13T15:56:47Z</dcterms:modified>
</cp:coreProperties>
</file>